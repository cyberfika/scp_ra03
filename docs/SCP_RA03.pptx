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225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fte Fagundes" userId="39ee733d996cf204" providerId="LiveId" clId="{FAA9C936-0C38-44AB-BC9F-93665EC427EF}"/>
    <pc:docChg chg="custSel modSld">
      <pc:chgData name="Jafte Fagundes" userId="39ee733d996cf204" providerId="LiveId" clId="{FAA9C936-0C38-44AB-BC9F-93665EC427EF}" dt="2026-06-21T00:40:59.085" v="1" actId="27636"/>
      <pc:docMkLst>
        <pc:docMk/>
      </pc:docMkLst>
      <pc:sldChg chg="modSp mod">
        <pc:chgData name="Jafte Fagundes" userId="39ee733d996cf204" providerId="LiveId" clId="{FAA9C936-0C38-44AB-BC9F-93665EC427EF}" dt="2026-06-21T00:40:59.085" v="1" actId="27636"/>
        <pc:sldMkLst>
          <pc:docMk/>
          <pc:sldMk cId="0" sldId="259"/>
        </pc:sldMkLst>
        <pc:spChg chg="mod">
          <ac:chgData name="Jafte Fagundes" userId="39ee733d996cf204" providerId="LiveId" clId="{FAA9C936-0C38-44AB-BC9F-93665EC427EF}" dt="2026-06-21T00:40:59.085" v="1" actId="27636"/>
          <ac:spMkLst>
            <pc:docMk/>
            <pc:sldMk cId="0" sldId="259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69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modelagem formal: U, S15, Sp e o objetivo. Mostrar a formulação ILP e mencionar que é um Minimum Set Cover NP-difícil. A tabela de cardinalidades mostra a escala do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mostra que mesmo para p=14, a formulação ILP tem 3,3M variáveis, 4,5M restrições e 67M coeficientes não-nulos. Para p=11 chegamos a 6 bilhões de coeficientes. A busca exaustiva é impossível. A solução: greedy com garantia teórica.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lower bounds medem a qualidade da nossa solução. O LB-LP vem da contagem direta: cada X em S15 cobre C(15,p) subconjuntos. Schönheim é mais apertado. O insight contraintuitivo: p menor gera SB menor mas mais trabalho por iteração.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estruturas centrais. A bitmask uint32 é a mais importante: permite verificar Y subconjunto de X em O(1) com um AND bit-a-bit. NumPy vetoriza sobre 3,3 milhões ao mesmo tempo. O heap lazy é fundamental para p=14,13.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algoritmo greedy com três fases: pré-processamento, loop principal e atualização. O loop escolhe o X* que cobre mais Y não cobertos, então atualiza count[] para todos os vizinhos. A garantia Johnson/Lovász é ln(|Sp|)·|OPT| ≈ 15,4× para nossa instância.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duas análises: Programa 1 (geração dos conjuntos) é simples. Programas 2-5 variam por estratégia. Definir A = C(15,p)·C(25-p,15-p) para clareza. A tabela inferior mostra os valores concretos — notar que A cresce por fator 8000 entre p=14 e p=11.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4 gargalos principais: atualizações de count[], heap com entradas obsoletas, construção de índices e NumPy argmax percorrendo 3,3M por iteração. Escalabilidade: funciona até n≈26-27, para n=30 fica inviável. A tabela compara as 4 abordagens.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central. Gap obtido de 1,79× a 3,78× contra garantia teórica de 15,4× — ou seja, 4 a 9× melhor que o pior caso. Mencionar o hardware e o tempo de execução real. Todos os resultados verificados por amostragem. Rödl 1985 prevê exatamente esse comportamento assintótico.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as limitações honestas: ILP inviável, sem garantia de ótimo, sem backtracking. Das melhorias, destacar: ILP pós-greedy reduz variáveis de 3,3M para ~12K-38K (viável!), paralelização tem speedup teórico 8× no gargalo principal, simulated annealing pode fechar o gap de 1,79× para ~1,2×.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PU com números binários e plantas">
            <a:extLst>
              <a:ext uri="{FF2B5EF4-FFF2-40B4-BE49-F238E27FC236}">
                <a16:creationId xmlns:a16="http://schemas.microsoft.com/office/drawing/2014/main" id="{76491F09-C150-4547-C2CD-67CC2CB0A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A500A23A-7CF1-457C-8501-FEA83BC0088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42000">
                <a:srgbClr val="38BDF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3EDCA2-E92C-50E7-06B1-7149B8F261E1}"/>
              </a:ext>
            </a:extLst>
          </p:cNvPr>
          <p:cNvSpPr txBox="1"/>
          <p:nvPr/>
        </p:nvSpPr>
        <p:spPr>
          <a:xfrm>
            <a:off x="1197203" y="895547"/>
            <a:ext cx="570321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Aptos Black" panose="020B0004020202020204" pitchFamily="34" charset="0"/>
              </a:rPr>
              <a:t>COMPLEXIDADE DE ALGORITMOS</a:t>
            </a:r>
          </a:p>
          <a:p>
            <a:endParaRPr lang="pt-BR" sz="4000" dirty="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endParaRPr lang="pt-BR" sz="4000" dirty="0">
              <a:solidFill>
                <a:schemeClr val="bg1"/>
              </a:solidFill>
              <a:latin typeface="Aptos Black" panose="020B0004020202020204" pitchFamily="34" charset="0"/>
            </a:endParaRPr>
          </a:p>
          <a:p>
            <a:r>
              <a:rPr lang="pt-BR" sz="2800" dirty="0">
                <a:solidFill>
                  <a:schemeClr val="bg1"/>
                </a:solidFill>
                <a:latin typeface="Aptos Black" panose="020B0004020202020204" pitchFamily="34" charset="0"/>
              </a:rPr>
              <a:t>TRABALHO AVALIATIVO – RA03</a:t>
            </a:r>
          </a:p>
          <a:p>
            <a:endParaRPr lang="pt-BR" sz="400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899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637146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do Problema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90675"/>
            <a:ext cx="10096500" cy="1865412"/>
          </a:xfrm>
          <a:prstGeom prst="roundRect">
            <a:avLst>
              <a:gd name="adj" fmla="val 3064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3446562"/>
            <a:ext cx="10096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90675"/>
            <a:ext cx="100965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90675"/>
            <a:ext cx="9525" cy="1865412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229975" y="1590675"/>
            <a:ext cx="9525" cy="1865412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81125" y="1800225"/>
            <a:ext cx="10582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 FORMAL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1125" y="2105025"/>
            <a:ext cx="9908858" cy="402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 = {1, 2, …, 25}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1381125" y="2469059"/>
            <a:ext cx="9908858" cy="428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C(25,15) = </a:t>
            </a:r>
            <a:r>
              <a:rPr lang="en-US" sz="157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 </a:t>
            </a: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conjuntos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381125" y="2897981"/>
            <a:ext cx="9908858" cy="396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187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</a:t>
            </a: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todos subconjuntos de tamanho p de U</a:t>
            </a:r>
            <a:endParaRPr lang="en-US" sz="1425" dirty="0"/>
          </a:p>
        </p:txBody>
      </p:sp>
      <p:sp>
        <p:nvSpPr>
          <p:cNvPr id="14" name="Shape 12"/>
          <p:cNvSpPr/>
          <p:nvPr/>
        </p:nvSpPr>
        <p:spPr>
          <a:xfrm>
            <a:off x="1143000" y="3627537"/>
            <a:ext cx="10096500" cy="1800671"/>
          </a:xfrm>
          <a:prstGeom prst="roundRect">
            <a:avLst>
              <a:gd name="adj" fmla="val 3174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381125" y="3827562"/>
            <a:ext cx="10582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81125" y="4132362"/>
            <a:ext cx="990885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cada p ∈ {14,13,12,11}, encontrar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81125" y="4478982"/>
            <a:ext cx="9908858" cy="41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um SB ⊆ S15 tal que: (objetivo: minimizar |SB|; implementação: greedy aproximativo)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9725" y="4853583"/>
            <a:ext cx="9680258" cy="412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2000"/>
              </a:lnSpc>
              <a:buNone/>
            </a:pPr>
            <a:r>
              <a:rPr lang="en-US" sz="15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∀ Y ∈ S</a:t>
            </a:r>
            <a:r>
              <a:rPr lang="en-US" sz="1250" baseline="-400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5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∃ X ∈ SB : Y ⊆ X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3000" y="5599658"/>
            <a:ext cx="10096500" cy="1866602"/>
          </a:xfrm>
          <a:prstGeom prst="roundRect">
            <a:avLst>
              <a:gd name="adj" fmla="val 3062"/>
            </a:avLst>
          </a:prstGeom>
          <a:solidFill>
            <a:srgbClr val="1E1E2E"/>
          </a:solidFill>
          <a:ln w="9525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381125" y="5799683"/>
            <a:ext cx="10582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FORMULAÇÃO ILP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81125" y="6104483"/>
            <a:ext cx="9908858" cy="425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∈ {0,1}, ∀ 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∈ S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1381125" y="6491734"/>
            <a:ext cx="9908858" cy="425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min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Σ </a:t>
            </a: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1381125" y="6878985"/>
            <a:ext cx="9908858" cy="4253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95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s.a.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Σ</a:t>
            </a:r>
            <a:r>
              <a:rPr lang="en-US" sz="97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i: Y⊆X</a:t>
            </a:r>
            <a:r>
              <a:rPr lang="en-US" sz="812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≥ 1, ∀ Y ∈ S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1620500" y="1590675"/>
            <a:ext cx="6076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Cardinalidades dos conjuntos: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11620500" y="2000250"/>
            <a:ext cx="5524500" cy="40957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1620500" y="2390775"/>
            <a:ext cx="55245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1753850" y="2105025"/>
            <a:ext cx="1272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Conjunto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13293328" y="2105025"/>
            <a:ext cx="16353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5157252" y="2105025"/>
            <a:ext cx="181629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Cardinalidade</a:t>
            </a:r>
            <a:endParaRPr lang="en-US" sz="1275" dirty="0"/>
          </a:p>
        </p:txBody>
      </p:sp>
      <p:sp>
        <p:nvSpPr>
          <p:cNvPr id="30" name="Shape 28"/>
          <p:cNvSpPr/>
          <p:nvPr/>
        </p:nvSpPr>
        <p:spPr>
          <a:xfrm>
            <a:off x="11620500" y="2409825"/>
            <a:ext cx="5524500" cy="52089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620500" y="2921198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1753850" y="2514600"/>
            <a:ext cx="1272778" cy="34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3293328" y="2514600"/>
            <a:ext cx="1635323" cy="34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C(25,15)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15157252" y="2514600"/>
            <a:ext cx="1816298" cy="349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575" dirty="0"/>
          </a:p>
        </p:txBody>
      </p:sp>
      <p:sp>
        <p:nvSpPr>
          <p:cNvPr id="35" name="Shape 33"/>
          <p:cNvSpPr/>
          <p:nvPr/>
        </p:nvSpPr>
        <p:spPr>
          <a:xfrm>
            <a:off x="11620500" y="2930723"/>
            <a:ext cx="5524500" cy="516136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11620500" y="3437334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1753850" y="3035498"/>
            <a:ext cx="127277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3293328" y="3035498"/>
            <a:ext cx="163532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C(25,14)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5157252" y="3035498"/>
            <a:ext cx="181629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11620500" y="3446859"/>
            <a:ext cx="5524500" cy="516136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1620500" y="3953470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1753850" y="3551634"/>
            <a:ext cx="127277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13293328" y="3551634"/>
            <a:ext cx="163532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C(25,13)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15157252" y="3551634"/>
            <a:ext cx="181629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11620500" y="3962995"/>
            <a:ext cx="5524500" cy="516136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1620500" y="4469606"/>
            <a:ext cx="5524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1753850" y="4067770"/>
            <a:ext cx="127277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575" dirty="0"/>
          </a:p>
        </p:txBody>
      </p:sp>
      <p:sp>
        <p:nvSpPr>
          <p:cNvPr id="48" name="Text 46"/>
          <p:cNvSpPr/>
          <p:nvPr/>
        </p:nvSpPr>
        <p:spPr>
          <a:xfrm>
            <a:off x="13293328" y="4067770"/>
            <a:ext cx="1635323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C(25,12)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5157252" y="4067770"/>
            <a:ext cx="1816298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1620500" y="4479131"/>
            <a:ext cx="5524500" cy="51137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11753850" y="4583906"/>
            <a:ext cx="127277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313" b="1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575" dirty="0"/>
          </a:p>
        </p:txBody>
      </p:sp>
      <p:sp>
        <p:nvSpPr>
          <p:cNvPr id="52" name="Text 50"/>
          <p:cNvSpPr/>
          <p:nvPr/>
        </p:nvSpPr>
        <p:spPr>
          <a:xfrm>
            <a:off x="13293328" y="4583906"/>
            <a:ext cx="1635323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C(25,11)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15157252" y="4583906"/>
            <a:ext cx="1816298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54" name="Shape 52"/>
          <p:cNvSpPr/>
          <p:nvPr/>
        </p:nvSpPr>
        <p:spPr>
          <a:xfrm>
            <a:off x="11620500" y="5161955"/>
            <a:ext cx="5524500" cy="1438275"/>
          </a:xfrm>
          <a:prstGeom prst="roundRect">
            <a:avLst>
              <a:gd name="adj" fmla="val 3974"/>
            </a:avLst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11620500" y="6590705"/>
            <a:ext cx="5524500" cy="9525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11620500" y="5161955"/>
            <a:ext cx="5524500" cy="9525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11620500" y="5161955"/>
            <a:ext cx="28575" cy="1438275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17135475" y="5161955"/>
            <a:ext cx="9525" cy="1438275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11858625" y="5342930"/>
            <a:ext cx="55740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SET COVER — NP-DIFÍCIL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858625" y="5562005"/>
            <a:ext cx="521931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Provado por Karp (1972) — um dos 21 problemas NP-completos originais</a:t>
            </a:r>
            <a:endParaRPr lang="en-US" sz="1575" dirty="0"/>
          </a:p>
        </p:txBody>
      </p:sp>
      <p:sp>
        <p:nvSpPr>
          <p:cNvPr id="61" name="Text 59"/>
          <p:cNvSpPr/>
          <p:nvPr/>
        </p:nvSpPr>
        <p:spPr>
          <a:xfrm>
            <a:off x="11858625" y="6219230"/>
            <a:ext cx="55740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existe algoritmo polinomial exato a menos que P=NP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1143000" y="96440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Complexidade de Algoritmos · RA03 · 2026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100783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20261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32688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045115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575429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69970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0823972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09482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10725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740873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ILP Direto é Inviável?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90675"/>
            <a:ext cx="3810000" cy="1543050"/>
          </a:xfrm>
          <a:prstGeom prst="roundRect">
            <a:avLst>
              <a:gd name="adj" fmla="val 3704"/>
            </a:avLst>
          </a:prstGeom>
          <a:solidFill>
            <a:srgbClr val="F87171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3124200"/>
            <a:ext cx="3810000" cy="9525"/>
          </a:xfrm>
          <a:prstGeom prst="rect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90675"/>
            <a:ext cx="3810000" cy="9525"/>
          </a:xfrm>
          <a:prstGeom prst="rect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90675"/>
            <a:ext cx="28575" cy="154305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943475" y="1590675"/>
            <a:ext cx="9525" cy="1543050"/>
          </a:xfrm>
          <a:prstGeom prst="rect">
            <a:avLst/>
          </a:prstGeom>
          <a:solidFill>
            <a:srgbClr val="F87171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00175" y="1790700"/>
            <a:ext cx="36461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124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NP-DIFÍCIL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400175" y="2019300"/>
            <a:ext cx="36461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Cover provado NP-difícil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00175" y="2390775"/>
            <a:ext cx="3414141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Karp, 1972 — um dos 21 problemas NP-completos originais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143000" y="3305175"/>
            <a:ext cx="3810000" cy="1552575"/>
          </a:xfrm>
          <a:prstGeom prst="roundRect">
            <a:avLst>
              <a:gd name="adj" fmla="val 3681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381125" y="3505200"/>
            <a:ext cx="36671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de busca: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381125" y="3771900"/>
            <a:ext cx="36671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500" baseline="3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381125" y="4191000"/>
            <a:ext cx="3433763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possibilidades → força bruta impossível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43000" y="5029200"/>
            <a:ext cx="3810000" cy="1514475"/>
          </a:xfrm>
          <a:prstGeom prst="roundRect">
            <a:avLst>
              <a:gd name="adj" fmla="val 3774"/>
            </a:avLst>
          </a:prstGeom>
          <a:solidFill>
            <a:srgbClr val="131720"/>
          </a:solidFill>
          <a:ln w="9525">
            <a:solidFill>
              <a:srgbClr val="38BDF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381125" y="5229225"/>
            <a:ext cx="36671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Feige, 1998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1125" y="5495925"/>
            <a:ext cx="36671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Inaproximável abaixo 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81125" y="5819775"/>
            <a:ext cx="36671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(1−ε)·ln(n)·|OPT|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81125" y="6153150"/>
            <a:ext cx="36671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menos que P=NP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1143000" y="6715125"/>
            <a:ext cx="3810000" cy="1428750"/>
          </a:xfrm>
          <a:prstGeom prst="roundRect">
            <a:avLst>
              <a:gd name="adj" fmla="val 4000"/>
            </a:avLst>
          </a:prstGeom>
          <a:solidFill>
            <a:srgbClr val="34D399">
              <a:alpha val="5000"/>
            </a:srgbClr>
          </a:solidFill>
          <a:ln w="9525">
            <a:solidFill>
              <a:srgbClr val="34D39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62075" y="6877050"/>
            <a:ext cx="37090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ADOTADA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62075" y="7124700"/>
            <a:ext cx="347300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greedy com garantia de </a:t>
            </a: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ln(n)-aproximação </a:t>
            </a: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melhor razão polinomial possível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34000" y="1590675"/>
            <a:ext cx="129921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do ILP Direto por instância — inviabilidade por memória e tempo: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334000" y="1971675"/>
            <a:ext cx="11811000" cy="44767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334000" y="2400300"/>
            <a:ext cx="11811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486400" y="2095500"/>
            <a:ext cx="8230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6571399" y="2095500"/>
            <a:ext cx="23972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Variáveis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9268760" y="2095500"/>
            <a:ext cx="23972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Restrições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1939215" y="2095500"/>
            <a:ext cx="33210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Coef. não-nulos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5603141" y="2095500"/>
            <a:ext cx="13894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Viável?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5334000" y="2419350"/>
            <a:ext cx="11811000" cy="58578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334000" y="2995613"/>
            <a:ext cx="11811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486400" y="2552700"/>
            <a:ext cx="82302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571399" y="2552700"/>
            <a:ext cx="23972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268760" y="2552700"/>
            <a:ext cx="239728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1939215" y="2552700"/>
            <a:ext cx="33210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49.031.400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5603141" y="2552700"/>
            <a:ext cx="138945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334000" y="3005138"/>
            <a:ext cx="11811000" cy="58102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334000" y="3576638"/>
            <a:ext cx="11811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486400" y="3138488"/>
            <a:ext cx="8230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6571399" y="3138488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9268760" y="3138488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1939215" y="3138488"/>
            <a:ext cx="33210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343.219.800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5603141" y="3138488"/>
            <a:ext cx="13894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334000" y="3586163"/>
            <a:ext cx="11811000" cy="581025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5334000" y="4157663"/>
            <a:ext cx="11811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5486400" y="3719512"/>
            <a:ext cx="8230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6571399" y="3719512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9268760" y="3719512"/>
            <a:ext cx="239728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939215" y="3719512"/>
            <a:ext cx="33210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1.487.285.800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5603141" y="3719512"/>
            <a:ext cx="13894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334000" y="4167188"/>
            <a:ext cx="11811000" cy="576263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486400" y="4300538"/>
            <a:ext cx="82302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6571399" y="4300538"/>
            <a:ext cx="23972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3.268.760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9268760" y="4300538"/>
            <a:ext cx="23972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1939215" y="4300538"/>
            <a:ext cx="33210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4.461.857.400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15603141" y="4300538"/>
            <a:ext cx="138945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5334000" y="4876800"/>
            <a:ext cx="129921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as instâncias inviáveis por limite de memória e tempo de resolução</a:t>
            </a:r>
            <a:endParaRPr lang="en-US" sz="1275" dirty="0"/>
          </a:p>
        </p:txBody>
      </p:sp>
      <p:sp>
        <p:nvSpPr>
          <p:cNvPr id="61" name="Shape 59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1143000" y="96440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Complexidade de Algoritmos · RA03 · 2026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0783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20261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32688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45115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0575429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69970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823972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09482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10725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365681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Bounds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14475"/>
            <a:ext cx="10801350" cy="523875"/>
          </a:xfrm>
          <a:prstGeom prst="roundRect">
            <a:avLst>
              <a:gd name="adj" fmla="val 10909"/>
            </a:avLst>
          </a:prstGeom>
          <a:solidFill>
            <a:srgbClr val="38BDF8">
              <a:alpha val="5000"/>
            </a:srgbClr>
          </a:solidFill>
          <a:ln w="9525">
            <a:solidFill>
              <a:srgbClr val="38BDF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62075" y="1666875"/>
            <a:ext cx="65023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LB-LP: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2050405" y="1657350"/>
            <a:ext cx="324229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|SB| ≥ ⌈ C(25,p) / C(15,p) ⌉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5112246" y="1664940"/>
            <a:ext cx="4685407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cada X ∈ S</a:t>
            </a:r>
            <a:r>
              <a:rPr lang="en-US" sz="1063" baseline="-40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</a:t>
            </a: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cobre exatamente C(15,p) subconjuntos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2134850" y="1514475"/>
            <a:ext cx="5010150" cy="523875"/>
          </a:xfrm>
          <a:prstGeom prst="roundRect">
            <a:avLst>
              <a:gd name="adj" fmla="val 10909"/>
            </a:avLst>
          </a:prstGeom>
          <a:solidFill>
            <a:srgbClr val="818CF8">
              <a:alpha val="5000"/>
            </a:srgbClr>
          </a:solidFill>
          <a:ln w="9525">
            <a:solidFill>
              <a:srgbClr val="818CF8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353925" y="1666875"/>
            <a:ext cx="108525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Schönheim: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3477280" y="1662113"/>
            <a:ext cx="363994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L(n,k,t) = ⌈(n/k)·L(n-1,k-1,t-1)⌉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43000" y="2266950"/>
            <a:ext cx="16002000" cy="46672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143000" y="2714625"/>
            <a:ext cx="16002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295400" y="2390775"/>
            <a:ext cx="120000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2682858" y="2390775"/>
            <a:ext cx="49558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C(15, p) cobertos por X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7849789" y="2390775"/>
            <a:ext cx="545440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LB-LP = ⌈C(25,p)/C(15,p)⌉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3575683" y="2390775"/>
            <a:ext cx="337881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LB-Schönheim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143000" y="2733675"/>
            <a:ext cx="16002000" cy="5381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143000" y="3262313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95400" y="2857500"/>
            <a:ext cx="120000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682858" y="2857500"/>
            <a:ext cx="49558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849789" y="2857500"/>
            <a:ext cx="54544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297.160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575683" y="2857500"/>
            <a:ext cx="337881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297.172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143000" y="3271838"/>
            <a:ext cx="16002000" cy="53340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143000" y="3795713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95400" y="3395663"/>
            <a:ext cx="12000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682858" y="3395663"/>
            <a:ext cx="4955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105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849789" y="3395663"/>
            <a:ext cx="54544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49.527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3575683" y="3395663"/>
            <a:ext cx="33788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58.887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43000" y="3805237"/>
            <a:ext cx="16002000" cy="5334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43000" y="4329113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295400" y="3929063"/>
            <a:ext cx="12000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682858" y="3929063"/>
            <a:ext cx="49558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455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849789" y="3929063"/>
            <a:ext cx="54544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11.430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575683" y="3929063"/>
            <a:ext cx="337881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13.175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3000" y="4338638"/>
            <a:ext cx="16002000" cy="528638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295400" y="4462463"/>
            <a:ext cx="120000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2682858" y="4462463"/>
            <a:ext cx="495589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1.365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849789" y="4462463"/>
            <a:ext cx="5454403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3.266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3575683" y="4462463"/>
            <a:ext cx="337881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3.370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143000" y="5095875"/>
            <a:ext cx="9384060" cy="1328738"/>
          </a:xfrm>
          <a:prstGeom prst="roundRect">
            <a:avLst>
              <a:gd name="adj" fmla="val 4301"/>
            </a:avLst>
          </a:prstGeom>
          <a:solidFill>
            <a:srgbClr val="FBBF24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1143000" y="6415088"/>
            <a:ext cx="9384060" cy="9525"/>
          </a:xfrm>
          <a:prstGeom prst="rect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1143000" y="5095875"/>
            <a:ext cx="9384060" cy="9525"/>
          </a:xfrm>
          <a:prstGeom prst="rect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143000" y="5095875"/>
            <a:ext cx="28575" cy="132873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0517535" y="5095875"/>
            <a:ext cx="9525" cy="1328738"/>
          </a:xfrm>
          <a:prstGeom prst="rect">
            <a:avLst/>
          </a:prstGeom>
          <a:solidFill>
            <a:srgbClr val="FBBF24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381125" y="5276850"/>
            <a:ext cx="98195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CONTRAINTUITIVO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81125" y="5543550"/>
            <a:ext cx="9194666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p=11 exige apenas </a:t>
            </a:r>
            <a:r>
              <a:rPr lang="en-US" sz="157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~3.370 elementos </a:t>
            </a: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3,3 milhões disponíveis. A dificuldade aumenta com p — tanto o tamanho de SB quanto o trabalho por iteração crescem.</a:t>
            </a:r>
            <a:endParaRPr lang="en-US" sz="1575" dirty="0"/>
          </a:p>
        </p:txBody>
      </p:sp>
      <p:sp>
        <p:nvSpPr>
          <p:cNvPr id="48" name="Shape 46"/>
          <p:cNvSpPr/>
          <p:nvPr/>
        </p:nvSpPr>
        <p:spPr>
          <a:xfrm>
            <a:off x="10755660" y="5095875"/>
            <a:ext cx="6389340" cy="1328738"/>
          </a:xfrm>
          <a:prstGeom prst="roundRect">
            <a:avLst>
              <a:gd name="adj" fmla="val 4301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0974735" y="5276850"/>
            <a:ext cx="654630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PARADOXO DE COMPLEXIDADE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974735" y="5543550"/>
            <a:ext cx="6129726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7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p → SB menor (menos iterações) MAS custo por iteração </a:t>
            </a:r>
            <a:r>
              <a:rPr lang="en-US" sz="1575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cresce drasticamente</a:t>
            </a:r>
            <a:endParaRPr lang="en-US" sz="1575" dirty="0"/>
          </a:p>
        </p:txBody>
      </p:sp>
      <p:sp>
        <p:nvSpPr>
          <p:cNvPr id="51" name="Shape 49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143000" y="96440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Complexidade de Algoritmos · RA03 · 2026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100783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20261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1032688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045115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0575429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1069970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823972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09482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10725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5182761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Estruturas de Dados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14475"/>
            <a:ext cx="9982200" cy="2632174"/>
          </a:xfrm>
          <a:prstGeom prst="roundRect">
            <a:avLst>
              <a:gd name="adj" fmla="val 2171"/>
            </a:avLst>
          </a:prstGeom>
          <a:solidFill>
            <a:srgbClr val="1E1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4137124"/>
            <a:ext cx="9982200" cy="9525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14475"/>
            <a:ext cx="99822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14475"/>
            <a:ext cx="9525" cy="2632174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1115675" y="1514475"/>
            <a:ext cx="9525" cy="2632174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381125" y="1724025"/>
            <a:ext cx="10456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BITMASK UINT32 — REPRESENTAÇÃO DE SUBCONJUNTOS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1125" y="2028825"/>
            <a:ext cx="9791129" cy="321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Cada subconjunto de {1..25} → inteiro de 25 bits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381125" y="2369344"/>
            <a:ext cx="97911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{1, 3, 5} → </a:t>
            </a:r>
            <a:r>
              <a:rPr lang="en-US" sz="1500" dirty="0">
                <a:solidFill>
                  <a:srgbClr val="38BDF8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0b</a:t>
            </a:r>
            <a:r>
              <a:rPr lang="en-US" sz="1500" dirty="0">
                <a:solidFill>
                  <a:srgbClr val="E2E8F0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00000000000000000000</a:t>
            </a:r>
            <a:r>
              <a:rPr lang="en-US" sz="1500" dirty="0">
                <a:solidFill>
                  <a:srgbClr val="FBBF24"/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10101</a:t>
            </a:r>
            <a:r>
              <a:rPr lang="en-US" sz="15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5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81125" y="2759869"/>
            <a:ext cx="97911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Verificar Y ⊆ X em O(1):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81125" y="3093244"/>
            <a:ext cx="979112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5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</a:t>
            </a:r>
            <a:r>
              <a:rPr lang="en-US" sz="15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 </a:t>
            </a: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</a:t>
            </a:r>
            <a:r>
              <a:rPr lang="en-US" sz="15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5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</a:t>
            </a:r>
            <a:r>
              <a:rPr lang="en-US" sz="1500" dirty="0">
                <a:solidFill>
                  <a:srgbClr val="A78B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</a:t>
            </a:r>
            <a:r>
              <a:rPr lang="en-US" sz="127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uma instrução de máquina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381125" y="3559969"/>
            <a:ext cx="9505950" cy="9525"/>
          </a:xfrm>
          <a:prstGeom prst="rect">
            <a:avLst/>
          </a:prstGeom>
          <a:solidFill>
            <a:srgbClr val="2525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81125" y="3683794"/>
            <a:ext cx="1070818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35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MB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566243" y="3683794"/>
            <a:ext cx="1452443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até </a:t>
            </a:r>
            <a:r>
              <a:rPr lang="en-US" sz="135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MB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077146" y="3683794"/>
            <a:ext cx="2150179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array dtype: </a:t>
            </a: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uint32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0" y="1514475"/>
            <a:ext cx="6286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Comparativo de desempenho: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0" y="1828800"/>
            <a:ext cx="5715000" cy="409575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430000" y="2219325"/>
            <a:ext cx="5715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1582400" y="1933575"/>
            <a:ext cx="196304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Operação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35943" y="1933575"/>
            <a:ext cx="1155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119896" y="1933575"/>
            <a:ext cx="9205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bitmask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268998" y="1933575"/>
            <a:ext cx="7617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430000" y="2238375"/>
            <a:ext cx="5715000" cy="47148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1430000" y="2700338"/>
            <a:ext cx="5715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1582400" y="2343150"/>
            <a:ext cx="19630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Y ⊆ 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735943" y="2343150"/>
            <a:ext cx="115535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O(p)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5119896" y="2343150"/>
            <a:ext cx="9205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O(1)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268998" y="2343150"/>
            <a:ext cx="7617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~15×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1430000" y="2709863"/>
            <a:ext cx="5715000" cy="44767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11430000" y="3148013"/>
            <a:ext cx="5715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11582400" y="2814638"/>
            <a:ext cx="196304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Vetorizar (NumPy)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3735943" y="2814638"/>
            <a:ext cx="115535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Impossível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5119896" y="2814638"/>
            <a:ext cx="92050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Possível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6268998" y="2814638"/>
            <a:ext cx="76170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~100×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1430000" y="3157538"/>
            <a:ext cx="5715000" cy="4619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1582400" y="3262313"/>
            <a:ext cx="196304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Memória/elemento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3735943" y="3262313"/>
            <a:ext cx="115535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~300 B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5119896" y="3262313"/>
            <a:ext cx="92050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B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6268998" y="3262313"/>
            <a:ext cx="76170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~75×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43000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143000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1143000" y="4337149"/>
            <a:ext cx="3857625" cy="1905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14300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499110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343025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818C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DICIONÁRIOS HASH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343025" y="4718149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s15_index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mask → idx em 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343025" y="5042892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sp_index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mask → idx em 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343025" y="5424785"/>
            <a:ext cx="3561302" cy="32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lookup O(1) · construção O(N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191125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5191125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5191125" y="4337149"/>
            <a:ext cx="3857625" cy="19050"/>
          </a:xfrm>
          <a:prstGeom prst="rect">
            <a:avLst/>
          </a:prstGeom>
          <a:solidFill>
            <a:srgbClr val="A3E6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519112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903922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5391150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A3E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ARRAY COUNT[ I ]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5391150" y="4718149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[i] = |{Y ∈ N : Y ⊆ X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}|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5391150" y="5042892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init: C(15,p) · decrementado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391150" y="5301853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argmax sem recomputar tudo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239250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Shape 60"/>
          <p:cNvSpPr/>
          <p:nvPr/>
        </p:nvSpPr>
        <p:spPr>
          <a:xfrm>
            <a:off x="9239250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9239250" y="4337149"/>
            <a:ext cx="3857625" cy="1905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Shape 62"/>
          <p:cNvSpPr/>
          <p:nvPr/>
        </p:nvSpPr>
        <p:spPr>
          <a:xfrm>
            <a:off x="923925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13087350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9439275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HEAP LAZY (P=14,13)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9439275" y="4718149"/>
            <a:ext cx="3561302" cy="329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(−count[i], i) 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max-heap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9439275" y="5009555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lazy: entradas obsoletas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439275" y="5268516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descartadas no pop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13287375" y="4337149"/>
            <a:ext cx="3857625" cy="1533823"/>
          </a:xfrm>
          <a:prstGeom prst="roundRect">
            <a:avLst>
              <a:gd name="adj" fmla="val 3726"/>
            </a:avLst>
          </a:prstGeom>
          <a:solidFill>
            <a:srgbClr val="1317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Shape 69"/>
          <p:cNvSpPr/>
          <p:nvPr/>
        </p:nvSpPr>
        <p:spPr>
          <a:xfrm>
            <a:off x="13287375" y="5861447"/>
            <a:ext cx="385762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Shape 70"/>
          <p:cNvSpPr/>
          <p:nvPr/>
        </p:nvSpPr>
        <p:spPr>
          <a:xfrm>
            <a:off x="13287375" y="4337149"/>
            <a:ext cx="3857625" cy="19050"/>
          </a:xfrm>
          <a:prstGeom prst="rect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1328737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Shape 72"/>
          <p:cNvSpPr/>
          <p:nvPr/>
        </p:nvSpPr>
        <p:spPr>
          <a:xfrm>
            <a:off x="17135475" y="4337149"/>
            <a:ext cx="9525" cy="1533823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13487400" y="4508599"/>
            <a:ext cx="380333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ARRAY NAO_COBERTO[ J ]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13487400" y="4718149"/>
            <a:ext cx="3561302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50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tamanho |S</a:t>
            </a:r>
            <a:r>
              <a:rPr lang="en-US" sz="1125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1350" dirty="0"/>
          </a:p>
        </p:txBody>
      </p:sp>
      <p:sp>
        <p:nvSpPr>
          <p:cNvPr id="77" name="Text 75"/>
          <p:cNvSpPr/>
          <p:nvPr/>
        </p:nvSpPr>
        <p:spPr>
          <a:xfrm>
            <a:off x="13487400" y="5042892"/>
            <a:ext cx="3561302" cy="322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 = Y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 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ainda não coberto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3487400" y="5327154"/>
            <a:ext cx="3561302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lookup/set: O(1)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 78"/>
          <p:cNvSpPr/>
          <p:nvPr/>
        </p:nvSpPr>
        <p:spPr>
          <a:xfrm>
            <a:off x="1143000" y="96440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D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</a:t>
            </a: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</a:t>
            </a:r>
            <a:r>
              <a:rPr lang="en-US" sz="1125" dirty="0">
                <a:solidFill>
                  <a:srgbClr val="2D3A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Algoritmos · RA03 · 2026</a:t>
            </a:r>
            <a:endParaRPr lang="en-US" sz="1125" dirty="0"/>
          </a:p>
        </p:txBody>
      </p:sp>
      <p:sp>
        <p:nvSpPr>
          <p:cNvPr id="81" name="Text 79"/>
          <p:cNvSpPr/>
          <p:nvPr/>
        </p:nvSpPr>
        <p:spPr>
          <a:xfrm>
            <a:off x="100783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020261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032688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045115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0575429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1069970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10823972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109482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110725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1094293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Algorítmica — Greedy Set Cover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43000" y="1552575"/>
            <a:ext cx="817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Pseudocódigo formal: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1143000" y="1838325"/>
            <a:ext cx="7429500" cy="4564559"/>
          </a:xfrm>
          <a:prstGeom prst="roundRect">
            <a:avLst>
              <a:gd name="adj" fmla="val 1252"/>
            </a:avLst>
          </a:prstGeom>
          <a:solidFill>
            <a:srgbClr val="1E1E2E"/>
          </a:solidFill>
          <a:ln w="9525">
            <a:solidFill>
              <a:srgbClr val="2525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419225" y="2057400"/>
            <a:ext cx="708336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Entrada: S</a:t>
            </a:r>
            <a:r>
              <a:rPr lang="en-US" sz="1000" baseline="-40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S</a:t>
            </a:r>
            <a:r>
              <a:rPr lang="en-US" sz="1000" baseline="-400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9225" y="2366963"/>
            <a:ext cx="7083362" cy="327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Pré-proc: construir s15_index, sp_index, count[], nao_coberto[]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9225" y="2732633"/>
            <a:ext cx="70833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818C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∅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419225" y="3076426"/>
            <a:ext cx="70833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enquanto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∃ j com </a:t>
            </a:r>
            <a:r>
              <a:rPr lang="en-US" sz="1425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nao_coberto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[j]:</a:t>
            </a:r>
            <a:endParaRPr lang="en-US" sz="1425" dirty="0"/>
          </a:p>
        </p:txBody>
      </p:sp>
      <p:sp>
        <p:nvSpPr>
          <p:cNvPr id="11" name="Text 9"/>
          <p:cNvSpPr/>
          <p:nvPr/>
        </p:nvSpPr>
        <p:spPr>
          <a:xfrm>
            <a:off x="1724025" y="3420219"/>
            <a:ext cx="6778562" cy="395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X*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argmax</a:t>
            </a:r>
            <a:r>
              <a:rPr lang="en-US" sz="975" baseline="-40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 </a:t>
            </a: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[i] </a:t>
            </a:r>
            <a:r>
              <a:rPr lang="en-US" sz="12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heap lazy ou numpy argmax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724025" y="3777258"/>
            <a:ext cx="67785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 ∪ {X*}</a:t>
            </a:r>
            <a:r>
              <a:rPr lang="en-US" sz="142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[X*]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−1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724025" y="4121051"/>
            <a:ext cx="67785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 combo Y de p elementos de X*: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2028825" y="4464844"/>
            <a:ext cx="6473761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 </a:t>
            </a:r>
            <a:r>
              <a:rPr lang="en-US" sz="1425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nao_coberto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[sp_index[Y]]: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2333625" y="4808637"/>
            <a:ext cx="61689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nao_coberto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[sp_index[Y]]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←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2333625" y="5152430"/>
            <a:ext cx="61689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cada X que contém Y: </a:t>
            </a:r>
            <a:r>
              <a:rPr lang="en-US" sz="1200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C(25-p,15-p) exts.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2638425" y="5496223"/>
            <a:ext cx="58641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[s15_index[X]] </a:t>
            </a:r>
            <a:r>
              <a:rPr lang="en-US" sz="14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-= </a:t>
            </a:r>
            <a:r>
              <a:rPr lang="en-US" sz="1425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419225" y="5840016"/>
            <a:ext cx="7083362" cy="381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90000"/>
              </a:lnSpc>
              <a:buNone/>
            </a:pPr>
            <a:r>
              <a:rPr lang="en-US" sz="14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retornar </a:t>
            </a: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SB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8915400" y="1552575"/>
            <a:ext cx="8229600" cy="1557338"/>
          </a:xfrm>
          <a:prstGeom prst="roundRect">
            <a:avLst>
              <a:gd name="adj" fmla="val 3670"/>
            </a:avLst>
          </a:prstGeom>
          <a:solidFill>
            <a:srgbClr val="38BDF8">
              <a:alpha val="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915400" y="3100388"/>
            <a:ext cx="8229600" cy="9525"/>
          </a:xfrm>
          <a:prstGeom prst="rect">
            <a:avLst/>
          </a:prstGeom>
          <a:solidFill>
            <a:srgbClr val="38BDF8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915400" y="1552575"/>
            <a:ext cx="8229600" cy="9525"/>
          </a:xfrm>
          <a:prstGeom prst="rect">
            <a:avLst/>
          </a:prstGeom>
          <a:solidFill>
            <a:srgbClr val="38BDF8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15400" y="1552575"/>
            <a:ext cx="28575" cy="1557338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17135475" y="1552575"/>
            <a:ext cx="9525" cy="1557338"/>
          </a:xfrm>
          <a:prstGeom prst="rect">
            <a:avLst/>
          </a:prstGeom>
          <a:solidFill>
            <a:srgbClr val="38BDF8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34475" y="1733550"/>
            <a:ext cx="8591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 DE APROXIMAÇÃO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34475" y="2000250"/>
            <a:ext cx="8044815" cy="378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|SB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greedy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≤ H(|S</a:t>
            </a:r>
            <a:r>
              <a:rPr lang="en-US" sz="1187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|) · |OPT|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9134475" y="2397472"/>
            <a:ext cx="8591550" cy="321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H(m) = ln(m)+0,577 </a:t>
            </a:r>
            <a:r>
              <a:rPr lang="en-US" sz="142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15,4× </a:t>
            </a: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|S</a:t>
            </a:r>
            <a:r>
              <a:rPr lang="en-US" sz="1187" baseline="-40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|=4,5M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134475" y="2738438"/>
            <a:ext cx="85915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razão polinomial possível (Feige 1998; Dinur &amp; Steurer 2014)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915400" y="3262313"/>
            <a:ext cx="8229600" cy="1634282"/>
          </a:xfrm>
          <a:prstGeom prst="roundRect">
            <a:avLst>
              <a:gd name="adj" fmla="val 3497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9115425" y="3443288"/>
            <a:ext cx="86125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15425" y="3729038"/>
            <a:ext cx="8064437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Tempo: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O(K·C(15,p)·C(25-p,15-p))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115425" y="4037558"/>
            <a:ext cx="8064437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Espaço: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15425" y="4376589"/>
            <a:ext cx="8064437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000"/>
              </a:lnSpc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Ω: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125" baseline="-400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3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915400" y="5048994"/>
            <a:ext cx="8229600" cy="1266825"/>
          </a:xfrm>
          <a:prstGeom prst="roundRect">
            <a:avLst>
              <a:gd name="adj" fmla="val 4511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115425" y="5229969"/>
            <a:ext cx="86125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SELEÇÃO AUTOMÁTICA DE ESTRATÉGIA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115425" y="5544294"/>
            <a:ext cx="790575" cy="247650"/>
          </a:xfrm>
          <a:prstGeom prst="roundRect">
            <a:avLst>
              <a:gd name="adj" fmla="val 11538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9210675" y="5572869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p=14,13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0020300" y="5515719"/>
            <a:ext cx="35946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 lazy — ≤ 6.930 atualizações/iter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9115425" y="5887194"/>
            <a:ext cx="790575" cy="247650"/>
          </a:xfrm>
          <a:prstGeom prst="roundRect">
            <a:avLst>
              <a:gd name="adj" fmla="val 11538"/>
            </a:avLst>
          </a:prstGeom>
          <a:solidFill>
            <a:srgbClr val="A3E635">
              <a:alpha val="8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9210675" y="5915769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p=12,11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0020300" y="5887194"/>
            <a:ext cx="42987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argmax — &gt; 130.000 atualizações/iter (p=12); p=11: greedy c/ atualização paralelizada</a:t>
            </a:r>
            <a:endParaRPr lang="en-US" sz="1425" dirty="0"/>
          </a:p>
        </p:txBody>
      </p:sp>
      <p:sp>
        <p:nvSpPr>
          <p:cNvPr id="41" name="Shape 39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143000" y="96440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Complexidade de Algoritmos · RA03 · 2026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0783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020261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32688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045115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0575429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69970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823972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09482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0725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1098876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Complexidade: Tempo e Espaço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438275"/>
            <a:ext cx="16002000" cy="451396"/>
          </a:xfrm>
          <a:prstGeom prst="roundRect">
            <a:avLst>
              <a:gd name="adj" fmla="val 10551"/>
            </a:avLst>
          </a:prstGeom>
          <a:solidFill>
            <a:srgbClr val="38BDF8">
              <a:alpha val="4000"/>
            </a:srgbClr>
          </a:solidFill>
          <a:ln w="9525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343025" y="1568648"/>
            <a:ext cx="7688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Notação: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2302371" y="1543050"/>
            <a:ext cx="1567532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r>
              <a:rPr lang="en-US" sz="1063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3.268.760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3994100" y="1543050"/>
            <a:ext cx="122589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</a:t>
            </a:r>
            <a:r>
              <a:rPr lang="en-US" sz="1063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</a:t>
            </a:r>
            <a:r>
              <a:rPr lang="en-US" sz="1275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C(25,p)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410498" y="1559123"/>
            <a:ext cx="256502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= C(15,p)·C(25−p,15−p)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8009037" y="1568648"/>
            <a:ext cx="21144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(atualizações por iteração)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98001" y="1543050"/>
            <a:ext cx="1389251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 = |SB</a:t>
            </a:r>
            <a:r>
              <a:rPr lang="en-US" sz="1063" baseline="-40000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greedy</a:t>
            </a:r>
            <a:r>
              <a:rPr lang="en-US" sz="12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1143000" y="2042071"/>
            <a:ext cx="4819650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1 — GERAÇÃO DE S</a:t>
            </a:r>
            <a:r>
              <a:rPr lang="en-US" sz="1000" b="1" kern="0" spc="60" baseline="-40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43000" y="2358182"/>
            <a:ext cx="4381500" cy="381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143000" y="2720132"/>
            <a:ext cx="43815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276350" y="2453432"/>
            <a:ext cx="105459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483346" y="2453432"/>
            <a:ext cx="106873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780681" y="2453432"/>
            <a:ext cx="168666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Justificativa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143000" y="2739182"/>
            <a:ext cx="4381500" cy="566738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143000" y="3296394"/>
            <a:ext cx="4381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76350" y="2834432"/>
            <a:ext cx="1054596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483346" y="2834432"/>
            <a:ext cx="1068735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Θ(C(n,p))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80681" y="2834432"/>
            <a:ext cx="1686669" cy="414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Enumera cada combinação 1×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1143000" y="3305919"/>
            <a:ext cx="4381500" cy="60007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1143000" y="3896469"/>
            <a:ext cx="43815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276350" y="3401169"/>
            <a:ext cx="10545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(lazy)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483346" y="3401169"/>
            <a:ext cx="10687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Θ(p)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780681" y="3401169"/>
            <a:ext cx="168666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Pilha do iterador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143000" y="3905994"/>
            <a:ext cx="4381500" cy="59531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276350" y="4001244"/>
            <a:ext cx="1054596" cy="442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 (array)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483346" y="4001244"/>
            <a:ext cx="1068735" cy="442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Θ(C(n,p))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780681" y="4001244"/>
            <a:ext cx="1686669" cy="442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Armazena todos bitmasks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753100" y="2042071"/>
            <a:ext cx="125310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PROGRAMAS 2–5 — GREEDY SET COVER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53100" y="2327821"/>
            <a:ext cx="11391900" cy="3619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753100" y="2670721"/>
            <a:ext cx="113919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886450" y="2413546"/>
            <a:ext cx="364165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9626465" y="2413546"/>
            <a:ext cx="347610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 lazy (p=14,13)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13255306" y="2413546"/>
            <a:ext cx="38157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argmax (p=12) / Paralelo (p=11)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5753100" y="2689771"/>
            <a:ext cx="11391900" cy="41612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5753100" y="3096369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5886450" y="2775496"/>
            <a:ext cx="3641658" cy="28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Pré-processamento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626465" y="2775496"/>
            <a:ext cx="3476101" cy="28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255306" y="2775496"/>
            <a:ext cx="3815798" cy="28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53100" y="3105894"/>
            <a:ext cx="11391900" cy="411361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5753100" y="3507730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5886450" y="3191619"/>
            <a:ext cx="364165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Argmax por iter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9626465" y="3191619"/>
            <a:ext cx="347610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O(log N</a:t>
            </a:r>
            <a:r>
              <a:rPr lang="en-US" sz="1000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amort.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255306" y="3191619"/>
            <a:ext cx="381579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753100" y="3517255"/>
            <a:ext cx="11391900" cy="3810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Shape 47"/>
          <p:cNvSpPr/>
          <p:nvPr/>
        </p:nvSpPr>
        <p:spPr>
          <a:xfrm>
            <a:off x="5753100" y="3888730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886450" y="3602980"/>
            <a:ext cx="364165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Atualizações/iter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626465" y="3602980"/>
            <a:ext cx="34761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O(A)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3255306" y="3602980"/>
            <a:ext cx="38157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O(A)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753100" y="3898255"/>
            <a:ext cx="11391900" cy="40005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5753100" y="4288780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5886450" y="3983980"/>
            <a:ext cx="36416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total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9626465" y="3983980"/>
            <a:ext cx="34761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O(K·A·log N</a:t>
            </a:r>
            <a:r>
              <a:rPr lang="en-US" sz="938" baseline="-4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3255306" y="3983980"/>
            <a:ext cx="38157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O(K·(A + N</a:t>
            </a:r>
            <a:r>
              <a:rPr lang="en-US" sz="938" baseline="-40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5753100" y="4298305"/>
            <a:ext cx="11391900" cy="411361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5753100" y="4700141"/>
            <a:ext cx="113919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5886450" y="4384030"/>
            <a:ext cx="364165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626465" y="4384030"/>
            <a:ext cx="3476101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3255306" y="4384030"/>
            <a:ext cx="3815798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753100" y="4709666"/>
            <a:ext cx="11391900" cy="406598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5886450" y="4795391"/>
            <a:ext cx="364165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Ω (melhor caso)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9626465" y="4795391"/>
            <a:ext cx="3476101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3255306" y="4795391"/>
            <a:ext cx="3815798" cy="273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1143000" y="5268664"/>
            <a:ext cx="17602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CONCRETOS DE A = C(15,P)·C(25−P,15−P) POR ITERAÇÃO: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143000" y="5535364"/>
            <a:ext cx="16002000" cy="3619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1143000" y="5878264"/>
            <a:ext cx="160020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1257300" y="5621089"/>
            <a:ext cx="12314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125" dirty="0"/>
          </a:p>
        </p:txBody>
      </p:sp>
      <p:sp>
        <p:nvSpPr>
          <p:cNvPr id="71" name="Text 69"/>
          <p:cNvSpPr/>
          <p:nvPr/>
        </p:nvSpPr>
        <p:spPr>
          <a:xfrm>
            <a:off x="2679204" y="5621089"/>
            <a:ext cx="21420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C(15,p)</a:t>
            </a:r>
            <a:endParaRPr lang="en-US" sz="1125" dirty="0"/>
          </a:p>
        </p:txBody>
      </p:sp>
      <p:sp>
        <p:nvSpPr>
          <p:cNvPr id="72" name="Text 70"/>
          <p:cNvSpPr/>
          <p:nvPr/>
        </p:nvSpPr>
        <p:spPr>
          <a:xfrm>
            <a:off x="5026798" y="5621089"/>
            <a:ext cx="3104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C(25-p,15-p)</a:t>
            </a:r>
            <a:endParaRPr lang="en-US" sz="1125" dirty="0"/>
          </a:p>
        </p:txBody>
      </p:sp>
      <p:sp>
        <p:nvSpPr>
          <p:cNvPr id="73" name="Text 71"/>
          <p:cNvSpPr/>
          <p:nvPr/>
        </p:nvSpPr>
        <p:spPr>
          <a:xfrm>
            <a:off x="8259245" y="5621089"/>
            <a:ext cx="5754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= produto (updates/iter)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14229088" y="5621089"/>
            <a:ext cx="27635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 obtido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1143000" y="5897314"/>
            <a:ext cx="16002000" cy="4238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Shape 74"/>
          <p:cNvSpPr/>
          <p:nvPr/>
        </p:nvSpPr>
        <p:spPr>
          <a:xfrm>
            <a:off x="1143000" y="6311652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1257300" y="5983039"/>
            <a:ext cx="123140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425" dirty="0"/>
          </a:p>
        </p:txBody>
      </p:sp>
      <p:sp>
        <p:nvSpPr>
          <p:cNvPr id="78" name="Text 76"/>
          <p:cNvSpPr/>
          <p:nvPr/>
        </p:nvSpPr>
        <p:spPr>
          <a:xfrm>
            <a:off x="2679204" y="5983039"/>
            <a:ext cx="214208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425" dirty="0"/>
          </a:p>
        </p:txBody>
      </p:sp>
      <p:sp>
        <p:nvSpPr>
          <p:cNvPr id="79" name="Text 77"/>
          <p:cNvSpPr/>
          <p:nvPr/>
        </p:nvSpPr>
        <p:spPr>
          <a:xfrm>
            <a:off x="5026798" y="5983039"/>
            <a:ext cx="310412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425" dirty="0"/>
          </a:p>
        </p:txBody>
      </p:sp>
      <p:sp>
        <p:nvSpPr>
          <p:cNvPr id="80" name="Text 78"/>
          <p:cNvSpPr/>
          <p:nvPr/>
        </p:nvSpPr>
        <p:spPr>
          <a:xfrm>
            <a:off x="8259245" y="5983039"/>
            <a:ext cx="5754411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165</a:t>
            </a:r>
            <a:endParaRPr lang="en-US" sz="1425" dirty="0"/>
          </a:p>
        </p:txBody>
      </p:sp>
      <p:sp>
        <p:nvSpPr>
          <p:cNvPr id="81" name="Text 79"/>
          <p:cNvSpPr/>
          <p:nvPr/>
        </p:nvSpPr>
        <p:spPr>
          <a:xfrm>
            <a:off x="14229088" y="5983039"/>
            <a:ext cx="2763512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532.555</a:t>
            </a:r>
            <a:endParaRPr lang="en-US" sz="1425" dirty="0"/>
          </a:p>
        </p:txBody>
      </p:sp>
      <p:sp>
        <p:nvSpPr>
          <p:cNvPr id="82" name="Shape 80"/>
          <p:cNvSpPr/>
          <p:nvPr/>
        </p:nvSpPr>
        <p:spPr>
          <a:xfrm>
            <a:off x="1143000" y="6321177"/>
            <a:ext cx="16002000" cy="41910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Shape 81"/>
          <p:cNvSpPr/>
          <p:nvPr/>
        </p:nvSpPr>
        <p:spPr>
          <a:xfrm>
            <a:off x="1143000" y="6730752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Text 82"/>
          <p:cNvSpPr/>
          <p:nvPr/>
        </p:nvSpPr>
        <p:spPr>
          <a:xfrm>
            <a:off x="1257300" y="6406902"/>
            <a:ext cx="12314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425" dirty="0"/>
          </a:p>
        </p:txBody>
      </p:sp>
      <p:sp>
        <p:nvSpPr>
          <p:cNvPr id="85" name="Text 83"/>
          <p:cNvSpPr/>
          <p:nvPr/>
        </p:nvSpPr>
        <p:spPr>
          <a:xfrm>
            <a:off x="2679204" y="6406902"/>
            <a:ext cx="21420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105</a:t>
            </a:r>
            <a:endParaRPr lang="en-US" sz="1425" dirty="0"/>
          </a:p>
        </p:txBody>
      </p:sp>
      <p:sp>
        <p:nvSpPr>
          <p:cNvPr id="86" name="Text 84"/>
          <p:cNvSpPr/>
          <p:nvPr/>
        </p:nvSpPr>
        <p:spPr>
          <a:xfrm>
            <a:off x="5026798" y="6406902"/>
            <a:ext cx="31041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</a:t>
            </a:r>
            <a:endParaRPr lang="en-US" sz="1425" dirty="0"/>
          </a:p>
        </p:txBody>
      </p:sp>
      <p:sp>
        <p:nvSpPr>
          <p:cNvPr id="87" name="Text 85"/>
          <p:cNvSpPr/>
          <p:nvPr/>
        </p:nvSpPr>
        <p:spPr>
          <a:xfrm>
            <a:off x="8259245" y="6406902"/>
            <a:ext cx="5754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6.930</a:t>
            </a:r>
            <a:endParaRPr lang="en-US" sz="1425" dirty="0"/>
          </a:p>
        </p:txBody>
      </p:sp>
      <p:sp>
        <p:nvSpPr>
          <p:cNvPr id="88" name="Text 86"/>
          <p:cNvSpPr/>
          <p:nvPr/>
        </p:nvSpPr>
        <p:spPr>
          <a:xfrm>
            <a:off x="14229088" y="6406902"/>
            <a:ext cx="27635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128.827</a:t>
            </a:r>
            <a:endParaRPr lang="en-US" sz="1425" dirty="0"/>
          </a:p>
        </p:txBody>
      </p:sp>
      <p:sp>
        <p:nvSpPr>
          <p:cNvPr id="89" name="Shape 87"/>
          <p:cNvSpPr/>
          <p:nvPr/>
        </p:nvSpPr>
        <p:spPr>
          <a:xfrm>
            <a:off x="1143000" y="6740277"/>
            <a:ext cx="16002000" cy="41910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Shape 88"/>
          <p:cNvSpPr/>
          <p:nvPr/>
        </p:nvSpPr>
        <p:spPr>
          <a:xfrm>
            <a:off x="1143000" y="7149852"/>
            <a:ext cx="1600200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" name="Text 89"/>
          <p:cNvSpPr/>
          <p:nvPr/>
        </p:nvSpPr>
        <p:spPr>
          <a:xfrm>
            <a:off x="1257300" y="6826002"/>
            <a:ext cx="123140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425" dirty="0"/>
          </a:p>
        </p:txBody>
      </p:sp>
      <p:sp>
        <p:nvSpPr>
          <p:cNvPr id="92" name="Text 90"/>
          <p:cNvSpPr/>
          <p:nvPr/>
        </p:nvSpPr>
        <p:spPr>
          <a:xfrm>
            <a:off x="2679204" y="6826002"/>
            <a:ext cx="21420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455</a:t>
            </a:r>
            <a:endParaRPr lang="en-US" sz="1425" dirty="0"/>
          </a:p>
        </p:txBody>
      </p:sp>
      <p:sp>
        <p:nvSpPr>
          <p:cNvPr id="93" name="Text 91"/>
          <p:cNvSpPr/>
          <p:nvPr/>
        </p:nvSpPr>
        <p:spPr>
          <a:xfrm>
            <a:off x="5026798" y="6826002"/>
            <a:ext cx="310412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286</a:t>
            </a:r>
            <a:endParaRPr lang="en-US" sz="1425" dirty="0"/>
          </a:p>
        </p:txBody>
      </p:sp>
      <p:sp>
        <p:nvSpPr>
          <p:cNvPr id="94" name="Text 92"/>
          <p:cNvSpPr/>
          <p:nvPr/>
        </p:nvSpPr>
        <p:spPr>
          <a:xfrm>
            <a:off x="8259245" y="6826002"/>
            <a:ext cx="575441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130.130</a:t>
            </a:r>
            <a:endParaRPr lang="en-US" sz="1425" dirty="0"/>
          </a:p>
        </p:txBody>
      </p:sp>
      <p:sp>
        <p:nvSpPr>
          <p:cNvPr id="95" name="Text 93"/>
          <p:cNvSpPr/>
          <p:nvPr/>
        </p:nvSpPr>
        <p:spPr>
          <a:xfrm>
            <a:off x="14229088" y="6826002"/>
            <a:ext cx="27635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38.100</a:t>
            </a:r>
            <a:endParaRPr lang="en-US" sz="1425" dirty="0"/>
          </a:p>
        </p:txBody>
      </p:sp>
      <p:sp>
        <p:nvSpPr>
          <p:cNvPr id="96" name="Shape 94"/>
          <p:cNvSpPr/>
          <p:nvPr/>
        </p:nvSpPr>
        <p:spPr>
          <a:xfrm>
            <a:off x="1143000" y="7159377"/>
            <a:ext cx="16002000" cy="414338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7" name="Text 95"/>
          <p:cNvSpPr/>
          <p:nvPr/>
        </p:nvSpPr>
        <p:spPr>
          <a:xfrm>
            <a:off x="1257300" y="7245102"/>
            <a:ext cx="123140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425" dirty="0"/>
          </a:p>
        </p:txBody>
      </p:sp>
      <p:sp>
        <p:nvSpPr>
          <p:cNvPr id="98" name="Text 96"/>
          <p:cNvSpPr/>
          <p:nvPr/>
        </p:nvSpPr>
        <p:spPr>
          <a:xfrm>
            <a:off x="2679204" y="7245102"/>
            <a:ext cx="214208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1.365</a:t>
            </a:r>
            <a:endParaRPr lang="en-US" sz="1425" dirty="0"/>
          </a:p>
        </p:txBody>
      </p:sp>
      <p:sp>
        <p:nvSpPr>
          <p:cNvPr id="99" name="Text 97"/>
          <p:cNvSpPr/>
          <p:nvPr/>
        </p:nvSpPr>
        <p:spPr>
          <a:xfrm>
            <a:off x="5026798" y="7245102"/>
            <a:ext cx="310412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1.001</a:t>
            </a:r>
            <a:endParaRPr lang="en-US" sz="1425" dirty="0"/>
          </a:p>
        </p:txBody>
      </p:sp>
      <p:sp>
        <p:nvSpPr>
          <p:cNvPr id="100" name="Text 98"/>
          <p:cNvSpPr/>
          <p:nvPr/>
        </p:nvSpPr>
        <p:spPr>
          <a:xfrm>
            <a:off x="8259245" y="7245102"/>
            <a:ext cx="575441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b="1" dirty="0">
                <a:solidFill>
                  <a:srgbClr val="FB92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1.366.365</a:t>
            </a:r>
            <a:endParaRPr lang="en-US" sz="1425" dirty="0"/>
          </a:p>
        </p:txBody>
      </p:sp>
      <p:sp>
        <p:nvSpPr>
          <p:cNvPr id="101" name="Text 99"/>
          <p:cNvSpPr/>
          <p:nvPr/>
        </p:nvSpPr>
        <p:spPr>
          <a:xfrm>
            <a:off x="14229088" y="7245102"/>
            <a:ext cx="276351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12.733</a:t>
            </a:r>
            <a:endParaRPr lang="en-US" sz="1425" dirty="0"/>
          </a:p>
        </p:txBody>
      </p:sp>
      <p:sp>
        <p:nvSpPr>
          <p:cNvPr id="102" name="Shape 10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1143000" y="96440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Complexidade de Algoritmos · RA03 · 2026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100783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1020261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1032688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1045115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10575429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1069970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10823972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109482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10725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>
            <a:extLst>
              <a:ext uri="{FF2B5EF4-FFF2-40B4-BE49-F238E27FC236}">
                <a16:creationId xmlns:a16="http://schemas.microsoft.com/office/drawing/2014/main" id="{5E7AFBEF-9BE8-1857-37C9-6324C0CF535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42000">
                <a:srgbClr val="38BDF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1011782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Gargalos, Escalabilidade e Comparação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143000" y="1514475"/>
            <a:ext cx="7124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6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GARGALOS PRINCIPAIS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1143000" y="1895475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19200" y="1924050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69839" y="1876425"/>
            <a:ext cx="6231666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Atualizações de </a:t>
            </a:r>
            <a:r>
              <a:rPr lang="en-US" sz="142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count[]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cresce como A — para p=11: </a:t>
            </a:r>
            <a:r>
              <a:rPr lang="en-US" sz="1425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1,37M ops/iter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(dominante)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143000" y="2515493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19200" y="2544068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69839" y="2496443"/>
            <a:ext cx="6231666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 lazy acumula entradas obsoletas — uso de memória extra proporcional a K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143000" y="3135511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19200" y="3164086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69839" y="3116461"/>
            <a:ext cx="5976586" cy="340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Construção de índices: O(N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+N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— executada 1× mas leva 14–30s</a:t>
            </a:r>
            <a:endParaRPr lang="en-US" sz="1425" dirty="0"/>
          </a:p>
        </p:txBody>
      </p:sp>
      <p:sp>
        <p:nvSpPr>
          <p:cNvPr id="15" name="Shape 13"/>
          <p:cNvSpPr/>
          <p:nvPr/>
        </p:nvSpPr>
        <p:spPr>
          <a:xfrm>
            <a:off x="1143000" y="3533031"/>
            <a:ext cx="312539" cy="228600"/>
          </a:xfrm>
          <a:prstGeom prst="roundRect">
            <a:avLst>
              <a:gd name="adj" fmla="val 12500"/>
            </a:avLst>
          </a:prstGeom>
          <a:solidFill>
            <a:srgbClr val="F87171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19200" y="3561606"/>
            <a:ext cx="23633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69839" y="3513981"/>
            <a:ext cx="6231666" cy="602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NumPy argmax percorre 3,3M elementos/iter — O(N15) por iteração (p=12); p=11 paraleliza a atualização de count[]</a:t>
            </a:r>
            <a:endParaRPr lang="en-US" sz="1425" dirty="0"/>
          </a:p>
        </p:txBody>
      </p:sp>
      <p:sp>
        <p:nvSpPr>
          <p:cNvPr id="18" name="Shape 16"/>
          <p:cNvSpPr/>
          <p:nvPr/>
        </p:nvSpPr>
        <p:spPr>
          <a:xfrm>
            <a:off x="1143000" y="4269135"/>
            <a:ext cx="6477000" cy="1786830"/>
          </a:xfrm>
          <a:prstGeom prst="roundRect">
            <a:avLst>
              <a:gd name="adj" fmla="val 3198"/>
            </a:avLst>
          </a:prstGeom>
          <a:solidFill>
            <a:srgbClr val="34D399">
              <a:alpha val="4000"/>
            </a:srgbClr>
          </a:solidFill>
          <a:ln w="9525">
            <a:solidFill>
              <a:srgbClr val="34D399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1343025" y="4431060"/>
            <a:ext cx="66846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84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3025" y="4716810"/>
            <a:ext cx="2046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47664" y="4716810"/>
            <a:ext cx="4733211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Memória escala linearmente: O(N</a:t>
            </a:r>
            <a:r>
              <a:rPr lang="en-US" sz="1125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+N</a:t>
            </a:r>
            <a:r>
              <a:rPr lang="en-US" sz="1125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≈ </a:t>
            </a:r>
            <a:r>
              <a:rPr lang="en-US" sz="135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30–60 MB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43025" y="5055840"/>
            <a:ext cx="2163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59421" y="5074890"/>
            <a:ext cx="58194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NÃO escala bem — C(n,k) cresce exponencialmente em 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43025" y="5360640"/>
            <a:ext cx="21639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559421" y="5360640"/>
            <a:ext cx="496780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n=30: C(30,15) = 155M → </a:t>
            </a:r>
            <a:r>
              <a:rPr lang="en-US" sz="135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inviável 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abordagem atual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43025" y="5665440"/>
            <a:ext cx="2241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567160" y="5665440"/>
            <a:ext cx="467018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 prático: </a:t>
            </a:r>
            <a:r>
              <a:rPr lang="en-US" sz="13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≤ 26–27 </a:t>
            </a:r>
            <a:r>
              <a:rPr lang="en-US" sz="13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hardware convencional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62900" y="1514475"/>
            <a:ext cx="101003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b="1" kern="0" spc="6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ENTRE ESTRATÉGIAS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7967662" y="1819275"/>
            <a:ext cx="9172575" cy="40005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967662" y="2200275"/>
            <a:ext cx="9172575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101013" y="1924050"/>
            <a:ext cx="243049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Abordagem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0681543" y="1924050"/>
            <a:ext cx="18817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12753826" y="1924050"/>
            <a:ext cx="12436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Espaço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4187934" y="1924050"/>
            <a:ext cx="9011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Ótimo?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5279588" y="1924050"/>
            <a:ext cx="17653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7967662" y="2219325"/>
            <a:ext cx="9172575" cy="50006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7967662" y="2709863"/>
            <a:ext cx="917257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101013" y="2333625"/>
            <a:ext cx="243049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Força bruta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0681543" y="2333625"/>
            <a:ext cx="188178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Ω(2</a:t>
            </a:r>
            <a:r>
              <a:rPr lang="en-US" sz="1000" baseline="30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N15</a:t>
            </a: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753826" y="2333625"/>
            <a:ext cx="124360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1000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4187934" y="2333625"/>
            <a:ext cx="90115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5279588" y="2333625"/>
            <a:ext cx="176539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1,00×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7967662" y="2719388"/>
            <a:ext cx="9172575" cy="49530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7967662" y="3205163"/>
            <a:ext cx="9172575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101013" y="2833688"/>
            <a:ext cx="24304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ILP direto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0681543" y="2833688"/>
            <a:ext cx="18817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 (exp.)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2753826" y="2833688"/>
            <a:ext cx="124360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·N</a:t>
            </a:r>
            <a:r>
              <a:rPr lang="en-US" sz="938" baseline="-400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14187934" y="2833688"/>
            <a:ext cx="9011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5279588" y="2833688"/>
            <a:ext cx="17653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1,00×</a:t>
            </a:r>
            <a:endParaRPr lang="en-US" sz="1425" dirty="0"/>
          </a:p>
        </p:txBody>
      </p:sp>
      <p:sp>
        <p:nvSpPr>
          <p:cNvPr id="50" name="Shape 48"/>
          <p:cNvSpPr/>
          <p:nvPr/>
        </p:nvSpPr>
        <p:spPr>
          <a:xfrm>
            <a:off x="7967662" y="3214688"/>
            <a:ext cx="9172575" cy="481012"/>
          </a:xfrm>
          <a:prstGeom prst="rect">
            <a:avLst/>
          </a:prstGeom>
          <a:solidFill>
            <a:srgbClr val="38BDF8">
              <a:alpha val="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7967662" y="3214688"/>
            <a:ext cx="9525" cy="48101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17130713" y="3214688"/>
            <a:ext cx="9525" cy="481012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8101013" y="3328988"/>
            <a:ext cx="243049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heap ★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10681543" y="3328988"/>
            <a:ext cx="1881783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O(K·A·log 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55" name="Text 53"/>
          <p:cNvSpPr/>
          <p:nvPr/>
        </p:nvSpPr>
        <p:spPr>
          <a:xfrm>
            <a:off x="12753826" y="3328988"/>
            <a:ext cx="124360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4187934" y="3328988"/>
            <a:ext cx="901154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 n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15279588" y="3328988"/>
            <a:ext cx="1765399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1,79–2,19×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7967662" y="3695700"/>
            <a:ext cx="9172575" cy="476250"/>
          </a:xfrm>
          <a:prstGeom prst="rect">
            <a:avLst/>
          </a:prstGeom>
          <a:solidFill>
            <a:srgbClr val="38BDF8">
              <a:alpha val="3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7967662" y="3695700"/>
            <a:ext cx="9525" cy="476250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Shape 58"/>
          <p:cNvSpPr/>
          <p:nvPr/>
        </p:nvSpPr>
        <p:spPr>
          <a:xfrm>
            <a:off x="17130713" y="3695700"/>
            <a:ext cx="9525" cy="476250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8101013" y="3810000"/>
            <a:ext cx="24304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argmax/paralelo ★</a:t>
            </a:r>
            <a:endParaRPr lang="en-US" sz="1425" dirty="0"/>
          </a:p>
        </p:txBody>
      </p:sp>
      <p:sp>
        <p:nvSpPr>
          <p:cNvPr id="62" name="Text 60"/>
          <p:cNvSpPr/>
          <p:nvPr/>
        </p:nvSpPr>
        <p:spPr>
          <a:xfrm>
            <a:off x="10681543" y="3810000"/>
            <a:ext cx="188178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O(K·(A+N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12753826" y="3810000"/>
            <a:ext cx="12436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938" baseline="-40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64" name="Text 62"/>
          <p:cNvSpPr/>
          <p:nvPr/>
        </p:nvSpPr>
        <p:spPr>
          <a:xfrm>
            <a:off x="14187934" y="3810000"/>
            <a:ext cx="90115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ln n</a:t>
            </a:r>
            <a:endParaRPr lang="en-US" sz="1275" dirty="0"/>
          </a:p>
        </p:txBody>
      </p:sp>
      <p:sp>
        <p:nvSpPr>
          <p:cNvPr id="65" name="Text 63"/>
          <p:cNvSpPr/>
          <p:nvPr/>
        </p:nvSpPr>
        <p:spPr>
          <a:xfrm>
            <a:off x="15279588" y="3810000"/>
            <a:ext cx="176539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2,89–3,78×</a:t>
            </a:r>
            <a:endParaRPr lang="en-US" sz="1425" dirty="0"/>
          </a:p>
        </p:txBody>
      </p:sp>
      <p:sp>
        <p:nvSpPr>
          <p:cNvPr id="66" name="Shape 64"/>
          <p:cNvSpPr/>
          <p:nvPr/>
        </p:nvSpPr>
        <p:spPr>
          <a:xfrm>
            <a:off x="7967662" y="4171950"/>
            <a:ext cx="9172575" cy="447675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Text 65"/>
          <p:cNvSpPr/>
          <p:nvPr/>
        </p:nvSpPr>
        <p:spPr>
          <a:xfrm>
            <a:off x="8101013" y="4286250"/>
            <a:ext cx="24304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Randômico</a:t>
            </a:r>
            <a:endParaRPr lang="en-US" sz="1425" dirty="0"/>
          </a:p>
        </p:txBody>
      </p:sp>
      <p:sp>
        <p:nvSpPr>
          <p:cNvPr id="68" name="Text 66"/>
          <p:cNvSpPr/>
          <p:nvPr/>
        </p:nvSpPr>
        <p:spPr>
          <a:xfrm>
            <a:off x="10681543" y="4286250"/>
            <a:ext cx="188178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O(T·N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12753826" y="4286250"/>
            <a:ext cx="124360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O(N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+N</a:t>
            </a:r>
            <a:r>
              <a:rPr lang="en-US" sz="938" baseline="-40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r>
              <a:rPr lang="en-US" sz="112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25" dirty="0"/>
          </a:p>
        </p:txBody>
      </p:sp>
      <p:sp>
        <p:nvSpPr>
          <p:cNvPr id="70" name="Text 68"/>
          <p:cNvSpPr/>
          <p:nvPr/>
        </p:nvSpPr>
        <p:spPr>
          <a:xfrm>
            <a:off x="14187934" y="4286250"/>
            <a:ext cx="9011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75" dirty="0"/>
          </a:p>
        </p:txBody>
      </p:sp>
      <p:sp>
        <p:nvSpPr>
          <p:cNvPr id="71" name="Text 69"/>
          <p:cNvSpPr/>
          <p:nvPr/>
        </p:nvSpPr>
        <p:spPr>
          <a:xfrm>
            <a:off x="15279588" y="4286250"/>
            <a:ext cx="17653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25" dirty="0"/>
          </a:p>
        </p:txBody>
      </p:sp>
      <p:sp>
        <p:nvSpPr>
          <p:cNvPr id="72" name="Shape 7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1143000" y="96440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Complexidade de Algoritmos · RA03 · 2026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74" name="Text 72"/>
          <p:cNvSpPr/>
          <p:nvPr/>
        </p:nvSpPr>
        <p:spPr>
          <a:xfrm>
            <a:off x="100783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020261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1032688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1045115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10575429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069970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0823972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094824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110725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42000">
                <a:srgbClr val="38BDF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43000" y="6858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607939" y="7096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807964" y="533400"/>
            <a:ext cx="5003006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Obtidos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14503301" y="661988"/>
            <a:ext cx="2641699" cy="342900"/>
          </a:xfrm>
          <a:prstGeom prst="roundRect">
            <a:avLst>
              <a:gd name="adj" fmla="val 11111"/>
            </a:avLst>
          </a:prstGeom>
          <a:solidFill>
            <a:srgbClr val="38BDF8">
              <a:alpha val="8000"/>
            </a:srgbClr>
          </a:solidFill>
          <a:ln w="9525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4665226" y="728663"/>
            <a:ext cx="23971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38BDF8"/>
                </a:solidFill>
                <a:highlight>
                  <a:srgbClr val="EFFAF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Greedy sobre S</a:t>
            </a:r>
            <a:r>
              <a:rPr lang="en-US" sz="938" b="1" baseline="-40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r>
              <a:rPr lang="en-US" sz="1125" b="1" dirty="0">
                <a:solidFill>
                  <a:srgbClr val="38BDF8"/>
                </a:solidFill>
                <a:highlight>
                  <a:srgbClr val="EFFAFE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, p ∈ {14,13,12,11}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143000" y="1228725"/>
            <a:ext cx="176022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47556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Garantia teórica: ≤ 15,4× · |OPT| → resultado real: 1,79×–3,78× → </a:t>
            </a:r>
            <a:r>
              <a:rPr lang="en-US" sz="1275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4–9× melhor que o pior caso teórico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1143000" y="1590675"/>
            <a:ext cx="16002000" cy="2746921"/>
          </a:xfrm>
          <a:prstGeom prst="roundRect">
            <a:avLst>
              <a:gd name="adj" fmla="val 2081"/>
            </a:avLst>
          </a:prstGeom>
          <a:ln w="1905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152525" y="1600200"/>
            <a:ext cx="15982950" cy="50854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152525" y="2089696"/>
            <a:ext cx="1598295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266825" y="1733550"/>
            <a:ext cx="739378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2196703" y="1733550"/>
            <a:ext cx="2140744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|S</a:t>
            </a:r>
            <a:r>
              <a:rPr lang="en-US" sz="1063" b="1" baseline="-40000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</a:t>
            </a: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566047" y="1733550"/>
            <a:ext cx="173012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LB-LP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524774" y="1733550"/>
            <a:ext cx="2265759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LB-Schönheim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9019133" y="1733550"/>
            <a:ext cx="1798588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|SB</a:t>
            </a:r>
            <a:r>
              <a:rPr lang="en-US" sz="1063" b="1" baseline="-40000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</a:t>
            </a: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1084421" y="1733550"/>
            <a:ext cx="226605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 vs LB-Sch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3579078" y="1733550"/>
            <a:ext cx="1730127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5537805" y="1733550"/>
            <a:ext cx="1483370" cy="279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de S</a:t>
            </a:r>
            <a:r>
              <a:rPr lang="en-US" sz="1063" b="1" baseline="-40000" dirty="0">
                <a:solidFill>
                  <a:srgbClr val="7DD3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152525" y="2108746"/>
            <a:ext cx="15982950" cy="557213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152525" y="2656433"/>
            <a:ext cx="1598295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266825" y="2242096"/>
            <a:ext cx="7393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196703" y="2242096"/>
            <a:ext cx="2140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4566047" y="2242096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297.160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6524774" y="2242096"/>
            <a:ext cx="22657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297.172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9019133" y="2242096"/>
            <a:ext cx="179858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532.555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084421" y="2242096"/>
            <a:ext cx="226605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1,79×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579078" y="2242096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~18 min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15537805" y="2242096"/>
            <a:ext cx="14833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16,3%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152525" y="2665958"/>
            <a:ext cx="15982950" cy="552450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152525" y="3208883"/>
            <a:ext cx="1598295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266825" y="2799308"/>
            <a:ext cx="7393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196703" y="2799308"/>
            <a:ext cx="21407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4566047" y="279930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49.527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6524774" y="2799308"/>
            <a:ext cx="22657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58.887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019133" y="2799308"/>
            <a:ext cx="17985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128.827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1084421" y="2799308"/>
            <a:ext cx="22660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A3E6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2,19×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3579078" y="279930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 h</a:t>
            </a:r>
            <a:endParaRPr lang="en-US" sz="1575" dirty="0"/>
          </a:p>
        </p:txBody>
      </p:sp>
      <p:sp>
        <p:nvSpPr>
          <p:cNvPr id="39" name="Text 37"/>
          <p:cNvSpPr/>
          <p:nvPr/>
        </p:nvSpPr>
        <p:spPr>
          <a:xfrm>
            <a:off x="15537805" y="2799308"/>
            <a:ext cx="14833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3,9%</a:t>
            </a:r>
            <a:endParaRPr lang="en-US" sz="1575" dirty="0"/>
          </a:p>
        </p:txBody>
      </p:sp>
      <p:sp>
        <p:nvSpPr>
          <p:cNvPr id="40" name="Shape 38"/>
          <p:cNvSpPr/>
          <p:nvPr/>
        </p:nvSpPr>
        <p:spPr>
          <a:xfrm>
            <a:off x="1152525" y="3218408"/>
            <a:ext cx="15982950" cy="552450"/>
          </a:xfrm>
          <a:prstGeom prst="rect">
            <a:avLst/>
          </a:prstGeom>
          <a:solidFill>
            <a:srgbClr val="1A1F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1152525" y="3761333"/>
            <a:ext cx="15982950" cy="9525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266825" y="3351758"/>
            <a:ext cx="7393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2196703" y="3351758"/>
            <a:ext cx="21407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5.200.300</a:t>
            </a:r>
            <a:endParaRPr lang="en-US" sz="1575" dirty="0"/>
          </a:p>
        </p:txBody>
      </p:sp>
      <p:sp>
        <p:nvSpPr>
          <p:cNvPr id="44" name="Text 42"/>
          <p:cNvSpPr/>
          <p:nvPr/>
        </p:nvSpPr>
        <p:spPr>
          <a:xfrm>
            <a:off x="4566047" y="335175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11.430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6524774" y="3351758"/>
            <a:ext cx="226575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13.175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9019133" y="3351758"/>
            <a:ext cx="179858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38.100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1084421" y="3351758"/>
            <a:ext cx="22660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2,89×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3579078" y="3351758"/>
            <a:ext cx="173012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~79 min</a:t>
            </a:r>
            <a:endParaRPr lang="en-US" sz="1575" dirty="0"/>
          </a:p>
        </p:txBody>
      </p:sp>
      <p:sp>
        <p:nvSpPr>
          <p:cNvPr id="49" name="Text 47"/>
          <p:cNvSpPr/>
          <p:nvPr/>
        </p:nvSpPr>
        <p:spPr>
          <a:xfrm>
            <a:off x="15537805" y="3351758"/>
            <a:ext cx="14833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1,2%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152525" y="3770858"/>
            <a:ext cx="15982950" cy="557213"/>
          </a:xfrm>
          <a:prstGeom prst="rect">
            <a:avLst/>
          </a:prstGeom>
          <a:solidFill>
            <a:srgbClr val="14182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1266825" y="3904208"/>
            <a:ext cx="73937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2196703" y="3904208"/>
            <a:ext cx="2140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4.457.400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4566047" y="3904208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dirty="0">
                <a:solidFill>
                  <a:srgbClr val="A3E63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3.266</a:t>
            </a:r>
            <a:endParaRPr lang="en-US" sz="1575" dirty="0"/>
          </a:p>
        </p:txBody>
      </p:sp>
      <p:sp>
        <p:nvSpPr>
          <p:cNvPr id="54" name="Text 52"/>
          <p:cNvSpPr/>
          <p:nvPr/>
        </p:nvSpPr>
        <p:spPr>
          <a:xfrm>
            <a:off x="6524774" y="3904208"/>
            <a:ext cx="226575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3.370</a:t>
            </a:r>
            <a:endParaRPr lang="en-US" sz="1575" dirty="0"/>
          </a:p>
        </p:txBody>
      </p:sp>
      <p:sp>
        <p:nvSpPr>
          <p:cNvPr id="55" name="Text 53"/>
          <p:cNvSpPr/>
          <p:nvPr/>
        </p:nvSpPr>
        <p:spPr>
          <a:xfrm>
            <a:off x="9019133" y="3904208"/>
            <a:ext cx="179858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650" b="1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12.733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1084421" y="3904208"/>
            <a:ext cx="226605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B92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3,78×</a:t>
            </a:r>
            <a:endParaRPr lang="en-US" sz="1650" dirty="0"/>
          </a:p>
        </p:txBody>
      </p:sp>
      <p:sp>
        <p:nvSpPr>
          <p:cNvPr id="57" name="Text 55"/>
          <p:cNvSpPr/>
          <p:nvPr/>
        </p:nvSpPr>
        <p:spPr>
          <a:xfrm>
            <a:off x="13579078" y="3904208"/>
            <a:ext cx="17301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~3,4 h</a:t>
            </a:r>
            <a:endParaRPr lang="en-US" sz="1575" dirty="0"/>
          </a:p>
        </p:txBody>
      </p:sp>
      <p:sp>
        <p:nvSpPr>
          <p:cNvPr id="58" name="Text 56"/>
          <p:cNvSpPr/>
          <p:nvPr/>
        </p:nvSpPr>
        <p:spPr>
          <a:xfrm>
            <a:off x="15537805" y="3904208"/>
            <a:ext cx="14833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0,4%</a:t>
            </a:r>
            <a:endParaRPr lang="en-US" sz="1575" dirty="0"/>
          </a:p>
        </p:txBody>
      </p:sp>
      <p:sp>
        <p:nvSpPr>
          <p:cNvPr id="59" name="Shape 57"/>
          <p:cNvSpPr/>
          <p:nvPr/>
        </p:nvSpPr>
        <p:spPr>
          <a:xfrm>
            <a:off x="1143000" y="4489996"/>
            <a:ext cx="10407700" cy="834330"/>
          </a:xfrm>
          <a:prstGeom prst="roundRect">
            <a:avLst>
              <a:gd name="adj" fmla="val 6850"/>
            </a:avLst>
          </a:prstGeom>
          <a:solidFill>
            <a:srgbClr val="34D399">
              <a:alpha val="5000"/>
            </a:srgbClr>
          </a:solidFill>
          <a:ln w="9525">
            <a:solidFill>
              <a:srgbClr val="34D399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1343025" y="4632871"/>
            <a:ext cx="10319881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Rödl, 1985 — LB-LP é assintoticamente apertado para instâncias uniformes C(n,k,t) quando n→∞. Auditoria exata concluída para p=11 e p=12; p=13 e p=14 pendentes por custo computacional (audit_cobertura.py disponível).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1741200" y="4489996"/>
            <a:ext cx="5403800" cy="834330"/>
          </a:xfrm>
          <a:prstGeom prst="roundRect">
            <a:avLst>
              <a:gd name="adj" fmla="val 6850"/>
            </a:avLst>
          </a:prstGeom>
          <a:solidFill>
            <a:srgbClr val="131720"/>
          </a:solidFill>
          <a:ln w="9525">
            <a:solidFill>
              <a:srgbClr val="1E2640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62" name="Text 60"/>
          <p:cNvSpPr/>
          <p:nvPr/>
        </p:nvSpPr>
        <p:spPr>
          <a:xfrm>
            <a:off x="11941225" y="4678561"/>
            <a:ext cx="282549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Intel Core i7-4770 @ 3,40 GHz 32 GB RAM · sem GPU · Windows 11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143000" y="95345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1143000" y="9682163"/>
            <a:ext cx="38725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PUCPR · Complexidade de Algoritmos · RA03 · 2026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65" name="Text 63"/>
          <p:cNvSpPr/>
          <p:nvPr/>
        </p:nvSpPr>
        <p:spPr>
          <a:xfrm>
            <a:off x="10078343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202614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0326886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0451157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0575429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10699700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10823972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0948243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1072515" y="97059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6544925" y="96774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00100"/>
            <a:ext cx="3506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8BDF8">
                    <a:alpha val="6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607939" y="823913"/>
            <a:ext cx="9525" cy="247650"/>
          </a:xfrm>
          <a:prstGeom prst="rect">
            <a:avLst/>
          </a:prstGeom>
          <a:solidFill>
            <a:srgbClr val="1E264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807964" y="647700"/>
            <a:ext cx="844764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kern="0" spc="-78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 e Possíveis Melhorias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143000" y="1590675"/>
            <a:ext cx="7848600" cy="2690813"/>
          </a:xfrm>
          <a:prstGeom prst="roundRect">
            <a:avLst>
              <a:gd name="adj" fmla="val 2124"/>
            </a:avLst>
          </a:prstGeom>
          <a:solidFill>
            <a:srgbClr val="F87171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143000" y="4271963"/>
            <a:ext cx="7848600" cy="9525"/>
          </a:xfrm>
          <a:prstGeom prst="rect">
            <a:avLst/>
          </a:prstGeom>
          <a:solidFill>
            <a:srgbClr val="F87171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143000" y="1590675"/>
            <a:ext cx="7848600" cy="1905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143000" y="1590675"/>
            <a:ext cx="9525" cy="2690813"/>
          </a:xfrm>
          <a:prstGeom prst="rect">
            <a:avLst/>
          </a:prstGeom>
          <a:solidFill>
            <a:srgbClr val="F87171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982075" y="1590675"/>
            <a:ext cx="9525" cy="2690813"/>
          </a:xfrm>
          <a:prstGeom prst="rect">
            <a:avLst/>
          </a:prstGeom>
          <a:solidFill>
            <a:srgbClr val="F87171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400175" y="1838325"/>
            <a:ext cx="80676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LIMITAÇÕES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00175" y="2162175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1662410" y="2152650"/>
            <a:ext cx="755313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ILP direto inviável em escala completa — até 6 bilhões de coeficientes para p=11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1400175" y="2566988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1662410" y="2557463"/>
            <a:ext cx="542685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ótima global não garantida pelo greedy para nenhum p (NP-difícil)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400175" y="2971800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1662410" y="2962275"/>
            <a:ext cx="643924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sem backtracking — não permite refinamento pós-execução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1400175" y="3376613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662410" y="3367088"/>
            <a:ext cx="620317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 limitada: n&gt;27 inviável com hardware convencional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1400175" y="3781425"/>
            <a:ext cx="22413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662410" y="3771900"/>
            <a:ext cx="617321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 alto: p=13 (~3h) e p=11 (~3,4h) em hardware de referência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9296400" y="1590675"/>
            <a:ext cx="7848600" cy="3834408"/>
          </a:xfrm>
          <a:prstGeom prst="roundRect">
            <a:avLst>
              <a:gd name="adj" fmla="val 1490"/>
            </a:avLst>
          </a:prstGeom>
          <a:solidFill>
            <a:srgbClr val="38BDF8">
              <a:alpha val="4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296400" y="5415558"/>
            <a:ext cx="7848600" cy="9525"/>
          </a:xfrm>
          <a:prstGeom prst="rect">
            <a:avLst/>
          </a:prstGeom>
          <a:solidFill>
            <a:srgbClr val="38BDF8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296400" y="1590675"/>
            <a:ext cx="7848600" cy="190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9296400" y="1590675"/>
            <a:ext cx="9525" cy="3834408"/>
          </a:xfrm>
          <a:prstGeom prst="rect">
            <a:avLst/>
          </a:prstGeom>
          <a:solidFill>
            <a:srgbClr val="38BDF8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17135475" y="1590675"/>
            <a:ext cx="9525" cy="3834408"/>
          </a:xfrm>
          <a:prstGeom prst="rect">
            <a:avLst/>
          </a:prstGeom>
          <a:solidFill>
            <a:srgbClr val="38BDF8">
              <a:alpha val="16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9553575" y="1838325"/>
            <a:ext cx="806767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POSSÍVEIS MELHORIAS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553575" y="2171700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629775" y="2200275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900345" y="2152650"/>
            <a:ext cx="7197105" cy="609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ILP pós-greedy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p=11,12: usa SB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candidatos — reduz variáveis de 3,3M para </a:t>
            </a:r>
            <a:r>
              <a:rPr lang="en-US" sz="1425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~12K–38K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tornando ILP tratável em minutos</a:t>
            </a:r>
            <a:endParaRPr lang="en-US" sz="1425" dirty="0"/>
          </a:p>
        </p:txBody>
      </p:sp>
      <p:sp>
        <p:nvSpPr>
          <p:cNvPr id="30" name="Shape 28"/>
          <p:cNvSpPr/>
          <p:nvPr/>
        </p:nvSpPr>
        <p:spPr>
          <a:xfrm>
            <a:off x="9553575" y="2876848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629775" y="2905423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900345" y="2857798"/>
            <a:ext cx="708999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Column generation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gerar variáveis do ILP sob demanda → viável para p=11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9553575" y="3281660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629775" y="3310235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900345" y="3262610"/>
            <a:ext cx="719710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Paralelização já implementada no Programa 5 (p=11, speedup ~3× em 4 núcleos). Melhorias futuras: expandir paralelismo, portar gargalos para C/Cython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9553575" y="3957935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9629775" y="3986510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00345" y="3938885"/>
            <a:ext cx="719710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annealing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pós-greedy: remove elementos redundantes de SB — pode reduzir gap de 1,79× para ~1,2–1,3×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9553575" y="4634210"/>
            <a:ext cx="232470" cy="228600"/>
          </a:xfrm>
          <a:prstGeom prst="roundRect">
            <a:avLst>
              <a:gd name="adj" fmla="val 12500"/>
            </a:avLst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9629775" y="4662785"/>
            <a:ext cx="1562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00345" y="4615160"/>
            <a:ext cx="7197105" cy="609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Simetria combinatória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grupo S</a:t>
            </a:r>
            <a:r>
              <a:rPr lang="en-US" sz="1187" baseline="-40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</a:t>
            </a:r>
            <a:r>
              <a:rPr lang="en-US" sz="1425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sobre o problema → redução por órbitas diminui o espaço de busca</a:t>
            </a:r>
            <a:endParaRPr lang="en-US" sz="1425" dirty="0"/>
          </a:p>
        </p:txBody>
      </p:sp>
      <p:sp>
        <p:nvSpPr>
          <p:cNvPr id="42" name="Shape 40"/>
          <p:cNvSpPr/>
          <p:nvPr/>
        </p:nvSpPr>
        <p:spPr>
          <a:xfrm>
            <a:off x="1143000" y="9496425"/>
            <a:ext cx="16002000" cy="9525"/>
          </a:xfrm>
          <a:prstGeom prst="rect">
            <a:avLst/>
          </a:prstGeom>
          <a:solidFill>
            <a:srgbClr val="161C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143000" y="9639300"/>
            <a:ext cx="83924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Karp 1972 · Johnson 1974 · Schönheim 1964 · Feige 1998 · Rödl 1985 · Dinur &amp; Steurer 2014</a:t>
            </a:r>
            <a:endParaRPr lang="en-US" sz="1125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132915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225718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2381458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2505730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2630001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2754273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2878544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3002816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1E26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3127087" y="9667875"/>
            <a:ext cx="13379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</a:t>
            </a:r>
            <a:endParaRPr lang="en-US" sz="750" dirty="0"/>
          </a:p>
        </p:txBody>
      </p:sp>
      <p:sp>
        <p:nvSpPr>
          <p:cNvPr id="55" name="Shape 0">
            <a:extLst>
              <a:ext uri="{FF2B5EF4-FFF2-40B4-BE49-F238E27FC236}">
                <a16:creationId xmlns:a16="http://schemas.microsoft.com/office/drawing/2014/main" id="{9F43B235-3203-0A1E-980A-1404C1FD38E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8BDF8">
                  <a:alpha val="18000"/>
                </a:srgbClr>
              </a:gs>
              <a:gs pos="42000">
                <a:srgbClr val="38BDF8">
                  <a:alpha val="0"/>
                </a:srgbClr>
              </a:gs>
            </a:gsLst>
            <a:path path="circle">
              <a:fillToRect l="50000" t="100000" r="50000"/>
            </a:path>
          </a:gra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16544925" y="9639300"/>
            <a:ext cx="6762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chemeClr val="bg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de 9</a:t>
            </a:r>
            <a:endParaRPr lang="en-US" sz="1125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2520</Words>
  <Application>Microsoft Office PowerPoint</Application>
  <PresentationFormat>Personalizar</PresentationFormat>
  <Paragraphs>490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 Black</vt:lpstr>
      <vt:lpstr>Arial</vt:lpstr>
      <vt:lpstr>Inter</vt:lpstr>
      <vt:lpstr>JetBrains Mono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Jafte Carneiro Fagundes da Silva</cp:lastModifiedBy>
  <cp:revision>3</cp:revision>
  <dcterms:created xsi:type="dcterms:W3CDTF">2026-06-21T00:39:44Z</dcterms:created>
  <dcterms:modified xsi:type="dcterms:W3CDTF">2026-06-24T17:46:40Z</dcterms:modified>
</cp:coreProperties>
</file>