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20"/>
    <p:sldId id="270" r:id="rId21"/>
    <p:sldId id="264" r:id="rId10"/>
    <p:sldId id="271" r:id="rId22"/>
    <p:sldId id="265" r:id="rId11"/>
    <p:sldId id="266" r:id="rId12"/>
    <p:sldId id="272" r:id="rId23"/>
    <p:sldId id="273" r:id="rId24"/>
    <p:sldId id="267" r:id="rId13"/>
    <p:sldId id="268" r:id="rId1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0182" autoAdjust="0"/>
  </p:normalViewPr>
  <p:slideViewPr>
    <p:cSldViewPr snapToGrid="0" snapToObjects="1">
      <p:cViewPr varScale="1">
        <p:scale>
          <a:sx n="65" d="100"/>
          <a:sy n="65" d="100"/>
        </p:scale>
        <p:origin x="3163" y="58"/>
      </p:cViewPr>
      <p:guideLst/>
    </p:cSldViewPr>
  </p:slideViewPr>
  <p:notesTextViewPr>
    <p:cViewPr>
      <p:scale>
        <a:sx n="1" d="1"/>
        <a:sy n="1" d="1"/>
      </p:scale>
      <p:origin x="0" y="-542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1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7.xml"/><Relationship Id="rId14" Type="http://schemas.openxmlformats.org/officeDocument/2006/relationships/slide" Target="slides/slide1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2.xml"/><Relationship Id="rId23" Type="http://schemas.openxmlformats.org/officeDocument/2006/relationships/slide" Target="slides/slide15.xml"/><Relationship Id="rId24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39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trabalho que vou apresentar se chama Cobertura de Combinações, e trata de um problema clássico de otimização combinatória chamado Minimum Set Cover. Vou mostrar como modelei o problema, os algoritmos que</a:t>
            </a:r>
          </a:p>
          <a:p>
            <a:r>
              <a:rPr lang="pt-BR" dirty="0"/>
              <a:t> implementei, os resultados que obtive e a análise de complexidade de cada abordagem. O trabalho tem dez minutos, então vou ser direto.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problema começa com um conjunto de 25 números, de 1 a 25. A partir desse conjunto, geramos todos os subconjuntos possíveis com exatamente 15 elementos. Isso nos dá pouco mais de três milhões e duzentos e sessenta e oito mil</a:t>
            </a:r>
          </a:p>
          <a:p>
            <a:r>
              <a:rPr lang="pt-BR" dirty="0"/>
              <a:t>  subconjuntos — chamamos esse grupo de S15. Fazemos o mesmo para subconjuntos de tamanho 14, 13, 12 e 11. Os tamanhos ficam entre quatro e cinco milhões de subconjuntos em cada caso.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O objetivo dos Programas 2 a 5 é o seguinte: para cada tamanho p, encontrar o menor grupo de elementos de S15 tal que todo subconjunto de tamanho p esteja coberto — ou seja, esteja contido dentro de pelo menos um dos elementos</a:t>
            </a:r>
          </a:p>
          <a:p>
            <a:r>
              <a:rPr lang="pt-BR" dirty="0"/>
              <a:t>   escolhidos.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Esse é o problema Minimum Set Cover. Foi provado por Karp em 1972 como NP-difícil, o que significa que não existe algoritmo eficiente capaz de resolvê-lo de forma exata em todos os casos, a menos que P seja igual a NP.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primeira tentativa seria usar Programação Linear Inteira, o ILP. A ideia seria criar uma variável de zero ou um para cada um dos três milhões de conjuntos de S15 e pedir ao computador que escolha o menor número de variáveis</a:t>
            </a:r>
          </a:p>
          <a:p>
            <a:r>
              <a:rPr lang="pt-BR" dirty="0"/>
              <a:t>  iguais a 1 que ainda cubra tudo.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 </a:t>
            </a:r>
          </a:p>
          <a:p>
            <a:r>
              <a:rPr lang="pt-BR" dirty="0"/>
              <a:t>  O problema é a escala. Para p igual a 11, a matriz do ILP teria mais de quatro bilhões de coeficientes não-nulos. Nenhum servidor convencional consegue sequer guardar isso na memória, quanto mais resolver.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Portanto, a estratégia adotada foi o algoritmo </a:t>
            </a:r>
            <a:r>
              <a:rPr lang="pt-BR" dirty="0" err="1"/>
              <a:t>Greedy</a:t>
            </a:r>
            <a:r>
              <a:rPr lang="pt-BR" dirty="0"/>
              <a:t> — que tem uma garantia matemática de qualidade e é a melhor garantia possível para qualquer algoritmo polinomial nesse tipo de problema.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saber se a nossa solução é boa, precisamos de um limite inferior — um número que diz: a solução ótima não pode ser menor do que isso.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O primeiro limite, chamado LP, vem de uma divisão simples: cada conjunto de S15 com 15 elementos contém exatamente um certo número fixo de subconjuntos de tamanho p. Para p igual a 14, esse número é 15. Então dividimos o total</a:t>
            </a:r>
          </a:p>
          <a:p>
            <a:r>
              <a:rPr lang="pt-BR" dirty="0"/>
              <a:t>   de alvos por 15 e arredondamos para cima. Para p igual a 14, o resultado é pelo menos 297 mil e 160.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O segundo limite, de </a:t>
            </a:r>
            <a:r>
              <a:rPr lang="pt-BR" dirty="0" err="1"/>
              <a:t>Schönheim</a:t>
            </a:r>
            <a:r>
              <a:rPr lang="pt-BR" dirty="0"/>
              <a:t>, usa uma recorrência combinatória clássica e é mais apertado. Para p igual a 13, por exemplo, ele diz que o ótimo não pode ser menor que 58 mil e 887 — enquanto o primeiro limite dizia apenas 49 </a:t>
            </a:r>
          </a:p>
          <a:p>
            <a:r>
              <a:rPr lang="pt-BR" dirty="0"/>
              <a:t>  mil e 527.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Aqui aparece um paradoxo interessante: quanto menor o p, menor é a solução mínima necessária. Para p igual a 11, o ótimo gira em torno de apenas 3 mil e 370 conjuntos. Mas ao mesmo tempo, o trabalho computacional por iteração </a:t>
            </a:r>
          </a:p>
          <a:p>
            <a:r>
              <a:rPr lang="pt-BR" dirty="0"/>
              <a:t>  do algoritmo cresce de forma explosiva — e é isso que os próximos slides mostram.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eficiência do algoritmo depende diretamente de como os dados são representados. Cinco estruturas são centrais.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A primeira e mais importante é o </a:t>
            </a:r>
            <a:r>
              <a:rPr lang="pt-BR" dirty="0" err="1"/>
              <a:t>bitmask</a:t>
            </a:r>
            <a:r>
              <a:rPr lang="pt-BR" dirty="0"/>
              <a:t>. Em vez de representar cada subconjunto como uma lista de elementos, representamos como um número inteiro de 32 bits, onde cada bit corresponde a um elemento do universo. Verificar se  </a:t>
            </a:r>
          </a:p>
          <a:p>
            <a:r>
              <a:rPr lang="pt-BR" dirty="0"/>
              <a:t>  um conjunto Y está contido em X vira uma única operação de hardware — um AND binário. Isso é cerca de 15 vezes mais rápido do que trabalhar com conjuntos nativos do Python, e permite vetorizar operações sobre milhões de       </a:t>
            </a:r>
          </a:p>
          <a:p>
            <a:r>
              <a:rPr lang="pt-BR" dirty="0"/>
              <a:t>  elementos de uma vez com </a:t>
            </a:r>
            <a:r>
              <a:rPr lang="pt-BR" dirty="0" err="1"/>
              <a:t>NumPy</a:t>
            </a:r>
            <a:r>
              <a:rPr lang="pt-BR" dirty="0"/>
              <a:t>.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A segunda estrutura são os dicionários </a:t>
            </a:r>
            <a:r>
              <a:rPr lang="pt-BR" dirty="0" err="1"/>
              <a:t>hash</a:t>
            </a:r>
            <a:r>
              <a:rPr lang="pt-BR" dirty="0"/>
              <a:t>, que mapeiam cada </a:t>
            </a:r>
            <a:r>
              <a:rPr lang="pt-BR" dirty="0" err="1"/>
              <a:t>bitmask</a:t>
            </a:r>
            <a:r>
              <a:rPr lang="pt-BR" dirty="0"/>
              <a:t> para sua posição no </a:t>
            </a:r>
            <a:r>
              <a:rPr lang="pt-BR" dirty="0" err="1"/>
              <a:t>array</a:t>
            </a:r>
            <a:r>
              <a:rPr lang="pt-BR" dirty="0"/>
              <a:t>, permitindo busca em tempo constante.                                                                                             </a:t>
            </a:r>
          </a:p>
          <a:p>
            <a:r>
              <a:rPr lang="pt-BR" dirty="0"/>
              <a:t>   </a:t>
            </a:r>
          </a:p>
          <a:p>
            <a:r>
              <a:rPr lang="pt-BR" dirty="0"/>
              <a:t>  A terceira é o </a:t>
            </a:r>
            <a:r>
              <a:rPr lang="pt-BR" dirty="0" err="1"/>
              <a:t>array</a:t>
            </a:r>
            <a:r>
              <a:rPr lang="pt-BR" dirty="0"/>
              <a:t> chamado </a:t>
            </a:r>
            <a:r>
              <a:rPr lang="pt-BR" dirty="0" err="1"/>
              <a:t>count</a:t>
            </a:r>
            <a:r>
              <a:rPr lang="pt-BR" dirty="0"/>
              <a:t>, que guarda quantos alvos ainda não cobertos cada candidato consegue cobrir. Ele é atualizado de forma incremental a cada iteração, sem precisar recalcular tudo.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Para p igual a 14 e 13, usamos um </a:t>
            </a:r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lazy</a:t>
            </a:r>
            <a:r>
              <a:rPr lang="pt-BR" dirty="0"/>
              <a:t> — uma fila de prioridade que entrega o melhor candidato com custo logarítmico. Para p igual a 12 e 11, o volume de atualizações é tão alto que usar o </a:t>
            </a:r>
            <a:r>
              <a:rPr lang="pt-BR" dirty="0" err="1"/>
              <a:t>argmax</a:t>
            </a:r>
            <a:r>
              <a:rPr lang="pt-BR" dirty="0"/>
              <a:t> do </a:t>
            </a:r>
            <a:r>
              <a:rPr lang="pt-BR" dirty="0" err="1"/>
              <a:t>NumPy</a:t>
            </a:r>
            <a:r>
              <a:rPr lang="pt-BR" dirty="0"/>
              <a:t> diretamente — ou</a:t>
            </a:r>
          </a:p>
          <a:p>
            <a:r>
              <a:rPr lang="pt-BR" dirty="0"/>
              <a:t>   atualização paralela — é mais eficiente.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Por fim, o </a:t>
            </a:r>
            <a:r>
              <a:rPr lang="pt-BR" dirty="0" err="1"/>
              <a:t>array</a:t>
            </a:r>
            <a:r>
              <a:rPr lang="pt-BR" dirty="0"/>
              <a:t> não-coberto registra quais alvos ainda precisam ser cobertos, com acesso e atualização em tempo constante.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algoritmo </a:t>
            </a:r>
            <a:r>
              <a:rPr lang="pt-BR" dirty="0" err="1"/>
              <a:t>greedy</a:t>
            </a:r>
            <a:r>
              <a:rPr lang="pt-BR" dirty="0"/>
              <a:t> é simples na lógica. A cada iteração, escolhemos o conjunto de S15 que cobre o maior número de alvos ainda não cobertos. Adicionamos esse conjunto à solução, marcamos todos os alvos que ele cobre como</a:t>
            </a:r>
          </a:p>
          <a:p>
            <a:r>
              <a:rPr lang="pt-BR" dirty="0"/>
              <a:t>  cobertos, atualizamos os contadores dos demais candidatos e repetimos até que tudo esteja coberto.                                                                                                                                </a:t>
            </a:r>
          </a:p>
          <a:p>
            <a:r>
              <a:rPr lang="pt-BR" dirty="0"/>
              <a:t>   </a:t>
            </a:r>
          </a:p>
          <a:p>
            <a:r>
              <a:rPr lang="pt-BR" dirty="0"/>
              <a:t>  A garantia matemática diz que o resultado nunca vai ser mais do que H de N vezes o ótimo, onde H de N é a soma harmônica — que cresce como o logaritmo de N. Para o nosso problema, isso dá aproximadamente 15,4 vezes o ótimo    </a:t>
            </a:r>
          </a:p>
          <a:p>
            <a:r>
              <a:rPr lang="pt-BR" dirty="0"/>
              <a:t>  como pior caso teórico. E esse limite é o melhor possível: nenhum algoritmo polinomial pode fazer melhor do que isso, a menos que P seja igual a NP.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A estratégia de seleção muda conforme o p: para p igual a 14 e 13, o </a:t>
            </a:r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lazy</a:t>
            </a:r>
            <a:r>
              <a:rPr lang="pt-BR" dirty="0"/>
              <a:t> é mais eficiente porque há poucas atualizações por iteração. Para p igual a 12 e 11, o volume de atualizações é muito maior, e o </a:t>
            </a:r>
            <a:r>
              <a:rPr lang="pt-BR" dirty="0" err="1"/>
              <a:t>argmax</a:t>
            </a:r>
            <a:r>
              <a:rPr lang="pt-BR" dirty="0"/>
              <a:t> vetorizado </a:t>
            </a:r>
          </a:p>
          <a:p>
            <a:r>
              <a:rPr lang="pt-BR" dirty="0"/>
              <a:t>  do </a:t>
            </a:r>
            <a:r>
              <a:rPr lang="pt-BR" dirty="0" err="1"/>
              <a:t>NumPy</a:t>
            </a:r>
            <a:r>
              <a:rPr lang="pt-BR" dirty="0"/>
              <a:t> — ou a atualização paralela no Programa 5 — são mais adequados.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Programa 1, de geração dos conjuntos, tem custo proporcional ao número de combinações geradas — visitamos cada combinação exatamente uma vez.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Para os Programas 2 a 5, o custo total é o número de iterações K multiplicado pelo custo por iteração, que chamei de A. Esse A é o produto de dois binomiais: quantos subconjuntos de tamanho p cabem num conjunto de 15          </a:t>
            </a:r>
          </a:p>
          <a:p>
            <a:r>
              <a:rPr lang="pt-BR" dirty="0"/>
              <a:t>  elementos, vezes quantos conjuntos de S15 contêm um alvo específico.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Esse número A cresce de forma drástica conforme p diminui: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 </a:t>
            </a:r>
          </a:p>
          <a:p>
            <a:r>
              <a:rPr lang="pt-BR" dirty="0"/>
              <a:t>  - Para p igual a 14: 165 operações por iteração.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- Para p igual a 13: 6 mil e 930.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- Para p igual a 12: 130 mil e 130.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- Para p igual a 11: mais de 1 milhão e 366 mil.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O espaço de memória é linear: proporcional ao tamanho de S15 mais o tamanho de </a:t>
            </a:r>
            <a:r>
              <a:rPr lang="pt-BR" dirty="0" err="1"/>
              <a:t>Sp</a:t>
            </a:r>
            <a:r>
              <a:rPr lang="pt-BR" dirty="0"/>
              <a:t> — o que fica entre 13 e 21 megabytes.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gargalos principais são quatro.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O primeiro e mais dominante é a atualização do </a:t>
            </a:r>
            <a:r>
              <a:rPr lang="pt-BR" dirty="0" err="1"/>
              <a:t>array</a:t>
            </a:r>
            <a:r>
              <a:rPr lang="pt-BR" dirty="0"/>
              <a:t> </a:t>
            </a:r>
            <a:r>
              <a:rPr lang="pt-BR" dirty="0" err="1"/>
              <a:t>count</a:t>
            </a:r>
            <a:r>
              <a:rPr lang="pt-BR" dirty="0"/>
              <a:t>. Para p igual a 11, isso representa mais de 1 milhão e 366 mil operações Python por iteração — o que resulta em cerca de 2 segundos e meio por passo </a:t>
            </a:r>
            <a:r>
              <a:rPr lang="pt-BR" dirty="0" err="1"/>
              <a:t>greedy</a:t>
            </a:r>
            <a:r>
              <a:rPr lang="pt-BR" dirty="0"/>
              <a:t>.           </a:t>
            </a:r>
          </a:p>
          <a:p>
            <a:r>
              <a:rPr lang="pt-BR" dirty="0"/>
              <a:t>   </a:t>
            </a:r>
          </a:p>
          <a:p>
            <a:r>
              <a:rPr lang="pt-BR" dirty="0"/>
              <a:t>  O segundo é a inflação do </a:t>
            </a:r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lazy</a:t>
            </a:r>
            <a:r>
              <a:rPr lang="pt-BR" dirty="0"/>
              <a:t> para p igual a 13. Ao longo de 128 mil iterações, acumulam-se centenas de milhões de entradas obsoletas no </a:t>
            </a:r>
            <a:r>
              <a:rPr lang="pt-BR" dirty="0" err="1"/>
              <a:t>heap</a:t>
            </a:r>
            <a:r>
              <a:rPr lang="pt-BR" dirty="0"/>
              <a:t>, degradando seu desempenho progressivamente.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O terceiro é a construção inicial dos índices </a:t>
            </a:r>
            <a:r>
              <a:rPr lang="pt-BR" dirty="0" err="1"/>
              <a:t>hash</a:t>
            </a:r>
            <a:r>
              <a:rPr lang="pt-BR" dirty="0"/>
              <a:t> — feita uma única vez, mas que demora entre 14 e 30 segundos.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O quarto é o </a:t>
            </a:r>
            <a:r>
              <a:rPr lang="pt-BR" dirty="0" err="1"/>
              <a:t>argmax</a:t>
            </a:r>
            <a:r>
              <a:rPr lang="pt-BR" dirty="0"/>
              <a:t> do </a:t>
            </a:r>
            <a:r>
              <a:rPr lang="pt-BR" dirty="0" err="1"/>
              <a:t>NumPy</a:t>
            </a:r>
            <a:r>
              <a:rPr lang="pt-BR" dirty="0"/>
              <a:t> para p igual a 12, que percorre os 3 milhões e 300 mil candidatos por iteração — mas de forma vetorizada em C, então é rápido na prática.                                                            </a:t>
            </a:r>
          </a:p>
          <a:p>
            <a:r>
              <a:rPr lang="pt-BR" dirty="0"/>
              <a:t>   </a:t>
            </a:r>
          </a:p>
          <a:p>
            <a:r>
              <a:rPr lang="pt-BR" dirty="0"/>
              <a:t>  Em escalabilidade: a memória cresce de forma linear e fica em torno de 30 a 60 megabytes, o que está bem. O tempo, porém, não escala: o crescimento </a:t>
            </a:r>
            <a:r>
              <a:rPr lang="pt-BR" dirty="0" err="1"/>
              <a:t>combinatorial</a:t>
            </a:r>
            <a:r>
              <a:rPr lang="pt-BR" dirty="0"/>
              <a:t> torna instâncias com n maior que 27 inviáveis em hardware       </a:t>
            </a:r>
          </a:p>
          <a:p>
            <a:r>
              <a:rPr lang="pt-BR" dirty="0"/>
              <a:t>  convencional com a abordagem atual.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Os resultados concretos são estes.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Para p igual a 14: 532 mil e 555 conjuntos na solução, em aproximadamente 18 minutos. Isso representa 16,3% de todos os conjuntos de S15, com gap de 1,79 vezes o limite inferior de </a:t>
            </a:r>
            <a:r>
              <a:rPr lang="pt-BR" dirty="0" err="1"/>
              <a:t>Schönheim</a:t>
            </a:r>
            <a:r>
              <a:rPr lang="pt-BR" dirty="0"/>
              <a:t>.                                   </a:t>
            </a:r>
          </a:p>
          <a:p>
            <a:r>
              <a:rPr lang="pt-BR" dirty="0"/>
              <a:t>   </a:t>
            </a:r>
          </a:p>
          <a:p>
            <a:r>
              <a:rPr lang="pt-BR" dirty="0"/>
              <a:t>  Para p igual a 13: 128 mil e 827 conjuntos, em aproximadamente 3 horas. Gap de 2,19 vezes.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Para p igual a 12: 38 mil e 100 conjuntos, em aproximadamente 79 minutos. Gap de 2,89 vezes.     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Para p igual a 11: 12 mil e 733 conjuntos, em aproximadamente 3 horas e meia. Gap de 3,78 vezes. 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O ponto central é este: a garantia teórica permitia que o </a:t>
            </a:r>
            <a:r>
              <a:rPr lang="pt-BR" dirty="0" err="1"/>
              <a:t>greedy</a:t>
            </a:r>
            <a:r>
              <a:rPr lang="pt-BR" dirty="0"/>
              <a:t> fosse até 15,4 vezes pior que o ótimo. Os resultados reais ficaram entre 1,79 e 3,78 vezes — ou seja, entre 4 e 9 vezes melhor do que o pior caso teórico. Isso  </a:t>
            </a:r>
          </a:p>
          <a:p>
            <a:r>
              <a:rPr lang="pt-BR" dirty="0"/>
              <a:t>  confirma que o </a:t>
            </a:r>
            <a:r>
              <a:rPr lang="pt-BR" dirty="0" err="1"/>
              <a:t>greedy</a:t>
            </a:r>
            <a:r>
              <a:rPr lang="pt-BR" dirty="0"/>
              <a:t> se comporta excepcionalmente bem nessa classe de instâncias combinatórias uniformes.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enunciado pedia a comparação entre diferentes abordagens algorítmicas. Organizei cada uma com seu papel no trabalho.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O </a:t>
            </a:r>
            <a:r>
              <a:rPr lang="pt-BR" dirty="0" err="1"/>
              <a:t>Greedy</a:t>
            </a:r>
            <a:r>
              <a:rPr lang="pt-BR" dirty="0"/>
              <a:t> foi a estratégia base de todos os Programas 2 a 5, com garantia formal de aproximação.  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O paralelismo foi implementado em dois pontos: no Programa 1, onde os cinco </a:t>
            </a:r>
            <a:r>
              <a:rPr lang="pt-BR" dirty="0" err="1"/>
              <a:t>arrays</a:t>
            </a:r>
            <a:r>
              <a:rPr lang="pt-BR" dirty="0"/>
              <a:t> de combinações são gerados simultaneamente com </a:t>
            </a:r>
            <a:r>
              <a:rPr lang="pt-BR" dirty="0" err="1"/>
              <a:t>speedup</a:t>
            </a:r>
            <a:r>
              <a:rPr lang="pt-BR" dirty="0"/>
              <a:t> de 4,3 vezes; e no Programa 5, onde a atualização do contador paralelo resolve o gargalo</a:t>
            </a:r>
          </a:p>
          <a:p>
            <a:r>
              <a:rPr lang="pt-BR" dirty="0"/>
              <a:t>   de p igual a 11.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O </a:t>
            </a:r>
            <a:r>
              <a:rPr lang="pt-BR" dirty="0" err="1"/>
              <a:t>Stochastic</a:t>
            </a:r>
            <a:r>
              <a:rPr lang="pt-BR" dirty="0"/>
              <a:t> </a:t>
            </a:r>
            <a:r>
              <a:rPr lang="pt-BR" dirty="0" err="1"/>
              <a:t>Greedy</a:t>
            </a:r>
            <a:r>
              <a:rPr lang="pt-BR" dirty="0"/>
              <a:t> e o GRASP foram executados como benchmarks em instâncias menores, para medir na prática o trade-off entre tempo e qualidade.                                                                                  </a:t>
            </a:r>
          </a:p>
          <a:p>
            <a:r>
              <a:rPr lang="pt-BR" dirty="0"/>
              <a:t>   </a:t>
            </a:r>
          </a:p>
          <a:p>
            <a:r>
              <a:rPr lang="pt-BR" dirty="0"/>
              <a:t>  O ILP foi modelado e analisado matematicamente — serve como referência de inviabilidade em escala completa, não como resultado principal.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O Branch and </a:t>
            </a:r>
            <a:r>
              <a:rPr lang="pt-BR" dirty="0" err="1"/>
              <a:t>Bound</a:t>
            </a:r>
            <a:r>
              <a:rPr lang="pt-BR" dirty="0"/>
              <a:t> foi descartado por explosão combinatória, com justificativa formal.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A Relaxação </a:t>
            </a:r>
            <a:r>
              <a:rPr lang="pt-BR" dirty="0" err="1"/>
              <a:t>Lagrangiana</a:t>
            </a:r>
            <a:r>
              <a:rPr lang="pt-BR" dirty="0"/>
              <a:t> e a </a:t>
            </a:r>
            <a:r>
              <a:rPr lang="pt-BR" dirty="0" err="1"/>
              <a:t>Column</a:t>
            </a:r>
            <a:r>
              <a:rPr lang="pt-BR" dirty="0"/>
              <a:t> Generation foram demonstradas em instâncias reduzidas como alternativas científicas fundamentadas para obtenção de limites inferiores e para estudo de alternativas ao ILP.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comparar as abordagens de forma controlada, executei benchmarks em instâncias reduzidas que preservam a estrutura do problema sem exigir horas de execução.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Na instância menor — 15 elementos, cobrindo alvos de tamanho 6 — o </a:t>
            </a:r>
            <a:r>
              <a:rPr lang="pt-BR" dirty="0" err="1"/>
              <a:t>Greedy</a:t>
            </a:r>
            <a:r>
              <a:rPr lang="pt-BR" dirty="0"/>
              <a:t> base levou 10 segundos e produziu 140 conjuntos. O </a:t>
            </a:r>
            <a:r>
              <a:rPr lang="pt-BR" dirty="0" err="1"/>
              <a:t>Stochastic</a:t>
            </a:r>
            <a:r>
              <a:rPr lang="pt-BR" dirty="0"/>
              <a:t> </a:t>
            </a:r>
            <a:r>
              <a:rPr lang="pt-BR" dirty="0" err="1"/>
              <a:t>Greedy</a:t>
            </a:r>
            <a:r>
              <a:rPr lang="pt-BR" dirty="0"/>
              <a:t>, que amostra candidatos aleatoriamente em vez de avaliar todos, fez o mesmo        </a:t>
            </a:r>
          </a:p>
          <a:p>
            <a:r>
              <a:rPr lang="pt-BR" dirty="0"/>
              <a:t>  trabalho em menos de 1 segundo — 13,5 vezes mais rápido — mas precisou de 152 conjuntos, um aumento de 8,6%. O GRASP foi quase 5 vezes mais lento e chegou em 143 conjuntos — próximo do </a:t>
            </a:r>
            <a:r>
              <a:rPr lang="pt-BR" dirty="0" err="1"/>
              <a:t>greedy</a:t>
            </a:r>
            <a:r>
              <a:rPr lang="pt-BR" dirty="0"/>
              <a:t>, mas sem vantagem clara nesse     </a:t>
            </a:r>
          </a:p>
          <a:p>
            <a:r>
              <a:rPr lang="pt-BR" dirty="0"/>
              <a:t>  caso.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Na instância maior — 16 elementos — o ganho do </a:t>
            </a:r>
            <a:r>
              <a:rPr lang="pt-BR" dirty="0" err="1"/>
              <a:t>Stochastic</a:t>
            </a:r>
            <a:r>
              <a:rPr lang="pt-BR" dirty="0"/>
              <a:t> </a:t>
            </a:r>
            <a:r>
              <a:rPr lang="pt-BR" dirty="0" err="1"/>
              <a:t>Greedy</a:t>
            </a:r>
            <a:r>
              <a:rPr lang="pt-BR" dirty="0"/>
              <a:t> foi ainda mais expressivo: 20,6 vezes mais rápido, com aumento de apenas 9,5% na solução.                                                                        </a:t>
            </a:r>
          </a:p>
          <a:p>
            <a:r>
              <a:rPr lang="pt-BR" dirty="0"/>
              <a:t>   </a:t>
            </a:r>
          </a:p>
          <a:p>
            <a:r>
              <a:rPr lang="pt-BR" dirty="0"/>
              <a:t>  A conclusão é que o </a:t>
            </a:r>
            <a:r>
              <a:rPr lang="pt-BR" dirty="0" err="1"/>
              <a:t>Stochastic</a:t>
            </a:r>
            <a:r>
              <a:rPr lang="pt-BR" dirty="0"/>
              <a:t> </a:t>
            </a:r>
            <a:r>
              <a:rPr lang="pt-BR" dirty="0" err="1"/>
              <a:t>Greedy</a:t>
            </a:r>
            <a:r>
              <a:rPr lang="pt-BR" dirty="0"/>
              <a:t> é a alternativa mais prática: enorme ganho de tempo, custo muito pequeno em qualidade. O GRASP valida o eixo de </a:t>
            </a:r>
            <a:r>
              <a:rPr lang="pt-BR" dirty="0" err="1"/>
              <a:t>metaheurísticas</a:t>
            </a:r>
            <a:r>
              <a:rPr lang="pt-BR" dirty="0"/>
              <a:t> mas não compensou nesses benchmarks. A Relaxação </a:t>
            </a:r>
            <a:r>
              <a:rPr lang="pt-BR" dirty="0" err="1"/>
              <a:t>Lagrangiana</a:t>
            </a:r>
            <a:endParaRPr lang="pt-BR" dirty="0"/>
          </a:p>
          <a:p>
            <a:r>
              <a:rPr lang="pt-BR" dirty="0"/>
              <a:t>   e a </a:t>
            </a:r>
            <a:r>
              <a:rPr lang="pt-BR" dirty="0" err="1"/>
              <a:t>Column</a:t>
            </a:r>
            <a:r>
              <a:rPr lang="pt-BR" dirty="0"/>
              <a:t> Generation entram como contribuição científica para limites inferiores e alternativas ao ILP direto.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As limitações principais são cinco.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Primeiro: o ILP direto é inviável em escala completa — chegam a 6 bilhões de coeficientes para p igual a 11.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Segundo: o </a:t>
            </a:r>
            <a:r>
              <a:rPr lang="pt-BR" dirty="0" err="1"/>
              <a:t>Greedy</a:t>
            </a:r>
            <a:r>
              <a:rPr lang="pt-BR" dirty="0"/>
              <a:t> não garante a solução ótima — apenas a melhor aproximação polinomial possível.                                                                                                                                  </a:t>
            </a:r>
          </a:p>
          <a:p>
            <a:r>
              <a:rPr lang="pt-BR" dirty="0"/>
              <a:t>   </a:t>
            </a:r>
          </a:p>
          <a:p>
            <a:r>
              <a:rPr lang="pt-BR" dirty="0"/>
              <a:t>  Terceiro: sem </a:t>
            </a:r>
            <a:r>
              <a:rPr lang="pt-BR" dirty="0" err="1"/>
              <a:t>backtracking</a:t>
            </a:r>
            <a:r>
              <a:rPr lang="pt-BR" dirty="0"/>
              <a:t> — conjuntos adicionados à solução não são reconsiderados.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Quarto: a abordagem não escala para n maior que 27 em hardware convencional.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Quinto: os tempos ainda são altos — 3 horas para p igual a 13 e 3 horas e meia para p igual a 11.                                                                                                                                 </a:t>
            </a:r>
          </a:p>
          <a:p>
            <a:r>
              <a:rPr lang="pt-BR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pt-BR" dirty="0"/>
              <a:t>  As melhorias mais promissoras são três. A primeira é o ILP pós-</a:t>
            </a:r>
            <a:r>
              <a:rPr lang="pt-BR" dirty="0" err="1"/>
              <a:t>greedy</a:t>
            </a:r>
            <a:r>
              <a:rPr lang="pt-BR" dirty="0"/>
              <a:t>: em vez de resolver o ILP sobre os 3 milhões de candidatos de S15, rodá-lo apenas sobre a solução já produzida pelo </a:t>
            </a:r>
            <a:r>
              <a:rPr lang="pt-BR" dirty="0" err="1"/>
              <a:t>Greedy</a:t>
            </a:r>
            <a:r>
              <a:rPr lang="pt-BR" dirty="0"/>
              <a:t> — que tem entre 12 mil e 532 mil </a:t>
            </a:r>
          </a:p>
          <a:p>
            <a:r>
              <a:rPr lang="pt-BR" dirty="0"/>
              <a:t>  candidatos. Isso torna o ILP tratável em minutos. A segunda é a </a:t>
            </a:r>
            <a:r>
              <a:rPr lang="pt-BR" dirty="0" err="1"/>
              <a:t>Column</a:t>
            </a:r>
            <a:r>
              <a:rPr lang="pt-BR" dirty="0"/>
              <a:t> Generation, que gera variáveis do ILP somente conforme necessário. A terceira é portar os gargalos para C ou </a:t>
            </a:r>
            <a:r>
              <a:rPr lang="pt-BR" dirty="0" err="1"/>
              <a:t>Cython</a:t>
            </a:r>
            <a:r>
              <a:rPr lang="pt-BR" dirty="0"/>
              <a:t>, o que poderia reduzir tempos de horas</a:t>
            </a:r>
          </a:p>
          <a:p>
            <a:r>
              <a:rPr lang="pt-BR"/>
              <a:t>  para minutos.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concluir: o Greedy Set Cover mostrou-se a estratégia mais eficaz para a escala do problema, com resultados entre 4 e 9 vezes melhores que o pior caso teórico da garantia logarítmica. O Stochastic Greedy emergiu como a melhor alternativa prática. O paralelismo foi eficaz onde o volume de trabalho justificou o overhead. As abordagens exatas e metaheurísticas restam como trabalhos futuros viáveis em subescalas ou em hardware mais robusto. Agradeço a atenção e abro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81800" y="2381399"/>
            <a:ext cx="4724400" cy="457200"/>
          </a:xfrm>
          <a:prstGeom prst="roundRect">
            <a:avLst>
              <a:gd name="adj" fmla="val 833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987159" y="2476649"/>
            <a:ext cx="43136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kern="0" spc="21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AVALIATIVO · RA03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691497" y="3257699"/>
            <a:ext cx="12905006" cy="87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6300" b="1" kern="0" spc="-63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Combinações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6924243" y="4269135"/>
            <a:ext cx="443951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300" kern="0" spc="165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Set Cover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286500" y="5278785"/>
            <a:ext cx="57150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857500" y="5783610"/>
            <a:ext cx="41630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57500" y="6107460"/>
            <a:ext cx="416300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Complexidade de Algoritmos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51650" y="5783610"/>
            <a:ext cx="41630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51650" y="6107460"/>
            <a:ext cx="3898087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Bacharelado em Ciência da Computação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645801" y="5783610"/>
            <a:ext cx="41631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Instituição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645801" y="6107460"/>
            <a:ext cx="389824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Pontifícia Universidade Católica do Paraná — PUCPR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857500" y="6972151"/>
            <a:ext cx="41630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57500" y="7296001"/>
            <a:ext cx="389808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51650" y="6972151"/>
            <a:ext cx="41630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51650" y="7296001"/>
            <a:ext cx="41630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Edson Emilio Scalabrin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645801" y="6972151"/>
            <a:ext cx="41631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 Ano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645801" y="7296001"/>
            <a:ext cx="41631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Curitiba, 2026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DO PROBLEMA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Formulação Formal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52500" y="2143125"/>
            <a:ext cx="7943850" cy="2404021"/>
          </a:xfrm>
          <a:prstGeom prst="roundRect">
            <a:avLst>
              <a:gd name="adj" fmla="val 2377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190625" y="2343150"/>
            <a:ext cx="8214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2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UNIVERSO E CONJUNTOS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90625" y="2743200"/>
            <a:ext cx="82143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{1, 2, ..., 25}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90625" y="3276600"/>
            <a:ext cx="769162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S₁₅ </a:t>
            </a: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todos os subconjuntos de tamanho 15 de U </a:t>
            </a: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C(25,15) = </a:t>
            </a: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3.268.760 </a:t>
            </a: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90625" y="4015680"/>
            <a:ext cx="82143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Sₚ </a:t>
            </a: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todos os subconjuntos de tamanho p, p ∈ {14, 13, 12, 11}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4718596"/>
            <a:ext cx="7943850" cy="4882604"/>
          </a:xfrm>
          <a:prstGeom prst="roundRect">
            <a:avLst>
              <a:gd name="adj" fmla="val 1170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190625" y="4918621"/>
            <a:ext cx="8214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2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625" y="5318671"/>
            <a:ext cx="7691628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p ∈ {14, 13, 12, 11}, encontrar </a:t>
            </a: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SB₁₅,ₚ ⊆ S₁₅ </a:t>
            </a: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que todo Y ∈ Sₚ esteja contido em pelo menos um X ∈ SB₁₅,ₚ.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90625" y="6179493"/>
            <a:ext cx="7467600" cy="674340"/>
          </a:xfrm>
          <a:prstGeom prst="roundRect">
            <a:avLst>
              <a:gd name="adj" fmla="val 5650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90650" y="6322368"/>
            <a:ext cx="7291578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 Y ∈ Sₚ, ∃ X ∈ SB₁₅,ₚ : Y ⊆ X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90625" y="6987183"/>
            <a:ext cx="82143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Instância de </a:t>
            </a: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Set Cover </a:t>
            </a: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problema NP-difícil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1650" y="2143125"/>
            <a:ext cx="7943850" cy="3527673"/>
          </a:xfrm>
          <a:prstGeom prst="roundRect">
            <a:avLst>
              <a:gd name="adj" fmla="val 1620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629775" y="2343150"/>
            <a:ext cx="8214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2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ILP — PROGRAMAÇÃO LINEAR INTEIRA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29775" y="2743200"/>
            <a:ext cx="7467600" cy="2281833"/>
          </a:xfrm>
          <a:prstGeom prst="roundRect">
            <a:avLst>
              <a:gd name="adj" fmla="val 1670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848850" y="2924175"/>
            <a:ext cx="7253478" cy="1957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1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variáveis:</a:t>
            </a: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xᵢ ∈ {0, 1}, ∀ Xᵢ ∈ S₁₅ 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minimizar:</a:t>
            </a: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∑ xᵢ 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s.a.:</a:t>
            </a: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∑ xᵢ ≥ 1, ∀ Y ∈ Sₚ 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: Y ⊆ Xᵢ)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29775" y="5139333"/>
            <a:ext cx="82143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candidato X ∈ S₁₅ cobre todos Y ∈ Sₚ com Y ⊆ X.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391650" y="5842248"/>
            <a:ext cx="3895725" cy="3758952"/>
          </a:xfrm>
          <a:prstGeom prst="roundRect">
            <a:avLst>
              <a:gd name="adj" fmla="val 1520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591675" y="6061323"/>
            <a:ext cx="38452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591675" y="6556623"/>
            <a:ext cx="38452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Linear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91675" y="6918573"/>
            <a:ext cx="36005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contínuas xᵢ ∈ [0, 1]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91675" y="8848725"/>
            <a:ext cx="360054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Polinomial — fornece lower bounds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439775" y="5842248"/>
            <a:ext cx="3895725" cy="3758952"/>
          </a:xfrm>
          <a:prstGeom prst="roundRect">
            <a:avLst>
              <a:gd name="adj" fmla="val 1520"/>
            </a:avLst>
          </a:prstGeom>
          <a:solidFill>
            <a:srgbClr val="F87171">
              <a:alpha val="6000"/>
            </a:srgbClr>
          </a:solidFill>
          <a:ln w="9525">
            <a:solidFill>
              <a:srgbClr val="F8717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3639800" y="6061323"/>
            <a:ext cx="38452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ILP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13639800" y="6556623"/>
            <a:ext cx="38452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Linear Inteira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639800" y="6918573"/>
            <a:ext cx="36005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binárias xᵢ ∈ {0, 1}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639800" y="8848725"/>
            <a:ext cx="360054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NP-difícil — exato, inviável em escala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NÃO ILP DIRETO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ILP Exato — Inviável em Escala Completa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52500" y="2143125"/>
            <a:ext cx="137350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ILP oferece solução ótima exata, mas as dimensões do problema em escala completa tornam sua execução inviável por memória e tempo de resolução.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3267075"/>
            <a:ext cx="16383000" cy="2607469"/>
          </a:xfrm>
          <a:prstGeom prst="roundRect">
            <a:avLst>
              <a:gd name="adj" fmla="val 2192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62025" y="3276600"/>
            <a:ext cx="1155353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62025" y="3781425"/>
            <a:ext cx="1155353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114425" y="3400425"/>
            <a:ext cx="92675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17378" y="3276600"/>
            <a:ext cx="3586460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117378" y="3781425"/>
            <a:ext cx="3586460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162184" y="3400425"/>
            <a:ext cx="3389254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(xᵢ)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03838" y="3276600"/>
            <a:ext cx="3139976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703838" y="3781425"/>
            <a:ext cx="3139976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762039" y="3400425"/>
            <a:ext cx="2929375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843814" y="3276600"/>
            <a:ext cx="6140053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843814" y="3781425"/>
            <a:ext cx="6140053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812012" y="3400425"/>
            <a:ext cx="6019455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Coeficientes Não-Nulos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983867" y="3276600"/>
            <a:ext cx="2342108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4983867" y="3781425"/>
            <a:ext cx="2342108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5098167" y="3400425"/>
            <a:ext cx="211350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Viável?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2025" y="4311848"/>
            <a:ext cx="115535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114425" y="3905250"/>
            <a:ext cx="92675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117378" y="4311848"/>
            <a:ext cx="358646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2162184" y="3905250"/>
            <a:ext cx="338925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3.268.760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703838" y="4311848"/>
            <a:ext cx="313997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762039" y="3905250"/>
            <a:ext cx="292937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4.457.400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843814" y="4311848"/>
            <a:ext cx="614005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8812012" y="3905250"/>
            <a:ext cx="601945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49.031.400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983867" y="4311848"/>
            <a:ext cx="234210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5098167" y="3905250"/>
            <a:ext cx="2113508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62025" y="4321373"/>
            <a:ext cx="1155353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962025" y="4827984"/>
            <a:ext cx="115535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114425" y="4426148"/>
            <a:ext cx="92675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2117378" y="4321373"/>
            <a:ext cx="3586460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2117378" y="4827984"/>
            <a:ext cx="358646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2162184" y="4426148"/>
            <a:ext cx="338925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3.268.760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703838" y="4321373"/>
            <a:ext cx="3139976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5703838" y="4827984"/>
            <a:ext cx="313997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5762039" y="4426148"/>
            <a:ext cx="292937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5.200.300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843814" y="4321373"/>
            <a:ext cx="6140053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8843814" y="4827984"/>
            <a:ext cx="614005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8812012" y="4426148"/>
            <a:ext cx="601945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343.219.800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4983867" y="4321373"/>
            <a:ext cx="2342108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14983867" y="4827984"/>
            <a:ext cx="234210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15098167" y="4426148"/>
            <a:ext cx="211350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62025" y="5344120"/>
            <a:ext cx="115535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1114425" y="4942284"/>
            <a:ext cx="92675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2117378" y="5344120"/>
            <a:ext cx="358646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2162184" y="4942284"/>
            <a:ext cx="338925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3.268.760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703838" y="5344120"/>
            <a:ext cx="313997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5762039" y="4942284"/>
            <a:ext cx="292937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5.200.300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8843814" y="5344120"/>
            <a:ext cx="614005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8812012" y="4942284"/>
            <a:ext cx="601945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1.487.285.800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4983867" y="5344120"/>
            <a:ext cx="234210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15098167" y="4942284"/>
            <a:ext cx="211350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62025" y="5353645"/>
            <a:ext cx="1155353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1114425" y="5458420"/>
            <a:ext cx="92675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2117378" y="5353645"/>
            <a:ext cx="3586460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2162184" y="5458420"/>
            <a:ext cx="338925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3.268.760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5703838" y="5353645"/>
            <a:ext cx="3139976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5762039" y="5458420"/>
            <a:ext cx="292937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4.457.400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8843814" y="5353645"/>
            <a:ext cx="6140053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8812012" y="5458420"/>
            <a:ext cx="601945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4.461.857.400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4983867" y="5353645"/>
            <a:ext cx="2342108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15098167" y="5458420"/>
            <a:ext cx="2113508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952500" y="6141244"/>
            <a:ext cx="5334000" cy="2114550"/>
          </a:xfrm>
          <a:prstGeom prst="roundRect">
            <a:avLst>
              <a:gd name="adj" fmla="val 2703"/>
            </a:avLst>
          </a:prstGeom>
          <a:solidFill>
            <a:srgbClr val="F87171">
              <a:alpha val="7000"/>
            </a:srgbClr>
          </a:solidFill>
          <a:ln w="9525">
            <a:solidFill>
              <a:srgbClr val="F8717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1190625" y="6341269"/>
            <a:ext cx="5343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190625" y="6684169"/>
            <a:ext cx="500348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Armazenar a matriz de restrições para p=11 requer suporte a 4,46 bilhões de coeficientes não-nulos — inviável em qualquer servidor convencional.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6477000" y="6141244"/>
            <a:ext cx="5334000" cy="2114550"/>
          </a:xfrm>
          <a:prstGeom prst="roundRect">
            <a:avLst>
              <a:gd name="adj" fmla="val 2703"/>
            </a:avLst>
          </a:prstGeom>
          <a:solidFill>
            <a:srgbClr val="F87171">
              <a:alpha val="7000"/>
            </a:srgbClr>
          </a:solidFill>
          <a:ln w="9525">
            <a:solidFill>
              <a:srgbClr val="F8717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6715125" y="6341269"/>
            <a:ext cx="5343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Resolução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6715125" y="6684169"/>
            <a:ext cx="500348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Solvers como CPLEX e Gurobi não conseguem processar ILPs desta magnitude em tempo aceitável, mesmo com hardware dedicado.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2001500" y="6141244"/>
            <a:ext cx="5334000" cy="2114550"/>
          </a:xfrm>
          <a:prstGeom prst="roundRect">
            <a:avLst>
              <a:gd name="adj" fmla="val 2703"/>
            </a:avLst>
          </a:prstGeom>
          <a:solidFill>
            <a:srgbClr val="38BDF8">
              <a:alpha val="7000"/>
            </a:srgbClr>
          </a:solidFill>
          <a:ln w="9525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Text 72"/>
          <p:cNvSpPr/>
          <p:nvPr/>
        </p:nvSpPr>
        <p:spPr>
          <a:xfrm>
            <a:off x="12239625" y="6341269"/>
            <a:ext cx="5343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12239625" y="6684169"/>
            <a:ext cx="500348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ILP permanece como referência teórica e pode ser usado como refinamento pós-greedy em subespaços reduzidos, não como resultado principal.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QUALIDADE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Bounds — Medir a Qualidade da Solução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52500" y="2143125"/>
            <a:ext cx="7943850" cy="2607469"/>
          </a:xfrm>
          <a:prstGeom prst="roundRect">
            <a:avLst>
              <a:gd name="adj" fmla="val 2192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62025" y="2152650"/>
            <a:ext cx="927943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62025" y="2657475"/>
            <a:ext cx="927943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114425" y="2276475"/>
            <a:ext cx="69934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89968" y="2152650"/>
            <a:ext cx="1844873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889968" y="2657475"/>
            <a:ext cx="1844873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966168" y="2276475"/>
            <a:ext cx="161627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C(15,p)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34842" y="2152650"/>
            <a:ext cx="1877467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734842" y="2657475"/>
            <a:ext cx="1877467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811042" y="2276475"/>
            <a:ext cx="1648867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LB-LP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612309" y="2152650"/>
            <a:ext cx="3274516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12309" y="2657475"/>
            <a:ext cx="3274516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6473" y="2276475"/>
            <a:ext cx="3067952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LB-Schönheim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2025" y="3187898"/>
            <a:ext cx="92794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114425" y="2781300"/>
            <a:ext cx="69934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889968" y="3187898"/>
            <a:ext cx="184487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966168" y="2781300"/>
            <a:ext cx="161627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734842" y="3187898"/>
            <a:ext cx="187746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811042" y="2781300"/>
            <a:ext cx="1648867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297.160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612309" y="3187898"/>
            <a:ext cx="327451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666473" y="2781300"/>
            <a:ext cx="3067952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297.172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2025" y="3197423"/>
            <a:ext cx="927943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962025" y="3704034"/>
            <a:ext cx="92794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114425" y="3302198"/>
            <a:ext cx="69934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889968" y="3197423"/>
            <a:ext cx="1844873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1889968" y="3704034"/>
            <a:ext cx="184487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966168" y="3302198"/>
            <a:ext cx="161627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734842" y="3197423"/>
            <a:ext cx="1877467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734842" y="3704034"/>
            <a:ext cx="187746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3811042" y="3302198"/>
            <a:ext cx="164886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49.527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612309" y="3197423"/>
            <a:ext cx="3274516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5612309" y="3704034"/>
            <a:ext cx="327451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5666473" y="3302198"/>
            <a:ext cx="306795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58.887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62025" y="4220170"/>
            <a:ext cx="92794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1114425" y="3818334"/>
            <a:ext cx="69934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889968" y="4220170"/>
            <a:ext cx="184487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1966168" y="3818334"/>
            <a:ext cx="161627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455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734842" y="4220170"/>
            <a:ext cx="187746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3811042" y="3818334"/>
            <a:ext cx="164886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11.430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612309" y="4220170"/>
            <a:ext cx="327451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5666473" y="3818334"/>
            <a:ext cx="306795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13.175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62025" y="4229695"/>
            <a:ext cx="927943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1114425" y="4334470"/>
            <a:ext cx="69934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889968" y="4229695"/>
            <a:ext cx="1844873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1966168" y="4334470"/>
            <a:ext cx="161627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1.365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3734842" y="4229695"/>
            <a:ext cx="1877467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3811042" y="4334470"/>
            <a:ext cx="1648867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3.266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612309" y="4229695"/>
            <a:ext cx="3274516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5666473" y="4334470"/>
            <a:ext cx="3067952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3.370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52500" y="4902994"/>
            <a:ext cx="7943850" cy="1424583"/>
          </a:xfrm>
          <a:prstGeom prst="roundRect">
            <a:avLst>
              <a:gd name="adj" fmla="val 4012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1171575" y="5083969"/>
            <a:ext cx="7730871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LB-Schönheim ≥ LB-LP </a:t>
            </a: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limite combinatório é sempre pelo menos tão apertado quanto o limite de contagem direta. Usamos LB-Schönheim como referência principal de qualidade.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9391650" y="2143125"/>
            <a:ext cx="7943850" cy="3036094"/>
          </a:xfrm>
          <a:prstGeom prst="roundRect">
            <a:avLst>
              <a:gd name="adj" fmla="val 1882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9648825" y="2362200"/>
            <a:ext cx="8172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LB-LP — Limite por Contagem Direta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9648825" y="2724150"/>
            <a:ext cx="7652385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X ∈ S₁₅ cobre exatamente C(15,p) alvos Y ∈ Sₚ. Logo, o número mínimo de conjuntos necessários é: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9648825" y="3565922"/>
            <a:ext cx="7429500" cy="659011"/>
          </a:xfrm>
          <a:prstGeom prst="roundRect">
            <a:avLst>
              <a:gd name="adj" fmla="val 5781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9829800" y="3689747"/>
            <a:ext cx="729043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LB-LP = ⌈ |Sₚ| / C(15, p) ⌉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9648825" y="4320183"/>
            <a:ext cx="765238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 à relaxação LP fracionária: solução fracionária ótima arredondada para cima.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9391650" y="5350669"/>
            <a:ext cx="7943850" cy="4250531"/>
          </a:xfrm>
          <a:prstGeom prst="roundRect">
            <a:avLst>
              <a:gd name="adj" fmla="val 1345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9648825" y="5569744"/>
            <a:ext cx="8172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LB-Schönheim — Limite Combinatório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9648825" y="5931694"/>
            <a:ext cx="7652385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clássico de teoria de cobertura de conjuntos. Aplica recursivamente a função piso/teto sobre as razões de cardinalidade, produzindo um limite inferior combinatório mais apertado que o LP.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9648825" y="7127677"/>
            <a:ext cx="7652385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p=14, a diferença é mínima (297.160 vs 297.172). Para p=13, o ganho é expressivo: LB-LP=49.527, LB-Schönheim=58.887 (+19%).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9648825" y="7969448"/>
            <a:ext cx="7429500" cy="914400"/>
          </a:xfrm>
          <a:prstGeom prst="roundRect">
            <a:avLst>
              <a:gd name="adj" fmla="val 4167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9434513" y="8074223"/>
            <a:ext cx="78581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 principal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9434513" y="8379023"/>
            <a:ext cx="7858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LB-Schönheim</a:t>
            </a:r>
            <a:endParaRPr lang="en-US" sz="2700" dirty="0"/>
          </a:p>
        </p:txBody>
      </p:sp>
      <p:sp>
        <p:nvSpPr>
          <p:cNvPr id="69" name="Shape 67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Estruturas de Dados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52500" y="2143125"/>
            <a:ext cx="5359301" cy="3652838"/>
          </a:xfrm>
          <a:prstGeom prst="roundRect">
            <a:avLst>
              <a:gd name="adj" fmla="val 1565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71575" y="2438400"/>
            <a:ext cx="76200" cy="762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62075" y="2343150"/>
            <a:ext cx="17887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Bitmask uint32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1575" y="2705100"/>
            <a:ext cx="50687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conjunto de U representado como inteiro de 32 bits. Bit i=1 indica presença do elemento i+1.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71575" y="5091113"/>
            <a:ext cx="4921151" cy="504825"/>
          </a:xfrm>
          <a:prstGeom prst="roundRect">
            <a:avLst>
              <a:gd name="adj" fmla="val 7547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14450" y="5195887"/>
            <a:ext cx="47830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 Y ⊆ X: (X &amp; Y) == Y → O(1)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64201" y="2143125"/>
            <a:ext cx="5359450" cy="3652838"/>
          </a:xfrm>
          <a:prstGeom prst="roundRect">
            <a:avLst>
              <a:gd name="adj" fmla="val 1565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683276" y="2438400"/>
            <a:ext cx="76200" cy="762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73776" y="2343150"/>
            <a:ext cx="17332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NumPy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83276" y="2705100"/>
            <a:ext cx="50689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Vetores contíguos de uint32 para S₁₅ e Sₚ. Operações vetorizadas sobre milhões de entradas via C nativo, sem overhead de Python.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83276" y="5329238"/>
            <a:ext cx="54134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Espaço: O(N₁₅ + Nₚ)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76050" y="2143125"/>
            <a:ext cx="5359450" cy="3652838"/>
          </a:xfrm>
          <a:prstGeom prst="roundRect">
            <a:avLst>
              <a:gd name="adj" fmla="val 1565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2195125" y="2438400"/>
            <a:ext cx="76200" cy="762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2385625" y="2343150"/>
            <a:ext cx="20542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Dicionários Hash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195125" y="2705100"/>
            <a:ext cx="506893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bitmask → índice para S₁₅ e Sₚ, permitindo lookup O(1) em vez de busca linear.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195125" y="4655046"/>
            <a:ext cx="4921300" cy="940891"/>
          </a:xfrm>
          <a:prstGeom prst="roundRect">
            <a:avLst>
              <a:gd name="adj" fmla="val 4049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2338000" y="4759821"/>
            <a:ext cx="4783189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s15_index: mask → idx sp_index: mask → idx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5948363"/>
            <a:ext cx="5359301" cy="3652838"/>
          </a:xfrm>
          <a:prstGeom prst="roundRect">
            <a:avLst>
              <a:gd name="adj" fmla="val 1565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1171575" y="6243638"/>
            <a:ext cx="76200" cy="76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362075" y="6148388"/>
            <a:ext cx="29477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count[ ] e nao_coberto[ ]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71575" y="6510338"/>
            <a:ext cx="50687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count[X] </a:t>
            </a: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número de alvos ainda não cobertos que X pode cobrir. Atualizado a cada iteração do greedy.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71575" y="7672388"/>
            <a:ext cx="506878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nao_coberto[Y] </a:t>
            </a: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flag booleano por alvo Y ∈ Sₚ.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464201" y="5948363"/>
            <a:ext cx="5359450" cy="3652838"/>
          </a:xfrm>
          <a:prstGeom prst="roundRect">
            <a:avLst>
              <a:gd name="adj" fmla="val 1565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683276" y="6243638"/>
            <a:ext cx="76200" cy="7620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873776" y="6148388"/>
            <a:ext cx="29210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 Lazy (p=14 e p=13)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83276" y="6510338"/>
            <a:ext cx="50689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extrair o X* com maior count em O(log N₁₅) sem reordenar o heap completo a cada iteração.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83276" y="8867775"/>
            <a:ext cx="50689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Adequado onde updates/iter são baixos (165 a 6.930).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1976050" y="5948363"/>
            <a:ext cx="5359450" cy="3652838"/>
          </a:xfrm>
          <a:prstGeom prst="roundRect">
            <a:avLst>
              <a:gd name="adj" fmla="val 1565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12195125" y="6243638"/>
            <a:ext cx="76200" cy="7620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2385625" y="6148388"/>
            <a:ext cx="42001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np.argmax + Paralelo (p=12 e p=11)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195125" y="6510338"/>
            <a:ext cx="50689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p=12: </a:t>
            </a: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np.argmax sobre count[] — busca linear vetorizada, mais eficiente que heap para 130.130 updates/iter.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195125" y="7672388"/>
            <a:ext cx="506893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p=11: </a:t>
            </a: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paralela de count[] via multiprocessing para 1.366.365 updates/iter.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ADOTADA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 Greedy e Garantia Teórica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52500" y="2143125"/>
            <a:ext cx="91543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2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PSEUDOCÓDIGO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524125"/>
            <a:ext cx="8322171" cy="7077075"/>
          </a:xfrm>
          <a:prstGeom prst="roundRect">
            <a:avLst>
              <a:gd name="adj" fmla="val 808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209675" y="2743200"/>
            <a:ext cx="8057486" cy="667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Entrada: </a:t>
            </a: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S₁₅, Sₚ 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Pré: </a:t>
            </a: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construir índices, count[], nao_coberto[] SB ← ∅ </a:t>
            </a: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</a:t>
            </a: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∃ alvo não coberto: X* ← </a:t>
            </a: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 </a:t>
            </a: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count[X] SB ← SB ∪ {X*} marcar X* como indisponível </a:t>
            </a: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</a:t>
            </a: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⊂ X* com |Y| = p: </a:t>
            </a: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</a:t>
            </a: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nao_coberto[Y]: nao_coberto[Y] ← falso </a:t>
            </a: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</a:t>
            </a: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∋ Y: count[X] ← count[X] − 1 </a:t>
            </a: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retornar </a:t>
            </a: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769971" y="2143125"/>
            <a:ext cx="7565529" cy="2880122"/>
          </a:xfrm>
          <a:prstGeom prst="roundRect">
            <a:avLst>
              <a:gd name="adj" fmla="val 1984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027146" y="2362200"/>
            <a:ext cx="7756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2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GARANTIA DE APROXIMAÇÃO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27146" y="2762250"/>
            <a:ext cx="7051179" cy="1200150"/>
          </a:xfrm>
          <a:prstGeom prst="roundRect">
            <a:avLst>
              <a:gd name="adj" fmla="val 3175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227171" y="2905125"/>
            <a:ext cx="686266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|SB_greedy| ≤ H(|Sₚ|) · |OPT| H(n) ≈ ln(n) + 0,577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27146" y="4095750"/>
            <a:ext cx="7262714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H(n) é a série harmônica e 0,577 é a constante de Euler-Mascheroni. A garantia é logarítmica no número de alvos.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769971" y="5194697"/>
            <a:ext cx="7565529" cy="2668786"/>
          </a:xfrm>
          <a:prstGeom prst="roundRect">
            <a:avLst>
              <a:gd name="adj" fmla="val 2141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027146" y="5413772"/>
            <a:ext cx="7756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2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PIOR CASO TEÓRICO PARA ESTE PROBLEMA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27146" y="5794772"/>
            <a:ext cx="7756297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|Sₚ| = 5.200.300 (p=12 ou p=13):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27146" y="6282333"/>
            <a:ext cx="7051179" cy="542925"/>
          </a:xfrm>
          <a:prstGeom prst="roundRect">
            <a:avLst>
              <a:gd name="adj" fmla="val 7018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0208121" y="6406158"/>
            <a:ext cx="69007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H(5.200.300) ≈ ln(5.200.300) + 0,577 ≈ 15,4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27146" y="6958608"/>
            <a:ext cx="726271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greedy pode, no pior caso, produzir uma solução até </a:t>
            </a: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15,4× </a:t>
            </a: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ótimo. Os resultados reais ficaram entre </a:t>
            </a: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1,79× </a:t>
            </a: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3,78×</a:t>
            </a: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769971" y="8034933"/>
            <a:ext cx="7565529" cy="1371600"/>
          </a:xfrm>
          <a:prstGeom prst="roundRect">
            <a:avLst>
              <a:gd name="adj" fmla="val 4167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989046" y="8215908"/>
            <a:ext cx="78401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Greedy?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89046" y="8539758"/>
            <a:ext cx="7341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Escalável para N₁₅ = 3,26 M com garantia formal — nenhuma das alternativas exatas é viável nesta escala.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TÉCNICA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Complexidade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52500" y="2105025"/>
            <a:ext cx="15487948" cy="581025"/>
          </a:xfrm>
          <a:prstGeom prst="roundRect">
            <a:avLst>
              <a:gd name="adj" fmla="val 9836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152525" y="2247900"/>
            <a:ext cx="38976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N₁₅ </a:t>
            </a: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C(25,15) = 3.268.760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00625" y="2247900"/>
            <a:ext cx="173517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Nₚ </a:t>
            </a: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C(25,p)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82854" y="2247900"/>
            <a:ext cx="22633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</a:t>
            </a: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|SB_greedy|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45203" y="2247900"/>
            <a:ext cx="76947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C(15,p) · C(25-p, 15-p) = atualizações/iteração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2914650"/>
            <a:ext cx="16383000" cy="2607469"/>
          </a:xfrm>
          <a:prstGeom prst="roundRect">
            <a:avLst>
              <a:gd name="adj" fmla="val 2192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62025" y="2924175"/>
            <a:ext cx="1000720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962025" y="3429000"/>
            <a:ext cx="1000720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114425" y="3048000"/>
            <a:ext cx="772120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962745" y="2924175"/>
            <a:ext cx="1989683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962745" y="3429000"/>
            <a:ext cx="1989683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038945" y="3048000"/>
            <a:ext cx="176108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C(15,p)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952429" y="2924175"/>
            <a:ext cx="3130004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952429" y="3429000"/>
            <a:ext cx="3130004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010928" y="3048000"/>
            <a:ext cx="2919104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C(25-p, 15-p)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82433" y="2924175"/>
            <a:ext cx="3742432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082433" y="3429000"/>
            <a:ext cx="3742432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122560" y="3048000"/>
            <a:ext cx="3549905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updates/iter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824865" y="2924175"/>
            <a:ext cx="2270075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824865" y="3429000"/>
            <a:ext cx="2270075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0901065" y="3048000"/>
            <a:ext cx="2041475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obtido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094940" y="2924175"/>
            <a:ext cx="4231035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3094940" y="3429000"/>
            <a:ext cx="4231035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3247340" y="3048000"/>
            <a:ext cx="4053166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2025" y="3959423"/>
            <a:ext cx="100072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114425" y="3552825"/>
            <a:ext cx="772120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962745" y="3959423"/>
            <a:ext cx="198968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2038945" y="3552825"/>
            <a:ext cx="176108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952429" y="3959423"/>
            <a:ext cx="313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010928" y="3552825"/>
            <a:ext cx="291910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082433" y="3959423"/>
            <a:ext cx="374243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122560" y="3552825"/>
            <a:ext cx="354990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824865" y="3959423"/>
            <a:ext cx="227007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10901065" y="3552825"/>
            <a:ext cx="204147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532.555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3094940" y="3959423"/>
            <a:ext cx="423103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13247340" y="3552825"/>
            <a:ext cx="4053166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 lazy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62025" y="3968948"/>
            <a:ext cx="1000720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962025" y="4475559"/>
            <a:ext cx="100072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114425" y="4073723"/>
            <a:ext cx="77212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962745" y="3968948"/>
            <a:ext cx="1989683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1962745" y="4475559"/>
            <a:ext cx="198968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2038945" y="4073723"/>
            <a:ext cx="176108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952429" y="3968948"/>
            <a:ext cx="3130004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3952429" y="4475559"/>
            <a:ext cx="313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4010928" y="4073723"/>
            <a:ext cx="291910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082433" y="3968948"/>
            <a:ext cx="3742432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7082433" y="4475559"/>
            <a:ext cx="374243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7122560" y="4073723"/>
            <a:ext cx="354990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6.930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0824865" y="3968948"/>
            <a:ext cx="2270075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10824865" y="4475559"/>
            <a:ext cx="227007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10901065" y="4073723"/>
            <a:ext cx="204147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128.827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3094940" y="3968948"/>
            <a:ext cx="4231035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13094940" y="4475559"/>
            <a:ext cx="423103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13247340" y="4073723"/>
            <a:ext cx="405316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 lazy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962025" y="4991695"/>
            <a:ext cx="100072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1114425" y="4589859"/>
            <a:ext cx="77212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962745" y="4991695"/>
            <a:ext cx="198968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2038945" y="4589859"/>
            <a:ext cx="176108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455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3952429" y="4991695"/>
            <a:ext cx="313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4010928" y="4589859"/>
            <a:ext cx="291910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286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7082433" y="4991695"/>
            <a:ext cx="374243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7122560" y="4589859"/>
            <a:ext cx="354990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130.130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0824865" y="4991695"/>
            <a:ext cx="227007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10901065" y="4589859"/>
            <a:ext cx="204147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38.100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3094940" y="4991695"/>
            <a:ext cx="423103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13247340" y="4589859"/>
            <a:ext cx="405316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argmax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962025" y="5001220"/>
            <a:ext cx="1000720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1114425" y="5105995"/>
            <a:ext cx="772120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962745" y="5001220"/>
            <a:ext cx="1989683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Text 72"/>
          <p:cNvSpPr/>
          <p:nvPr/>
        </p:nvSpPr>
        <p:spPr>
          <a:xfrm>
            <a:off x="2038945" y="5105995"/>
            <a:ext cx="176108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1.365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3952429" y="5001220"/>
            <a:ext cx="3130004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6" name="Text 74"/>
          <p:cNvSpPr/>
          <p:nvPr/>
        </p:nvSpPr>
        <p:spPr>
          <a:xfrm>
            <a:off x="4010928" y="5105995"/>
            <a:ext cx="291910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1.001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7082433" y="5001220"/>
            <a:ext cx="3742432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8" name="Text 76"/>
          <p:cNvSpPr/>
          <p:nvPr/>
        </p:nvSpPr>
        <p:spPr>
          <a:xfrm>
            <a:off x="7122560" y="5105995"/>
            <a:ext cx="354990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1.366.365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10824865" y="5001220"/>
            <a:ext cx="2270075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0" name="Text 78"/>
          <p:cNvSpPr/>
          <p:nvPr/>
        </p:nvSpPr>
        <p:spPr>
          <a:xfrm>
            <a:off x="10901065" y="5105995"/>
            <a:ext cx="204147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12.733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3094940" y="5001220"/>
            <a:ext cx="4231035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Text 80"/>
          <p:cNvSpPr/>
          <p:nvPr/>
        </p:nvSpPr>
        <p:spPr>
          <a:xfrm>
            <a:off x="13247340" y="5105995"/>
            <a:ext cx="4053166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paralela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952500" y="5750719"/>
            <a:ext cx="5359301" cy="1704975"/>
          </a:xfrm>
          <a:prstGeom prst="roundRect">
            <a:avLst>
              <a:gd name="adj" fmla="val 3352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4" name="Text 82"/>
          <p:cNvSpPr/>
          <p:nvPr/>
        </p:nvSpPr>
        <p:spPr>
          <a:xfrm>
            <a:off x="1152525" y="5912644"/>
            <a:ext cx="54551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1 — Geração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1152525" y="6255544"/>
            <a:ext cx="510802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independentemente S₁₅, S₁₄, S₁₃, S₁₂, S₁₁.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1152525" y="6998494"/>
            <a:ext cx="54551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Θ(C(n,p)) por conjunto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6464201" y="5750719"/>
            <a:ext cx="5359450" cy="1704975"/>
          </a:xfrm>
          <a:prstGeom prst="roundRect">
            <a:avLst>
              <a:gd name="adj" fmla="val 3352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8" name="Text 86"/>
          <p:cNvSpPr/>
          <p:nvPr/>
        </p:nvSpPr>
        <p:spPr>
          <a:xfrm>
            <a:off x="6664226" y="5912644"/>
            <a:ext cx="5455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2–5 — Greedy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6664226" y="6255544"/>
            <a:ext cx="510818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Gargalo: atualização de count[]. Complexidade por iteração: O(A × cobertura inversa).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6664226" y="6998494"/>
            <a:ext cx="54553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Espaço: O(N₁₅ + Nₚ)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11976050" y="5750719"/>
            <a:ext cx="5359450" cy="1704975"/>
          </a:xfrm>
          <a:prstGeom prst="roundRect">
            <a:avLst>
              <a:gd name="adj" fmla="val 3352"/>
            </a:avLst>
          </a:prstGeom>
          <a:solidFill>
            <a:srgbClr val="F87171">
              <a:alpha val="7000"/>
            </a:srgbClr>
          </a:solidFill>
          <a:ln w="9525">
            <a:solidFill>
              <a:srgbClr val="F8717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2" name="Text 90"/>
          <p:cNvSpPr/>
          <p:nvPr/>
        </p:nvSpPr>
        <p:spPr>
          <a:xfrm>
            <a:off x="12176075" y="5912644"/>
            <a:ext cx="5455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Gargalo Principal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12176075" y="6255544"/>
            <a:ext cx="510818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count[] cresce de 165 para 1.366.365 updates/iter de p=14 para p=11 — crescimento de 8.280×, exigindo estratégias distintas.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5" name="Text 93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96" name="Text 94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Gargalos e Paralelismo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52500" y="2143125"/>
            <a:ext cx="8096250" cy="3470821"/>
          </a:xfrm>
          <a:prstGeom prst="roundRect">
            <a:avLst>
              <a:gd name="adj" fmla="val 1647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09675" y="2362200"/>
            <a:ext cx="83400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1 — Geração Paralela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9675" y="2762250"/>
            <a:ext cx="780935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cinco conjuntos S₁₅, S₁₄, S₁₃, S₁₂, S₁₁ são gerados de forma completamente independente — nenhuma dependência de dados entre eles.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09675" y="3943350"/>
            <a:ext cx="2451050" cy="1009650"/>
          </a:xfrm>
          <a:prstGeom prst="roundRect">
            <a:avLst>
              <a:gd name="adj" fmla="val 3774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44285" y="4086225"/>
            <a:ext cx="23818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44285" y="4410075"/>
            <a:ext cx="23818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 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3775025" y="3943350"/>
            <a:ext cx="2451199" cy="1009650"/>
          </a:xfrm>
          <a:prstGeom prst="roundRect">
            <a:avLst>
              <a:gd name="adj" fmla="val 3774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809628" y="4086225"/>
            <a:ext cx="2381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09628" y="4410075"/>
            <a:ext cx="238199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~18,7 s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340525" y="3943350"/>
            <a:ext cx="2451050" cy="1009650"/>
          </a:xfrm>
          <a:prstGeom prst="roundRect">
            <a:avLst>
              <a:gd name="adj" fmla="val 3774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375135" y="4086225"/>
            <a:ext cx="23818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75135" y="4410075"/>
            <a:ext cx="23818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4,3×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239250" y="2143125"/>
            <a:ext cx="8096250" cy="3470821"/>
          </a:xfrm>
          <a:prstGeom prst="roundRect">
            <a:avLst>
              <a:gd name="adj" fmla="val 1647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496425" y="2362200"/>
            <a:ext cx="83400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5 — Atualização Paralela (p=11)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96425" y="2762250"/>
            <a:ext cx="780935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</a:t>
            </a: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1.366.365 atualizações por iteração </a:t>
            </a: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volume é suficientemente grande para que o overhead de multiprocessing seja amortizado sobre muitas operações paralelas de count[].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96425" y="3943350"/>
            <a:ext cx="7581900" cy="1451521"/>
          </a:xfrm>
          <a:prstGeom prst="roundRect">
            <a:avLst>
              <a:gd name="adj" fmla="val 2625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677400" y="4086225"/>
            <a:ext cx="7447407" cy="1203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Estratégia: dividir alvos de X* entre workers → consolidar decrementos em count[]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5804446"/>
            <a:ext cx="16383000" cy="2634258"/>
          </a:xfrm>
          <a:prstGeom prst="roundRect">
            <a:avLst>
              <a:gd name="adj" fmla="val 2169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62025" y="6347371"/>
            <a:ext cx="1636395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152525" y="5947321"/>
            <a:ext cx="175812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2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PROGRAMAS 2, 3 E 4 NÃO FORAM PARALELIZADOS DA MESMA FORMA?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2025" y="6356896"/>
            <a:ext cx="2127349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962025" y="6861721"/>
            <a:ext cx="2127349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114425" y="6480721"/>
            <a:ext cx="1898749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089374" y="6356896"/>
            <a:ext cx="793403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3089374" y="6861721"/>
            <a:ext cx="793403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241774" y="6480721"/>
            <a:ext cx="56480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882777" y="6356896"/>
            <a:ext cx="2967038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3882777" y="6861721"/>
            <a:ext cx="2967038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3946166" y="6480721"/>
            <a:ext cx="2751249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updates/iter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849814" y="6356896"/>
            <a:ext cx="10476161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849814" y="6861721"/>
            <a:ext cx="10476161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002214" y="6480721"/>
            <a:ext cx="10485645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Razão para não paralelizar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62025" y="7392144"/>
            <a:ext cx="2127349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1114425" y="6985546"/>
            <a:ext cx="1898749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2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089374" y="7392144"/>
            <a:ext cx="79340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3241774" y="6985546"/>
            <a:ext cx="56480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882777" y="7392144"/>
            <a:ext cx="29670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3946166" y="6985546"/>
            <a:ext cx="2751249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849814" y="7392144"/>
            <a:ext cx="1047616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7002214" y="6985546"/>
            <a:ext cx="1048564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mínimo — overhead de IPC supera ganho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62025" y="7401669"/>
            <a:ext cx="2127349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962025" y="7908280"/>
            <a:ext cx="2127349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1114425" y="7506444"/>
            <a:ext cx="189874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3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089374" y="7401669"/>
            <a:ext cx="793403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3089374" y="7908280"/>
            <a:ext cx="79340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3241774" y="7506444"/>
            <a:ext cx="56480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3882777" y="7401669"/>
            <a:ext cx="2967038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3882777" y="7908280"/>
            <a:ext cx="29670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3946166" y="7506444"/>
            <a:ext cx="275124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6.930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6849814" y="7401669"/>
            <a:ext cx="10476161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6849814" y="7908280"/>
            <a:ext cx="1047616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7002214" y="7506444"/>
            <a:ext cx="1048564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moderado — heap lazy já eficiente em serial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14425" y="8022580"/>
            <a:ext cx="1898749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4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3241774" y="8022580"/>
            <a:ext cx="56480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3946166" y="8022580"/>
            <a:ext cx="2751249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130.130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002214" y="8022580"/>
            <a:ext cx="1048564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np.argmax vetorizado em C — overhead de IPC menos compensador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" y="512064"/>
            <a:ext cx="161848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GARGALO COMPUTACIONAL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804672"/>
            <a:ext cx="1618488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2E8F0"/>
                </a:solidFill>
                <a:latin typeface="Arial"/>
              </a:rPr>
              <a:t>p=11 domina o custo por iteração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9656064"/>
            <a:ext cx="64008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PUCPR · Complexidade de Algoritmos · RA03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0" y="9656064"/>
            <a:ext cx="4389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Arial"/>
              </a:rPr>
              <a:t>Gráfico 1 de 5</a:t>
            </a:r>
          </a:p>
        </p:txBody>
      </p:sp>
      <p:pic>
        <p:nvPicPr>
          <p:cNvPr id="7" name="Picture 6" descr="chart_updates_per_it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298448"/>
            <a:ext cx="16733520" cy="7388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" y="512064"/>
            <a:ext cx="161848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COMPUTAÇÃO PARALELA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804672"/>
            <a:ext cx="1618488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2E8F0"/>
                </a:solidFill>
                <a:latin typeface="Arial"/>
              </a:rPr>
              <a:t>Paralelismo reduziu a geração dos conjuntos em 4,3×</a:t>
            </a:r>
          </a:p>
        </p:txBody>
      </p:sp>
      <p:pic>
        <p:nvPicPr>
          <p:cNvPr id="4" name="Picture 3" descr="chart_parallel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298448"/>
            <a:ext cx="16733520" cy="7388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0976" y="9656064"/>
            <a:ext cx="64008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PUCPR · Complexidade de Algoritmos · RA03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0" y="9656064"/>
            <a:ext cx="4389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Arial"/>
              </a:rPr>
              <a:t>Gráfico 2 de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EXPERIMENTAL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Principais — n=25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52500" y="2105025"/>
            <a:ext cx="16383000" cy="2607469"/>
          </a:xfrm>
          <a:prstGeom prst="roundRect">
            <a:avLst>
              <a:gd name="adj" fmla="val 219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62025" y="2114550"/>
            <a:ext cx="831354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62025" y="2619375"/>
            <a:ext cx="831354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114425" y="2238375"/>
            <a:ext cx="602754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93379" y="2114550"/>
            <a:ext cx="1965424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793379" y="2619375"/>
            <a:ext cx="1965424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869579" y="2238375"/>
            <a:ext cx="1736824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|Sₚ|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58803" y="2114550"/>
            <a:ext cx="1681907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758803" y="2619375"/>
            <a:ext cx="1681907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835003" y="2238375"/>
            <a:ext cx="1453307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LB-LP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40710" y="2114550"/>
            <a:ext cx="2933105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440710" y="2619375"/>
            <a:ext cx="2933105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505117" y="2238375"/>
            <a:ext cx="271629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LB-Schönheim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73814" y="2114550"/>
            <a:ext cx="2494062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373814" y="2619375"/>
            <a:ext cx="2494062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450014" y="2238375"/>
            <a:ext cx="2265462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|SB_greedy|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867876" y="2114550"/>
            <a:ext cx="2959298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0867876" y="2619375"/>
            <a:ext cx="2959298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0931497" y="2238375"/>
            <a:ext cx="2743277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vs LB-Sch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827175" y="2114550"/>
            <a:ext cx="1672084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3827175" y="2619375"/>
            <a:ext cx="1672084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3903375" y="2238375"/>
            <a:ext cx="1443484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499259" y="2114550"/>
            <a:ext cx="1826716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5499259" y="2619375"/>
            <a:ext cx="1826716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5575459" y="2238375"/>
            <a:ext cx="1598116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S₁₅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62025" y="3149798"/>
            <a:ext cx="83135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114425" y="2743200"/>
            <a:ext cx="60275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793379" y="3149798"/>
            <a:ext cx="196542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869579" y="2743200"/>
            <a:ext cx="173682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4.457.400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758803" y="3149798"/>
            <a:ext cx="168190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3835003" y="2743200"/>
            <a:ext cx="1453307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297.160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440710" y="3149798"/>
            <a:ext cx="293310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5505117" y="2743200"/>
            <a:ext cx="2716298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297.172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373814" y="3149798"/>
            <a:ext cx="249406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8450014" y="2743200"/>
            <a:ext cx="2265462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532.555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867876" y="3149798"/>
            <a:ext cx="295929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10931497" y="2743200"/>
            <a:ext cx="2743277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1,79×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3827175" y="3149798"/>
            <a:ext cx="167208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3903375" y="2743200"/>
            <a:ext cx="144348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 min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499259" y="3149798"/>
            <a:ext cx="182671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15575459" y="2743200"/>
            <a:ext cx="1598116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16,3%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62025" y="3159323"/>
            <a:ext cx="831354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962025" y="3665934"/>
            <a:ext cx="83135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1114425" y="3264098"/>
            <a:ext cx="60275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793379" y="3159323"/>
            <a:ext cx="1965424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1793379" y="3665934"/>
            <a:ext cx="196542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1869579" y="3264098"/>
            <a:ext cx="173682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5.200.300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3758803" y="3159323"/>
            <a:ext cx="1681907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3758803" y="3665934"/>
            <a:ext cx="168190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3835003" y="3264098"/>
            <a:ext cx="145330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49.527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5440710" y="3159323"/>
            <a:ext cx="2933105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5440710" y="3665934"/>
            <a:ext cx="293310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5505117" y="3264098"/>
            <a:ext cx="271629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58.887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8373814" y="3159323"/>
            <a:ext cx="2494062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8373814" y="3665934"/>
            <a:ext cx="249406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8450014" y="3264098"/>
            <a:ext cx="226546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128.827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0867876" y="3159323"/>
            <a:ext cx="2959298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10867876" y="3665934"/>
            <a:ext cx="295929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10931497" y="3264098"/>
            <a:ext cx="274327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2,19×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3827175" y="3159323"/>
            <a:ext cx="1672084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13827175" y="3665934"/>
            <a:ext cx="167208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13903375" y="3264098"/>
            <a:ext cx="144348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h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499259" y="3159323"/>
            <a:ext cx="1826716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Shape 66"/>
          <p:cNvSpPr/>
          <p:nvPr/>
        </p:nvSpPr>
        <p:spPr>
          <a:xfrm>
            <a:off x="15499259" y="3665934"/>
            <a:ext cx="182671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15575459" y="3264098"/>
            <a:ext cx="159811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3,9%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962025" y="4182070"/>
            <a:ext cx="83135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1114425" y="3780234"/>
            <a:ext cx="60275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793379" y="4182070"/>
            <a:ext cx="196542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Text 71"/>
          <p:cNvSpPr/>
          <p:nvPr/>
        </p:nvSpPr>
        <p:spPr>
          <a:xfrm>
            <a:off x="1869579" y="3780234"/>
            <a:ext cx="173682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5.200.300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3758803" y="4182070"/>
            <a:ext cx="168190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3835003" y="3780234"/>
            <a:ext cx="145330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11.430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5440710" y="4182070"/>
            <a:ext cx="293310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5505117" y="3780234"/>
            <a:ext cx="271629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13.175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8373814" y="4182070"/>
            <a:ext cx="249406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77"/>
          <p:cNvSpPr/>
          <p:nvPr/>
        </p:nvSpPr>
        <p:spPr>
          <a:xfrm>
            <a:off x="8450014" y="3780234"/>
            <a:ext cx="226546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38.100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10867876" y="4182070"/>
            <a:ext cx="295929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Text 79"/>
          <p:cNvSpPr/>
          <p:nvPr/>
        </p:nvSpPr>
        <p:spPr>
          <a:xfrm>
            <a:off x="10931497" y="3780234"/>
            <a:ext cx="274327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2,89×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13827175" y="4182070"/>
            <a:ext cx="167208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Text 81"/>
          <p:cNvSpPr/>
          <p:nvPr/>
        </p:nvSpPr>
        <p:spPr>
          <a:xfrm>
            <a:off x="13903375" y="3780234"/>
            <a:ext cx="144348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~79 min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15499259" y="4182070"/>
            <a:ext cx="182671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15575459" y="3780234"/>
            <a:ext cx="159811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1,2%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962025" y="4191595"/>
            <a:ext cx="831354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Text 85"/>
          <p:cNvSpPr/>
          <p:nvPr/>
        </p:nvSpPr>
        <p:spPr>
          <a:xfrm>
            <a:off x="1114425" y="4296370"/>
            <a:ext cx="60275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1793379" y="4191595"/>
            <a:ext cx="1965424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9" name="Text 87"/>
          <p:cNvSpPr/>
          <p:nvPr/>
        </p:nvSpPr>
        <p:spPr>
          <a:xfrm>
            <a:off x="1869579" y="4296370"/>
            <a:ext cx="173682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4.457.400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3758803" y="4191595"/>
            <a:ext cx="1681907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1" name="Text 89"/>
          <p:cNvSpPr/>
          <p:nvPr/>
        </p:nvSpPr>
        <p:spPr>
          <a:xfrm>
            <a:off x="3835003" y="4296370"/>
            <a:ext cx="1453307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3.266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5440710" y="4191595"/>
            <a:ext cx="2933105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3" name="Text 91"/>
          <p:cNvSpPr/>
          <p:nvPr/>
        </p:nvSpPr>
        <p:spPr>
          <a:xfrm>
            <a:off x="5505117" y="4296370"/>
            <a:ext cx="2716298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3.370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8373814" y="4191595"/>
            <a:ext cx="2494062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5" name="Text 93"/>
          <p:cNvSpPr/>
          <p:nvPr/>
        </p:nvSpPr>
        <p:spPr>
          <a:xfrm>
            <a:off x="8450014" y="4296370"/>
            <a:ext cx="2265462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12.733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10867876" y="4191595"/>
            <a:ext cx="2959298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7" name="Text 95"/>
          <p:cNvSpPr/>
          <p:nvPr/>
        </p:nvSpPr>
        <p:spPr>
          <a:xfrm>
            <a:off x="10931497" y="4296370"/>
            <a:ext cx="2743277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3,78×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13827175" y="4191595"/>
            <a:ext cx="1672084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9" name="Text 97"/>
          <p:cNvSpPr/>
          <p:nvPr/>
        </p:nvSpPr>
        <p:spPr>
          <a:xfrm>
            <a:off x="13903375" y="4296370"/>
            <a:ext cx="144348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~3,4 h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15499259" y="4191595"/>
            <a:ext cx="1826716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Text 99"/>
          <p:cNvSpPr/>
          <p:nvPr/>
        </p:nvSpPr>
        <p:spPr>
          <a:xfrm>
            <a:off x="15575459" y="4296370"/>
            <a:ext cx="1598116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0,4%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952500" y="4941094"/>
            <a:ext cx="10623500" cy="1790700"/>
          </a:xfrm>
          <a:prstGeom prst="roundRect">
            <a:avLst>
              <a:gd name="adj" fmla="val 3191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3" name="Text 101"/>
          <p:cNvSpPr/>
          <p:nvPr/>
        </p:nvSpPr>
        <p:spPr>
          <a:xfrm>
            <a:off x="1209675" y="5141119"/>
            <a:ext cx="111200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</a:t>
            </a:r>
            <a:endParaRPr lang="en-US" sz="1800" dirty="0"/>
          </a:p>
        </p:txBody>
      </p:sp>
      <p:sp>
        <p:nvSpPr>
          <p:cNvPr id="104" name="Text 102"/>
          <p:cNvSpPr/>
          <p:nvPr/>
        </p:nvSpPr>
        <p:spPr>
          <a:xfrm>
            <a:off x="1209675" y="5503069"/>
            <a:ext cx="104124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garantia teórica permitiria gap de até </a:t>
            </a:r>
            <a:r>
              <a:rPr lang="en-US" sz="2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~15,4× </a:t>
            </a: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Os resultados reais ficaram entre </a:t>
            </a:r>
            <a:r>
              <a:rPr lang="en-US" sz="2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1,79× </a:t>
            </a: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en-US" sz="2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3,78× </a:t>
            </a: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 </a:t>
            </a:r>
            <a:r>
              <a:rPr lang="en-US" sz="2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a 9× melhor </a:t>
            </a: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pior caso teórico.</a:t>
            </a:r>
            <a:endParaRPr lang="en-US" sz="2250" dirty="0"/>
          </a:p>
        </p:txBody>
      </p:sp>
      <p:sp>
        <p:nvSpPr>
          <p:cNvPr id="105" name="Shape 103"/>
          <p:cNvSpPr/>
          <p:nvPr/>
        </p:nvSpPr>
        <p:spPr>
          <a:xfrm>
            <a:off x="11766500" y="4941094"/>
            <a:ext cx="5569000" cy="1790700"/>
          </a:xfrm>
          <a:prstGeom prst="roundRect">
            <a:avLst>
              <a:gd name="adj" fmla="val 3191"/>
            </a:avLst>
          </a:prstGeom>
          <a:solidFill>
            <a:srgbClr val="F87171">
              <a:alpha val="7000"/>
            </a:srgbClr>
          </a:solidFill>
          <a:ln w="9525">
            <a:solidFill>
              <a:srgbClr val="F8717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6" name="Text 104"/>
          <p:cNvSpPr/>
          <p:nvPr/>
        </p:nvSpPr>
        <p:spPr>
          <a:xfrm>
            <a:off x="12023675" y="5141119"/>
            <a:ext cx="55601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Pendente</a:t>
            </a:r>
            <a:endParaRPr lang="en-US" sz="1800" dirty="0"/>
          </a:p>
        </p:txBody>
      </p:sp>
      <p:sp>
        <p:nvSpPr>
          <p:cNvPr id="107" name="Text 105"/>
          <p:cNvSpPr/>
          <p:nvPr/>
        </p:nvSpPr>
        <p:spPr>
          <a:xfrm>
            <a:off x="12023675" y="5503069"/>
            <a:ext cx="520628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auditoria exata deve permanecer pendente até o término da execução de </a:t>
            </a:r>
            <a:r>
              <a:rPr lang="en-US" sz="1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audit_cobertura.py </a:t>
            </a: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p=11 e p=12.</a:t>
            </a:r>
            <a:endParaRPr lang="en-US" sz="1800" dirty="0"/>
          </a:p>
        </p:txBody>
      </p:sp>
      <p:sp>
        <p:nvSpPr>
          <p:cNvPr id="108" name="Shape 106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9" name="Text 107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110" name="Text 108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" y="512064"/>
            <a:ext cx="161848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RESULTADO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804672"/>
            <a:ext cx="1618488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2E8F0"/>
                </a:solidFill>
                <a:latin typeface="Arial"/>
              </a:rPr>
              <a:t>O greedy ficou perto dos lower bounds combinatórios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9656064"/>
            <a:ext cx="64008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PUCPR · Complexidade de Algoritmos · RA03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0" y="9656064"/>
            <a:ext cx="4389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Arial"/>
              </a:rPr>
              <a:t>Gráfico 3 de 5</a:t>
            </a:r>
          </a:p>
        </p:txBody>
      </p:sp>
      <p:pic>
        <p:nvPicPr>
          <p:cNvPr id="7" name="Picture 6" descr="chart_final_sb_vs_lower_b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298448"/>
            <a:ext cx="16733520" cy="73883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 DO ENUNCIADO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Eixo Comparativo das Abordagens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52500" y="2105025"/>
            <a:ext cx="16383000" cy="7496175"/>
          </a:xfrm>
          <a:prstGeom prst="roundRect">
            <a:avLst>
              <a:gd name="adj" fmla="val 762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62025" y="2114550"/>
            <a:ext cx="3600004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62025" y="2619375"/>
            <a:ext cx="3600004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114425" y="2238375"/>
            <a:ext cx="3403204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62029" y="2114550"/>
            <a:ext cx="2290911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62029" y="2619375"/>
            <a:ext cx="2290911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14429" y="2238375"/>
            <a:ext cx="2062311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2940" y="2114550"/>
            <a:ext cx="1963638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852940" y="2619375"/>
            <a:ext cx="1963638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967240" y="2238375"/>
            <a:ext cx="173503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816578" y="2114550"/>
            <a:ext cx="8509397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816578" y="2619375"/>
            <a:ext cx="8509397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968978" y="2238375"/>
            <a:ext cx="8459879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e Trade-offs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2025" y="3241477"/>
            <a:ext cx="360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114425" y="2743200"/>
            <a:ext cx="3403204" cy="431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 Greedy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62029" y="3241477"/>
            <a:ext cx="229091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714429" y="2743200"/>
            <a:ext cx="2062311" cy="431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Aproximativo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52940" y="3241477"/>
            <a:ext cx="19636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967240" y="2743200"/>
            <a:ext cx="1735038" cy="431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Adotado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816578" y="3241477"/>
            <a:ext cx="85093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968978" y="2743200"/>
            <a:ext cx="8459879" cy="431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2–5; garantia H(n)·OPT ≤ 15,4×; escalável para N₁₅ = 3,26 M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2025" y="3251002"/>
            <a:ext cx="3600004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962025" y="4197846"/>
            <a:ext cx="360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114425" y="3355777"/>
            <a:ext cx="3403204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Computação Paralela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62029" y="3251002"/>
            <a:ext cx="2290911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562029" y="4197846"/>
            <a:ext cx="229091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714429" y="3355777"/>
            <a:ext cx="2062311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Aceleração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852940" y="3251002"/>
            <a:ext cx="1963638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852940" y="4197846"/>
            <a:ext cx="19636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967240" y="3355777"/>
            <a:ext cx="1735038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Adotado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816578" y="3251002"/>
            <a:ext cx="8509397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8816578" y="4197846"/>
            <a:ext cx="85093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8968978" y="3355777"/>
            <a:ext cx="8459879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Prog. 1: speedup 4,3× (seq ~80 s → par ~18,7 s); Prog. 5: p=11 com 1,36 M updates/iter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62025" y="5154216"/>
            <a:ext cx="360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1114425" y="4312146"/>
            <a:ext cx="3403204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Greedy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562029" y="5154216"/>
            <a:ext cx="229091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714429" y="4312146"/>
            <a:ext cx="2062311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Randômico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852940" y="5154216"/>
            <a:ext cx="19636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967240" y="4312146"/>
            <a:ext cx="1735038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Testado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816578" y="5154216"/>
            <a:ext cx="85093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8968978" y="4312146"/>
            <a:ext cx="8459879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13,5–20,6× mais rápido que baseline; custo &lt;10% em |SB|; melhor alternativa medida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62025" y="5163741"/>
            <a:ext cx="3600004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962025" y="6110585"/>
            <a:ext cx="360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1114425" y="5268516"/>
            <a:ext cx="3403204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GRASP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4562029" y="5163741"/>
            <a:ext cx="2290911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4562029" y="6110585"/>
            <a:ext cx="229091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4714429" y="5268516"/>
            <a:ext cx="2062311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Metaheurística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6852940" y="5163741"/>
            <a:ext cx="1963638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6852940" y="6110585"/>
            <a:ext cx="19636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6967240" y="5268516"/>
            <a:ext cx="1735038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Testado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8816578" y="5163741"/>
            <a:ext cx="8509397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8816578" y="6110585"/>
            <a:ext cx="85093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8968978" y="5268516"/>
            <a:ext cx="8459879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Randomized Adaptive Search Procedure; mais caro; sem ganho expressivo nos benchmarks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962025" y="6717655"/>
            <a:ext cx="360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1114425" y="6224885"/>
            <a:ext cx="3403204" cy="426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Relaxação Lagrangiana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4562029" y="6717655"/>
            <a:ext cx="229091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4714429" y="6224885"/>
            <a:ext cx="2062311" cy="426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Bound/LP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6852940" y="6717655"/>
            <a:ext cx="19636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6967240" y="6224885"/>
            <a:ext cx="1735038" cy="426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Testado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8816578" y="6717655"/>
            <a:ext cx="85093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8968978" y="6224885"/>
            <a:ext cx="8459879" cy="426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59,58 na instância medium; reparo igual ao greedy; referência científica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962025" y="6727180"/>
            <a:ext cx="3600004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Shape 65"/>
          <p:cNvSpPr/>
          <p:nvPr/>
        </p:nvSpPr>
        <p:spPr>
          <a:xfrm>
            <a:off x="962025" y="7674025"/>
            <a:ext cx="360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1114425" y="6831955"/>
            <a:ext cx="3403204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Generation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4562029" y="6727180"/>
            <a:ext cx="2290911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Shape 68"/>
          <p:cNvSpPr/>
          <p:nvPr/>
        </p:nvSpPr>
        <p:spPr>
          <a:xfrm>
            <a:off x="4562029" y="7674025"/>
            <a:ext cx="229091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4714429" y="6831955"/>
            <a:ext cx="2062311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Bound/LP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6852940" y="6727180"/>
            <a:ext cx="1963638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Shape 71"/>
          <p:cNvSpPr/>
          <p:nvPr/>
        </p:nvSpPr>
        <p:spPr>
          <a:xfrm>
            <a:off x="6852940" y="7674025"/>
            <a:ext cx="19636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Text 72"/>
          <p:cNvSpPr/>
          <p:nvPr/>
        </p:nvSpPr>
        <p:spPr>
          <a:xfrm>
            <a:off x="6967240" y="6831955"/>
            <a:ext cx="1735038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Testado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8816578" y="6727180"/>
            <a:ext cx="8509397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6" name="Shape 74"/>
          <p:cNvSpPr/>
          <p:nvPr/>
        </p:nvSpPr>
        <p:spPr>
          <a:xfrm>
            <a:off x="8816578" y="7674025"/>
            <a:ext cx="85093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8968978" y="6831955"/>
            <a:ext cx="8459879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Relaxação LP + pricing iterativo; solução arredondada e reparada; alternativa ao ILP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962025" y="8630394"/>
            <a:ext cx="360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77"/>
          <p:cNvSpPr/>
          <p:nvPr/>
        </p:nvSpPr>
        <p:spPr>
          <a:xfrm>
            <a:off x="1114425" y="7788325"/>
            <a:ext cx="3403204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and Bound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4562029" y="8630394"/>
            <a:ext cx="229091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Text 79"/>
          <p:cNvSpPr/>
          <p:nvPr/>
        </p:nvSpPr>
        <p:spPr>
          <a:xfrm>
            <a:off x="4714429" y="7788325"/>
            <a:ext cx="2062311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Exato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6852940" y="8630394"/>
            <a:ext cx="19636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Text 81"/>
          <p:cNvSpPr/>
          <p:nvPr/>
        </p:nvSpPr>
        <p:spPr>
          <a:xfrm>
            <a:off x="6967240" y="7788325"/>
            <a:ext cx="1735038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Alternativa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8816578" y="8630394"/>
            <a:ext cx="85093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8968978" y="7788325"/>
            <a:ext cx="8459879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ótima global garantida; inviável para N₁₅ = 3.268.760 candidatos em escala completa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962025" y="8639919"/>
            <a:ext cx="3600004" cy="95175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Text 85"/>
          <p:cNvSpPr/>
          <p:nvPr/>
        </p:nvSpPr>
        <p:spPr>
          <a:xfrm>
            <a:off x="1114425" y="8744694"/>
            <a:ext cx="3403204" cy="780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Inteira (ILP)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4562029" y="8639919"/>
            <a:ext cx="2290911" cy="95175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9" name="Text 87"/>
          <p:cNvSpPr/>
          <p:nvPr/>
        </p:nvSpPr>
        <p:spPr>
          <a:xfrm>
            <a:off x="4714429" y="8744694"/>
            <a:ext cx="2062311" cy="780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Exato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6852940" y="8639919"/>
            <a:ext cx="1963638" cy="95175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1" name="Text 89"/>
          <p:cNvSpPr/>
          <p:nvPr/>
        </p:nvSpPr>
        <p:spPr>
          <a:xfrm>
            <a:off x="6967240" y="8744694"/>
            <a:ext cx="1735038" cy="780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Alternativa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8816578" y="8639919"/>
            <a:ext cx="8509397" cy="95175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3" name="Text 91"/>
          <p:cNvSpPr/>
          <p:nvPr/>
        </p:nvSpPr>
        <p:spPr>
          <a:xfrm>
            <a:off x="8968978" y="8744694"/>
            <a:ext cx="8459879" cy="780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Inviável em escala completa: até 4,46 G coeficientes (p=11); viável como refinamento pós-greedy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5" name="Text 93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96" name="Text 94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EXPERIMENTAL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Experimentos Alternativos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52500" y="2105025"/>
            <a:ext cx="88220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Instância </a:t>
            </a: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</a:t>
            </a: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n=15, k=9, p=6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514600"/>
            <a:ext cx="8020050" cy="4608909"/>
          </a:xfrm>
          <a:prstGeom prst="roundRect">
            <a:avLst>
              <a:gd name="adj" fmla="val 1240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62025" y="2524125"/>
            <a:ext cx="2302222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62025" y="3028950"/>
            <a:ext cx="2302222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114425" y="2647950"/>
            <a:ext cx="2073622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64247" y="2524125"/>
            <a:ext cx="1180058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264247" y="3028950"/>
            <a:ext cx="1180058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340447" y="2647950"/>
            <a:ext cx="95145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44305" y="2524125"/>
            <a:ext cx="768697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444305" y="3028950"/>
            <a:ext cx="768697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20505" y="2647950"/>
            <a:ext cx="540097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|SB|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13003" y="2524125"/>
            <a:ext cx="3750022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213003" y="3028950"/>
            <a:ext cx="3750022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365403" y="2647950"/>
            <a:ext cx="355772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2025" y="3856434"/>
            <a:ext cx="23022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114425" y="3152775"/>
            <a:ext cx="2073622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baseline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64247" y="3856434"/>
            <a:ext cx="118005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340447" y="3152775"/>
            <a:ext cx="951458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10,035 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44305" y="3856434"/>
            <a:ext cx="7686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20505" y="3152775"/>
            <a:ext cx="540097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213003" y="3856434"/>
            <a:ext cx="37500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365403" y="3152775"/>
            <a:ext cx="3557723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2025" y="3865959"/>
            <a:ext cx="2302222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962025" y="4669631"/>
            <a:ext cx="23022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114425" y="3970734"/>
            <a:ext cx="2073622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Greedy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264247" y="3865959"/>
            <a:ext cx="1180058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3264247" y="4669631"/>
            <a:ext cx="118005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340447" y="3970734"/>
            <a:ext cx="951458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0,743 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444305" y="3865959"/>
            <a:ext cx="768697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4444305" y="4669631"/>
            <a:ext cx="7686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520505" y="3970734"/>
            <a:ext cx="54009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213003" y="3865959"/>
            <a:ext cx="3750022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5213003" y="4669631"/>
            <a:ext cx="37500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365403" y="3970734"/>
            <a:ext cx="3557723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13,5× mais rápido; +8,6% em |SB|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62025" y="5482828"/>
            <a:ext cx="23022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1114425" y="4783931"/>
            <a:ext cx="2073622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GRASP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264247" y="5482828"/>
            <a:ext cx="118005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3340447" y="4783931"/>
            <a:ext cx="951458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48,813 s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444305" y="5482828"/>
            <a:ext cx="7686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4520505" y="4783931"/>
            <a:ext cx="54009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213003" y="5482828"/>
            <a:ext cx="37500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5365403" y="4783931"/>
            <a:ext cx="3557723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caro; qualidade próxima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62025" y="5492353"/>
            <a:ext cx="2302222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962025" y="6296025"/>
            <a:ext cx="23022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1114425" y="5597128"/>
            <a:ext cx="2073622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Relax. Lagrangiana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3264247" y="5492353"/>
            <a:ext cx="1180058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3264247" y="6296025"/>
            <a:ext cx="118005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3340447" y="5597128"/>
            <a:ext cx="951458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23,948 s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444305" y="5492353"/>
            <a:ext cx="768697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4444305" y="6296025"/>
            <a:ext cx="7686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4520505" y="5597128"/>
            <a:ext cx="54009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5213003" y="5492353"/>
            <a:ext cx="3750022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5213003" y="6296025"/>
            <a:ext cx="37500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5365403" y="5597128"/>
            <a:ext cx="3557723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59,58; reparo = greedy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114425" y="6410325"/>
            <a:ext cx="2073622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Generation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3340447" y="6410325"/>
            <a:ext cx="951458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18,551 s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4520505" y="6410325"/>
            <a:ext cx="540097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365403" y="6410325"/>
            <a:ext cx="3557723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relaxação LP + pricing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9315450" y="2105025"/>
            <a:ext cx="88220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Instância </a:t>
            </a: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large-demo </a:t>
            </a: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n=16, k=10, p=6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9315450" y="2514600"/>
            <a:ext cx="8020050" cy="3498652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9324975" y="2524125"/>
            <a:ext cx="2231231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Shape 64"/>
          <p:cNvSpPr/>
          <p:nvPr/>
        </p:nvSpPr>
        <p:spPr>
          <a:xfrm>
            <a:off x="9324975" y="3028950"/>
            <a:ext cx="2231231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9477375" y="2647950"/>
            <a:ext cx="2002631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1556206" y="2524125"/>
            <a:ext cx="1283940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11556206" y="3028950"/>
            <a:ext cx="1283940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11632406" y="2647950"/>
            <a:ext cx="1055340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2840146" y="2524125"/>
            <a:ext cx="768697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Shape 70"/>
          <p:cNvSpPr/>
          <p:nvPr/>
        </p:nvSpPr>
        <p:spPr>
          <a:xfrm>
            <a:off x="12840146" y="3028950"/>
            <a:ext cx="768697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Text 71"/>
          <p:cNvSpPr/>
          <p:nvPr/>
        </p:nvSpPr>
        <p:spPr>
          <a:xfrm>
            <a:off x="12916346" y="2647950"/>
            <a:ext cx="540097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|SB|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3608844" y="2524125"/>
            <a:ext cx="3717131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Shape 73"/>
          <p:cNvSpPr/>
          <p:nvPr/>
        </p:nvSpPr>
        <p:spPr>
          <a:xfrm>
            <a:off x="13608844" y="3028950"/>
            <a:ext cx="3717131" cy="190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6" name="Text 74"/>
          <p:cNvSpPr/>
          <p:nvPr/>
        </p:nvSpPr>
        <p:spPr>
          <a:xfrm>
            <a:off x="13761244" y="2647950"/>
            <a:ext cx="3523845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9324975" y="3559373"/>
            <a:ext cx="223123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8" name="Text 76"/>
          <p:cNvSpPr/>
          <p:nvPr/>
        </p:nvSpPr>
        <p:spPr>
          <a:xfrm>
            <a:off x="9477375" y="3152775"/>
            <a:ext cx="2002631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baseline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11556206" y="3559373"/>
            <a:ext cx="128394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0" name="Text 78"/>
          <p:cNvSpPr/>
          <p:nvPr/>
        </p:nvSpPr>
        <p:spPr>
          <a:xfrm>
            <a:off x="11632406" y="3152775"/>
            <a:ext cx="1055340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24,895 s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2840146" y="3559373"/>
            <a:ext cx="7686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Text 80"/>
          <p:cNvSpPr/>
          <p:nvPr/>
        </p:nvSpPr>
        <p:spPr>
          <a:xfrm>
            <a:off x="12916346" y="3152775"/>
            <a:ext cx="540097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3608844" y="3559373"/>
            <a:ext cx="371713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4" name="Text 82"/>
          <p:cNvSpPr/>
          <p:nvPr/>
        </p:nvSpPr>
        <p:spPr>
          <a:xfrm>
            <a:off x="13761244" y="3152775"/>
            <a:ext cx="352384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9324975" y="3568898"/>
            <a:ext cx="2231231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6" name="Shape 84"/>
          <p:cNvSpPr/>
          <p:nvPr/>
        </p:nvSpPr>
        <p:spPr>
          <a:xfrm>
            <a:off x="9324975" y="4372570"/>
            <a:ext cx="223123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Text 85"/>
          <p:cNvSpPr/>
          <p:nvPr/>
        </p:nvSpPr>
        <p:spPr>
          <a:xfrm>
            <a:off x="9477375" y="3673673"/>
            <a:ext cx="2002631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Greedy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11556206" y="3568898"/>
            <a:ext cx="1283940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9" name="Shape 87"/>
          <p:cNvSpPr/>
          <p:nvPr/>
        </p:nvSpPr>
        <p:spPr>
          <a:xfrm>
            <a:off x="11556206" y="4372570"/>
            <a:ext cx="128394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0" name="Text 88"/>
          <p:cNvSpPr/>
          <p:nvPr/>
        </p:nvSpPr>
        <p:spPr>
          <a:xfrm>
            <a:off x="11632406" y="3673673"/>
            <a:ext cx="105534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1,208 s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12840146" y="3568898"/>
            <a:ext cx="768697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2" name="Shape 90"/>
          <p:cNvSpPr/>
          <p:nvPr/>
        </p:nvSpPr>
        <p:spPr>
          <a:xfrm>
            <a:off x="12840146" y="4372570"/>
            <a:ext cx="7686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3" name="Text 91"/>
          <p:cNvSpPr/>
          <p:nvPr/>
        </p:nvSpPr>
        <p:spPr>
          <a:xfrm>
            <a:off x="12916346" y="3673673"/>
            <a:ext cx="54009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13608844" y="3568898"/>
            <a:ext cx="3717131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5" name="Shape 93"/>
          <p:cNvSpPr/>
          <p:nvPr/>
        </p:nvSpPr>
        <p:spPr>
          <a:xfrm>
            <a:off x="13608844" y="4372570"/>
            <a:ext cx="371713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6" name="Text 94"/>
          <p:cNvSpPr/>
          <p:nvPr/>
        </p:nvSpPr>
        <p:spPr>
          <a:xfrm>
            <a:off x="13761244" y="3673673"/>
            <a:ext cx="3523845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20,6× mais rápido; +9,5% em |SB|</a:t>
            </a:r>
            <a:endParaRPr lang="en-US" sz="1800" dirty="0"/>
          </a:p>
        </p:txBody>
      </p:sp>
      <p:sp>
        <p:nvSpPr>
          <p:cNvPr id="97" name="Shape 95"/>
          <p:cNvSpPr/>
          <p:nvPr/>
        </p:nvSpPr>
        <p:spPr>
          <a:xfrm>
            <a:off x="9324975" y="5185767"/>
            <a:ext cx="223123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8" name="Text 96"/>
          <p:cNvSpPr/>
          <p:nvPr/>
        </p:nvSpPr>
        <p:spPr>
          <a:xfrm>
            <a:off x="9477375" y="4486870"/>
            <a:ext cx="2002631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GRASP</a:t>
            </a:r>
            <a:endParaRPr lang="en-US" sz="1800" dirty="0"/>
          </a:p>
        </p:txBody>
      </p:sp>
      <p:sp>
        <p:nvSpPr>
          <p:cNvPr id="99" name="Shape 97"/>
          <p:cNvSpPr/>
          <p:nvPr/>
        </p:nvSpPr>
        <p:spPr>
          <a:xfrm>
            <a:off x="11556206" y="5185767"/>
            <a:ext cx="128394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0" name="Text 98"/>
          <p:cNvSpPr/>
          <p:nvPr/>
        </p:nvSpPr>
        <p:spPr>
          <a:xfrm>
            <a:off x="11632406" y="4486870"/>
            <a:ext cx="105534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143,862 s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12840146" y="5185767"/>
            <a:ext cx="7686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2" name="Text 100"/>
          <p:cNvSpPr/>
          <p:nvPr/>
        </p:nvSpPr>
        <p:spPr>
          <a:xfrm>
            <a:off x="12916346" y="4486870"/>
            <a:ext cx="54009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13608844" y="5185767"/>
            <a:ext cx="371713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4" name="Text 102"/>
          <p:cNvSpPr/>
          <p:nvPr/>
        </p:nvSpPr>
        <p:spPr>
          <a:xfrm>
            <a:off x="13761244" y="4486870"/>
            <a:ext cx="3523845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5,8× mais lento; melhora marginal</a:t>
            </a:r>
            <a:endParaRPr lang="en-US" sz="1800" dirty="0"/>
          </a:p>
        </p:txBody>
      </p:sp>
      <p:sp>
        <p:nvSpPr>
          <p:cNvPr id="105" name="Shape 103"/>
          <p:cNvSpPr/>
          <p:nvPr/>
        </p:nvSpPr>
        <p:spPr>
          <a:xfrm>
            <a:off x="9324975" y="5195292"/>
            <a:ext cx="2231231" cy="80843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6" name="Text 104"/>
          <p:cNvSpPr/>
          <p:nvPr/>
        </p:nvSpPr>
        <p:spPr>
          <a:xfrm>
            <a:off x="9477375" y="5300067"/>
            <a:ext cx="2002631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+ poda local</a:t>
            </a:r>
            <a:endParaRPr lang="en-US" sz="1800" dirty="0"/>
          </a:p>
        </p:txBody>
      </p:sp>
      <p:sp>
        <p:nvSpPr>
          <p:cNvPr id="107" name="Shape 105"/>
          <p:cNvSpPr/>
          <p:nvPr/>
        </p:nvSpPr>
        <p:spPr>
          <a:xfrm>
            <a:off x="11556206" y="5195292"/>
            <a:ext cx="1283940" cy="80843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8" name="Text 106"/>
          <p:cNvSpPr/>
          <p:nvPr/>
        </p:nvSpPr>
        <p:spPr>
          <a:xfrm>
            <a:off x="11632406" y="5300067"/>
            <a:ext cx="1055340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28,268 s</a:t>
            </a:r>
            <a:endParaRPr lang="en-US" sz="1800" dirty="0"/>
          </a:p>
        </p:txBody>
      </p:sp>
      <p:sp>
        <p:nvSpPr>
          <p:cNvPr id="109" name="Shape 107"/>
          <p:cNvSpPr/>
          <p:nvPr/>
        </p:nvSpPr>
        <p:spPr>
          <a:xfrm>
            <a:off x="12840146" y="5195292"/>
            <a:ext cx="768697" cy="80843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0" name="Text 108"/>
          <p:cNvSpPr/>
          <p:nvPr/>
        </p:nvSpPr>
        <p:spPr>
          <a:xfrm>
            <a:off x="12916346" y="5300067"/>
            <a:ext cx="540097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800" dirty="0"/>
          </a:p>
        </p:txBody>
      </p:sp>
      <p:sp>
        <p:nvSpPr>
          <p:cNvPr id="111" name="Shape 109"/>
          <p:cNvSpPr/>
          <p:nvPr/>
        </p:nvSpPr>
        <p:spPr>
          <a:xfrm>
            <a:off x="13608844" y="5195292"/>
            <a:ext cx="3717131" cy="80843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2" name="Text 110"/>
          <p:cNvSpPr/>
          <p:nvPr/>
        </p:nvSpPr>
        <p:spPr>
          <a:xfrm>
            <a:off x="13761244" y="5300067"/>
            <a:ext cx="3523845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candidatos redundantes removidos</a:t>
            </a:r>
            <a:endParaRPr lang="en-US" sz="1800" dirty="0"/>
          </a:p>
        </p:txBody>
      </p:sp>
      <p:sp>
        <p:nvSpPr>
          <p:cNvPr id="113" name="Shape 111"/>
          <p:cNvSpPr/>
          <p:nvPr/>
        </p:nvSpPr>
        <p:spPr>
          <a:xfrm>
            <a:off x="952500" y="7333059"/>
            <a:ext cx="5359301" cy="1676400"/>
          </a:xfrm>
          <a:prstGeom prst="roundRect">
            <a:avLst>
              <a:gd name="adj" fmla="val 340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4" name="Text 112"/>
          <p:cNvSpPr/>
          <p:nvPr/>
        </p:nvSpPr>
        <p:spPr>
          <a:xfrm>
            <a:off x="1152525" y="7494984"/>
            <a:ext cx="54551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Greedy</a:t>
            </a:r>
            <a:endParaRPr lang="en-US" sz="1800" dirty="0"/>
          </a:p>
        </p:txBody>
      </p:sp>
      <p:sp>
        <p:nvSpPr>
          <p:cNvPr id="115" name="Text 113"/>
          <p:cNvSpPr/>
          <p:nvPr/>
        </p:nvSpPr>
        <p:spPr>
          <a:xfrm>
            <a:off x="1152525" y="7818834"/>
            <a:ext cx="510802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alternativa medida: speedup de 13,5–20,6× com custo inferior a 10% em |SB|.</a:t>
            </a:r>
            <a:endParaRPr lang="en-US" sz="1800" dirty="0"/>
          </a:p>
        </p:txBody>
      </p:sp>
      <p:sp>
        <p:nvSpPr>
          <p:cNvPr id="116" name="Shape 114"/>
          <p:cNvSpPr/>
          <p:nvPr/>
        </p:nvSpPr>
        <p:spPr>
          <a:xfrm>
            <a:off x="6464201" y="7333059"/>
            <a:ext cx="5359450" cy="1676400"/>
          </a:xfrm>
          <a:prstGeom prst="roundRect">
            <a:avLst>
              <a:gd name="adj" fmla="val 3409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7" name="Text 115"/>
          <p:cNvSpPr/>
          <p:nvPr/>
        </p:nvSpPr>
        <p:spPr>
          <a:xfrm>
            <a:off x="6664226" y="7494984"/>
            <a:ext cx="5455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GRASP</a:t>
            </a:r>
            <a:endParaRPr lang="en-US" sz="1800" dirty="0"/>
          </a:p>
        </p:txBody>
      </p:sp>
      <p:sp>
        <p:nvSpPr>
          <p:cNvPr id="118" name="Text 116"/>
          <p:cNvSpPr/>
          <p:nvPr/>
        </p:nvSpPr>
        <p:spPr>
          <a:xfrm>
            <a:off x="6664226" y="7818834"/>
            <a:ext cx="510818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o eixo de metaheurísticas; custo extra não compensou nos benchmarks atuais.</a:t>
            </a:r>
            <a:endParaRPr lang="en-US" sz="1800" dirty="0"/>
          </a:p>
        </p:txBody>
      </p:sp>
      <p:sp>
        <p:nvSpPr>
          <p:cNvPr id="119" name="Shape 117"/>
          <p:cNvSpPr/>
          <p:nvPr/>
        </p:nvSpPr>
        <p:spPr>
          <a:xfrm>
            <a:off x="11976050" y="7333059"/>
            <a:ext cx="5359450" cy="1676400"/>
          </a:xfrm>
          <a:prstGeom prst="roundRect">
            <a:avLst>
              <a:gd name="adj" fmla="val 3409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0" name="Text 118"/>
          <p:cNvSpPr/>
          <p:nvPr/>
        </p:nvSpPr>
        <p:spPr>
          <a:xfrm>
            <a:off x="12176075" y="7494984"/>
            <a:ext cx="5455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Relax. Lagrangiana + Col. Gen.</a:t>
            </a:r>
            <a:endParaRPr lang="en-US" sz="1800" dirty="0"/>
          </a:p>
        </p:txBody>
      </p:sp>
      <p:sp>
        <p:nvSpPr>
          <p:cNvPr id="121" name="Text 119"/>
          <p:cNvSpPr/>
          <p:nvPr/>
        </p:nvSpPr>
        <p:spPr>
          <a:xfrm>
            <a:off x="12176075" y="7818834"/>
            <a:ext cx="510818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Contribuição científica como lower bounds e alternativas ao ILP direto, não como solucionadores primários.</a:t>
            </a:r>
            <a:endParaRPr lang="en-US" sz="1800" dirty="0"/>
          </a:p>
        </p:txBody>
      </p:sp>
      <p:sp>
        <p:nvSpPr>
          <p:cNvPr id="122" name="Shape 120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3" name="Text 121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124" name="Text 122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" y="512064"/>
            <a:ext cx="161848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VALIDAÇÃO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804672"/>
            <a:ext cx="1618488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2E8F0"/>
                </a:solidFill>
                <a:latin typeface="Arial"/>
              </a:rPr>
              <a:t>Stochastic Greedy concentra o maior ganho de tempo</a:t>
            </a:r>
          </a:p>
        </p:txBody>
      </p:sp>
      <p:pic>
        <p:nvPicPr>
          <p:cNvPr id="4" name="Picture 3" descr="chart_experiment_runtime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298448"/>
            <a:ext cx="16733520" cy="7388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0976" y="9656064"/>
            <a:ext cx="64008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PUCPR · Complexidade de Algoritmos · RA03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0" y="9656064"/>
            <a:ext cx="4389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Arial"/>
              </a:rPr>
              <a:t>Gráfico 4 de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" y="512064"/>
            <a:ext cx="161848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804672"/>
            <a:ext cx="1618488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2E8F0"/>
                </a:solidFill>
                <a:latin typeface="Arial"/>
              </a:rPr>
              <a:t>O melhor compromisso medido fica no Stochastic Greedy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9656064"/>
            <a:ext cx="64008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PUCPR · Complexidade de Algoritmos · RA03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0" y="9656064"/>
            <a:ext cx="4389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Arial"/>
              </a:rPr>
              <a:t>Gráfico 5 de 5</a:t>
            </a:r>
          </a:p>
        </p:txBody>
      </p:sp>
      <p:pic>
        <p:nvPicPr>
          <p:cNvPr id="7" name="Picture 6" descr="chart_experiment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298448"/>
            <a:ext cx="16733520" cy="73883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CRÍTICA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e Melhorias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52500" y="2143125"/>
            <a:ext cx="80010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686050"/>
            <a:ext cx="57150" cy="5715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143000" y="2581275"/>
            <a:ext cx="65502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ILP direto inviável em escala completa (memória e tempo).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3143250"/>
            <a:ext cx="57150" cy="5715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143000" y="3038475"/>
            <a:ext cx="729567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não garante solução ótima global — apenas aproximação com fator H(n).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3943350"/>
            <a:ext cx="57150" cy="5715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143000" y="3838575"/>
            <a:ext cx="729567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exata de cobertura em escala completa é computacionalmente cara.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4743450"/>
            <a:ext cx="57150" cy="5715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143000" y="4638675"/>
            <a:ext cx="729567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Escalabilidade limitada para n &gt; 27 — crescimento combinatorial de |S₁₅| e |Sₚ|.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5543550"/>
            <a:ext cx="57150" cy="5715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143000" y="5438775"/>
            <a:ext cx="56991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ainda alto para p=13 (~3 h) e p=11 (~3,4 h).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07177" y="2143125"/>
            <a:ext cx="96011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MELHORIAS E TRABALHOS FUTUROS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07177" y="2686050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797677" y="2581275"/>
            <a:ext cx="86483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ILP pós-greedy como refinamento sobre subconjunto reduzido de candidatos.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07177" y="3124200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797677" y="3019425"/>
            <a:ext cx="693332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and Bound / Branch-and-Price sobre espaço reduzido.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607177" y="3562350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797677" y="3457575"/>
            <a:ext cx="77019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Generation completa com geração de colunas por demanda.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607177" y="4000500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797677" y="3895725"/>
            <a:ext cx="80462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Annealing ou GRASP paralelo com maior número de restarts.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607177" y="4438650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797677" y="4333875"/>
            <a:ext cx="87364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Bitsets vetorizados, Cython ou C/C++ para gargalos de atualização de count[].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607177" y="4876800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797677" y="4772025"/>
            <a:ext cx="84135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trabalho em múltiplos processos ou máquinas (cluster/MPI).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607177" y="5314950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797677" y="5210175"/>
            <a:ext cx="879395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Relaxação Lagrangiana com subgradiente para bounds mais apertados iterativamente.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Técnica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52500" y="2714625"/>
            <a:ext cx="16383000" cy="1219200"/>
          </a:xfrm>
          <a:prstGeom prst="roundRect">
            <a:avLst>
              <a:gd name="adj" fmla="val 468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152525" y="28956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838325" y="2895600"/>
            <a:ext cx="1571682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Set Cover </a:t>
            </a: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estratégia mais eficaz para esta escala: escalável, com garantia formal H(n)·OPT e implementação viável para N₁₅ = 3.268.760.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105275"/>
            <a:ext cx="16383000" cy="1219200"/>
          </a:xfrm>
          <a:prstGeom prst="roundRect">
            <a:avLst>
              <a:gd name="adj" fmla="val 4688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152525" y="42862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838325" y="4286250"/>
            <a:ext cx="1571682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resultados reais ficaram entre </a:t>
            </a:r>
            <a:r>
              <a:rPr lang="en-US" sz="2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1,79× e 3,78× </a:t>
            </a: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LB-Schönheim — de </a:t>
            </a:r>
            <a:r>
              <a:rPr lang="en-US" sz="2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a 9× melhor </a:t>
            </a: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pior caso teórico de 15,4×.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52500" y="5495925"/>
            <a:ext cx="16383000" cy="1219200"/>
          </a:xfrm>
          <a:prstGeom prst="roundRect">
            <a:avLst>
              <a:gd name="adj" fmla="val 468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52525" y="56769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838325" y="5676900"/>
            <a:ext cx="1571682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Greedy </a:t>
            </a: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melhor alternativa prática: speedup de 13,5–20,6× com custo inferior a 10% em tamanho de solução.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52500" y="6886575"/>
            <a:ext cx="16383000" cy="790575"/>
          </a:xfrm>
          <a:prstGeom prst="roundRect">
            <a:avLst>
              <a:gd name="adj" fmla="val 722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152525" y="70675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838325" y="7067550"/>
            <a:ext cx="145643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Paralelismo é eficaz onde o volume justifica</a:t>
            </a: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Prog. 1 (4,3×) e Prog. 5 (p=11 com 1,36 M updates/iter).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52500" y="7848600"/>
            <a:ext cx="16383000" cy="1219200"/>
          </a:xfrm>
          <a:prstGeom prst="roundRect">
            <a:avLst>
              <a:gd name="adj" fmla="val 468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152525" y="802957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838325" y="8029575"/>
            <a:ext cx="1571682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Abordagens exatas (ILP, B&amp;B) e metaheurísticas completas (GRASP paralelo, Simulated Annealing) permanecem como </a:t>
            </a: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trabalhos futuros viáveis </a:t>
            </a: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subescalas ou hardware distribuído.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4869</Words>
  <Application>Microsoft Office PowerPoint</Application>
  <PresentationFormat>Personalizar</PresentationFormat>
  <Paragraphs>536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Jafte Carneiro Fagundes da Silva</cp:lastModifiedBy>
  <cp:revision>2</cp:revision>
  <dcterms:created xsi:type="dcterms:W3CDTF">2026-06-24T19:14:35Z</dcterms:created>
  <dcterms:modified xsi:type="dcterms:W3CDTF">2026-06-24T20:49:08Z</dcterms:modified>
</cp:coreProperties>
</file>