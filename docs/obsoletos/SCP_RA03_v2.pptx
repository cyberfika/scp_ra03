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949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  <a:latin typeface="Segoe UI"/>
              </a:rPr>
              <a:t>Cobertura de Combinações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  <a:latin typeface="Segoe UI"/>
              </a:rPr>
              <a:t>Minimum Set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606040"/>
            <a:ext cx="761695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  <a:latin typeface="Segoe UI"/>
              </a:rPr>
              <a:t>Trabalho Avaliativo  ·  RA03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2E8F0"/>
                </a:solidFill>
                <a:latin typeface="Segoe UI"/>
              </a:rPr>
              <a:t>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Pontifícia Universidade Católica do Paraná — PUCPR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13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Bacharelado em Ciência da Computação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206240"/>
            <a:ext cx="7616952" cy="12700"/>
          </a:xfrm>
          <a:prstGeom prst="rect">
            <a:avLst/>
          </a:prstGeom>
          <a:solidFill>
            <a:srgbClr val="16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343400"/>
            <a:ext cx="5788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94A3B8"/>
                </a:solidFill>
                <a:latin typeface="Segoe UI"/>
              </a:rPr>
              <a:t>Aluno: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E2E8F0"/>
                </a:solidFill>
                <a:latin typeface="Segoe UI"/>
              </a:rPr>
              <a:t>Jafte Carneiro Fagundes da Silva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94A3B8"/>
                </a:solidFill>
                <a:latin typeface="Segoe UI"/>
              </a:rPr>
              <a:t>Professor: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>Edson Emilio Scalabrin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94A3B8"/>
                </a:solidFill>
                <a:latin typeface="Segoe UI"/>
              </a:rPr>
              <a:t>Curitiba,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Modelagem do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Minimum Set Cover sobre combinações binárias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8BDF8"/>
                </a:solidFill>
                <a:latin typeface="Segoe UI"/>
              </a:rPr>
              <a:t>Universo e Conjuntos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34D399"/>
                </a:solidFill>
                <a:latin typeface="Segoe UI"/>
              </a:rPr>
              <a:t>U = {1, 2, ..., 25}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>S₁₅ = C(25,15) = 3.268.760 subconjuntos de tamanho 15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>Sₚ = C(25,p)    p ∈ {14, 13, 12, 11}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8BDF8"/>
                </a:solidFill>
                <a:latin typeface="Segoe UI"/>
              </a:rPr>
              <a:t>Objetivo Formal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>Para cada p, encontrar SB₁₅,ₚ ⊆ S₁₅ tal que: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4D399"/>
                </a:solidFill>
                <a:latin typeface="Segoe UI"/>
              </a:rPr>
              <a:t>   ∀ Y ∈ Sₚ,  ∃ X ∈ SB₁₅,ₚ :  Y ⊆ X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87171"/>
                </a:solidFill>
                <a:latin typeface="Segoe UI"/>
              </a:rPr>
              <a:t>Instância de Minimum Set Cover — NP-difícil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515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Formulação ILP (Programação Linear Inteira)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LP = variáveis contínuas xᵢ ∈ [0,1]  →  relaxação convexa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ILP = variáveis binárias xᵢ ∈ {0,1}  →  exato, mas NP-difícil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74519"/>
            <a:ext cx="59436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965959"/>
            <a:ext cx="5669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E2E8F0"/>
                </a:solidFill>
                <a:latin typeface="Courier New"/>
              </a:rPr>
              <a:t>xᵢ ∈ {0,1}   para cada Xᵢ ∈ S₁₅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38BDF8"/>
                </a:solidFill>
                <a:latin typeface="Courier New"/>
              </a:rPr>
              <a:t>minimizar:   Σ xᵢ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38BDF8"/>
                </a:solidFill>
                <a:latin typeface="Courier New"/>
              </a:rPr>
              <a:t>sujeito a:   Σ_{i: Y⊆Xᵢ} xᵢ ≥ 1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94A3B8"/>
                </a:solidFill>
                <a:latin typeface="Courier New"/>
              </a:rPr>
              <a:t>             para todo Y ∈ Sₚ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03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Cardinalidades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0" y="4023360"/>
          <a:ext cx="594359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80259"/>
                <a:gridCol w="26746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Conjunto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Fórmula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Cardinalidade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S₁₅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C(25,15)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3.268.760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S₁₄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C(25,14)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S₁₃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C(25,13)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S₁₂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C(25,12)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S₁₁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C(25,11)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Por que ILP Direto é Inviável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Escala proibitiva em todas as instâncias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Modelo ILP sobre S₁₅ completo — dimensões por valor de p: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087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514600"/>
                <a:gridCol w="2514600"/>
                <a:gridCol w="3429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Variáveis (|S₁₅|)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Restrições (|Sₚ|)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Coef. não-nulos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Viável?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3.268.760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49.031.400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7171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3.268.760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343.219.800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7171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3.268.760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1.487.285.800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7171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3.268.760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4.461.857.400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7171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Coeficientes não-nulos = C(25,p) × C(25−p, 15−p)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Exemplo p=11:  4.457.400 × 1.001 = 4,46 bilhões de coeficientes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77639"/>
            <a:ext cx="539496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LP — Relaxação Contínua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xᵢ ∈ [0,1]  →  programação linear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Solúvel em tempo polinomial (Simplex/IPM)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Fornece lower bound (LB-LP)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Não garante solução inteira válida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977639"/>
            <a:ext cx="580644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16052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ILP — Programação Linear Inteira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xᵢ ∈ {0,1}  →  variáveis binárias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Exato: encontra SB mínimo global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NP-difícil: inviável em escala completa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Estratégia: ILP pós-greedy sobre candidatos reduzidos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Lower Bounds — Critério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Limites inferiores para |SB₁₅,ₚ|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LB-LP  (contagem direta)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Cada X ∈ S₁₅ cobre exatamente C(15,p) subconjuntos de tamanho p.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Logo: |SB| ≥ ⌈ C(25,p) / C(15,p) ⌉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Este é o mesmo limite que a relaxação LP fornece.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Cota de Schönheim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Limite combinatório mais apertado, derivado da teoria de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códigos de cobertura (covering codes).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Sempre: LB-Sch ≥ LB-LP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FBBF24"/>
                </a:solidFill>
                <a:latin typeface="Segoe UI"/>
              </a:rPr>
              <a:t>Gap vs LB-Sch  =  |SB_greedy| / LB-Sch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Mede o afastamento da solução greedy em relação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ao melhor limite inferior conhecido.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Limites inferiores por instância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481328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307592"/>
                <a:gridCol w="2020824"/>
                <a:gridCol w="2020824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C(15,p)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LB-LP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LB-Schönheim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297.160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D399"/>
                          </a:solidFill>
                          <a:latin typeface="Segoe UI"/>
                        </a:rPr>
                        <a:t>297.172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49.527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D399"/>
                          </a:solidFill>
                          <a:latin typeface="Segoe UI"/>
                        </a:rPr>
                        <a:t>58.887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11.430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D399"/>
                          </a:solidFill>
                          <a:latin typeface="Segoe UI"/>
                        </a:rPr>
                        <a:t>13.175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1.365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3.266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4D399"/>
                          </a:solidFill>
                          <a:latin typeface="Segoe UI"/>
                        </a:rPr>
                        <a:t>3.370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0" y="3200400"/>
            <a:ext cx="59436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337560"/>
            <a:ext cx="5623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BBF24"/>
                </a:solidFill>
                <a:latin typeface="Segoe UI"/>
              </a:rPr>
              <a:t>Interpretação prática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Para p=14: o greedy precisaria de pelo menos 297.160 conjuntos.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A cota de Schönheim eleva esse limite para 297.172.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Qualquer solução com |SB| = 297.172 seria ótima.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754880"/>
            <a:ext cx="5943600" cy="146304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892040"/>
            <a:ext cx="5623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Garantia teórica do greedy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|SB_greedy| ≤ H(|Sₚ|) × |OPT|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H(n) ≈ ln(n) + 0,577    →    H(5.200.300) ≈ 15,4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Garantia teórica: gap ≤ 15,4×   —   resultados: 1,79× a 3,78×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Estruturas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Representação eficiente de subconjuntos de U = {1..25}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Bitmask uint32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Cada subconjunto de U → inteiro de 25 bits (uint32)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{1,3,5} → bit 0, bit 2, bit 4 → 0b10101₂ = 21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FBBF24"/>
                </a:solidFill>
                <a:latin typeface="Segoe UI"/>
              </a:rPr>
              <a:t>Teste Y ⊆ X em O(1):   (X &amp; Y) == 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539496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Índices e Arrays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s15_index : bitmask → índice em S₁₅    O(1)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sp_index  : bitmask → índice em Sₚ      O(1)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count[]   : int32[|S₁₅|]  — cobertura atual de cada X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nao_coberto[] : bool[|Sₚ|] — alvos pendentes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Arrays NumPy uint32 — operações vetorizadas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37760"/>
            <a:ext cx="5394960" cy="128016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Seleção de estratégia (argmax de count[])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p=14, p=13 → Heap lazy (poucas atualizações/iter)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p=12       → np.argmax  (volume médio)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p=11       → Atualização paralela de count[]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51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Heap Lazy (max-heap com entradas obsoletas)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17320"/>
            <a:ext cx="59436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508760"/>
            <a:ext cx="5669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heap = [(-count_inicial, i) for i in range(N)]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heapify(heap)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# Extrai o máximo válido: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while True: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neg_cnt, i = heappop(heap)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34D399"/>
                </a:solidFill>
                <a:latin typeface="Courier New"/>
              </a:rPr>
              <a:t>    if count[i] == -neg_cnt: break  # válido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37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np.argmax  vs  Heap Lazy — decisão automática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0" y="370332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377440"/>
                <a:gridCol w="29718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Updates/iter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Estratégia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Heap lazy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6.930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Heap lazy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130.130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8BDF8"/>
                          </a:solidFill>
                          <a:latin typeface="Segoe UI"/>
                        </a:rPr>
                        <a:t>np.argmax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1.366.365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Paralelo (Pool)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0" y="53492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Limiar empírico: &gt; 10.000 updates/iter → argmax; &gt;&gt; 1M → paralelo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Algoritmo Greedy para Set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Aproximação gulosa com garantia teórica logarítmica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8BDF8"/>
                </a:solidFill>
                <a:latin typeface="Segoe UI"/>
              </a:rPr>
              <a:t>Pseudocódigo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475488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94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Entrada: S₁₅, Sₚ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Pré-proc: construir s15_index, sp_index, count[], nao_coberto[]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SB ← ∅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38BDF8"/>
                </a:solidFill>
                <a:latin typeface="Courier New"/>
              </a:rPr>
              <a:t>enquanto existir alvo não coberto: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X* ← argmax count[X]   // máximo atual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SB ← SB ∪ {X*};  count[X*] ← −1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38BDF8"/>
                </a:solidFill>
                <a:latin typeface="Courier New"/>
              </a:rPr>
              <a:t>    para cada Y ⊆ X*, |Y| = p: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    se Y não coberto: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34D399"/>
                </a:solidFill>
                <a:latin typeface="Courier New"/>
              </a:rPr>
              <a:t>            marcar Y como coberto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        para cada X ∋ Y: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>                count[X] ← count[X] − 1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34D399"/>
                </a:solidFill>
                <a:latin typeface="Courier New"/>
              </a:rPr>
              <a:t>retornar SB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6235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887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Garantia de Aproximação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|SB_greedy| ≤ H(|Sₚ|) × |OPT|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H(n) = ln(n) + γ,   γ ≈ 0,577   (constante de Euler)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H(5.200.300) ≈ 15,4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BBF24"/>
                </a:solidFill>
                <a:latin typeface="Segoe UI"/>
              </a:rPr>
              <a:t>→ greedy garante solução ≤ 15,4× o ótimo global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→ na prática: 1,79× a 3,78× (muito melhor)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562356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4290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Complexidade de Tempo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E2E8F0"/>
                </a:solidFill>
                <a:latin typeface="Segoe UI"/>
              </a:rPr>
              <a:t>Θ( K × C(k,p) × C(n−p, k−p) × log N₁₅ 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K = |SB|,   gargalo = atualização de count[]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617720"/>
            <a:ext cx="56235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Complexidade de Espaço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O(N₁₅ + Nₚ)   →   O(C(25,15) + C(25,p))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532120"/>
            <a:ext cx="5623560" cy="73152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623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87171"/>
                </a:solidFill>
                <a:latin typeface="Segoe UI"/>
              </a:rPr>
              <a:t>O greedy não garante solução ótima global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Encontra solução aproximada de qualidade mensurada pelo gap vs LB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Análise de Complexidade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Por instância — Notações Θ, O,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Notação:  N₁₅ = C(25,15) = 3.268.760 | Nₚ = C(25,p) | K = |SB_greedy| | A = C(15,p)×C(25−p,15−p)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087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43000"/>
                <a:gridCol w="1600200"/>
                <a:gridCol w="2057400"/>
                <a:gridCol w="1600200"/>
                <a:gridCol w="2057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C(15,p)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C(25−p,15−p)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A = updates/iter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K obtido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Estratégia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Tempo obs.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Segoe UI"/>
                        </a:rPr>
                        <a:t>532.555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Heap lazy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~18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6.930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Segoe UI"/>
                        </a:rPr>
                        <a:t>128.827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Heap lazy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130.130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8BDF8"/>
                          </a:solidFill>
                          <a:latin typeface="Segoe UI"/>
                        </a:rPr>
                        <a:t>38.100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8BDF8"/>
                          </a:solidFill>
                          <a:latin typeface="Segoe UI"/>
                        </a:rPr>
                        <a:t>np.argmax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~79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1.365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1.001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BBF24"/>
                          </a:solidFill>
                          <a:latin typeface="Segoe UI"/>
                        </a:rPr>
                        <a:t>1.366.365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12.733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Paralelo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~3,4 h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4612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Programa 1 — Geração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Θ(C(n,p)) por conjunto — enumera todas as combinações com itertools.combinations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Espaço: O(C(n,p)) — aloca array uint32 completo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Sequencial: ~80s total | Paralelo (multiprocessing.Pool): ~18,7s | Speedup: ~4,3×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6035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Programas 2–5 — Greedy Set Cover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87171"/>
                </a:solidFill>
                <a:latin typeface="Segoe UI"/>
              </a:rPr>
              <a:t>Gargalo:  atualização de count[]  (A updates por iteração)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Pré-proc: O(N₁₅ + Nₚ)  —  construção dos índices hash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Loop principal: Θ(K × A × log N₁₅)  com heap;  Θ(K × (A + N₁₅))  com argmax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Espaço: O(N₁₅ + Nₚ)  ≈  O(8,5 M) uint32  ≈  34 MB por instância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92040"/>
            <a:ext cx="11430000" cy="132588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Comparação: Ω, Θ, O por caso de uso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Θ (caso médio/esperado para distribuição uniforme de Sₚ)  —  Ω (melhor caso: SB cobre tudo na 1ª iteração — improvável)  —  O (pior caso: greedy precisa de |Sₚ| iterações)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Na prática: K &lt;&lt; |Sₚ|;  para p=11: K=12.733 vs Nₚ=4.457.400 (0,3% das iterações do pior caso)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Gargalos Computacionais e Paralelismo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Onde o tempo é gasto e onde o paralelismo compensa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492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Programa 1 — Geração Paralela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5 conjuntos (S₁₁..S₁₅) são independentes entre si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multiprocessing.Pool.map → 5 workers simultâneos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Sequencial: ~80s   |   Paralelo: ~18,7s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Speedup observado: ~4,3×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Overhead Windows (spawn): mais lento que Linux (fork)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4924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Programa 5 (p=11) — Atualização Paralela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1.366.365 updates/iter → volume justifica overhead IPC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Estratégia: Pool criado uma vez antes do loop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Workers decrementam count[] em batches de Y's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Argmax permanece sequencial (depende do count[] completo)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51560"/>
            <a:ext cx="5943600" cy="438912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F87171"/>
                </a:solidFill>
                <a:latin typeface="Segoe UI"/>
              </a:rPr>
              <a:t>Por que p=14, 13, 12 não foram paralelizados?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  <a:latin typeface="Segoe UI"/>
              </a:rPr>
              <a:t>p=14 →   165 updates/iter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IPC overhead &gt;&gt; trabalho útil por iteração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Heap lazy já é eficiente: log(3,27M) ≈ 22 operações/extração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  <a:latin typeface="Segoe UI"/>
              </a:rPr>
              <a:t>p=13 →   6.930 updates/iter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Volume ainda pequeno vs. custo de serialização IPC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Heap lazy ainda compensa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  <a:latin typeface="Segoe UI"/>
              </a:rPr>
              <a:t>p=12 →   130.130 updates/iter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np.argmax vetorizado: O(N₁₅) ≈ 3,27M operações NumPy/iter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</a:rPr>
              <a:t>  Borderline: NumPy puro + overhead IPC = empate ou ganho marginal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34D399"/>
                </a:solidFill>
                <a:latin typeface="Segoe UI"/>
              </a:rPr>
              <a:t>p=11 →   1.366.365 updates/iter  ✓ paralelo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4D399"/>
                </a:solidFill>
                <a:latin typeface="Segoe UI"/>
              </a:rPr>
              <a:t>  Volume suficiente para amortizar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532120"/>
            <a:ext cx="5349240" cy="73152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62356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Segoe UI"/>
              </a:rPr>
              <a:t>Critério geral: paralelizar quando updates/iter &gt;&gt; custo de IPC (~10k–100k threshold)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Resultados Principais  (n=25, k=15)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Greedy Set Cover — soluções obtidas vs lower 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087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600200"/>
                <a:gridCol w="1485900"/>
                <a:gridCol w="1485900"/>
                <a:gridCol w="1714500"/>
                <a:gridCol w="1714500"/>
                <a:gridCol w="1371600"/>
                <a:gridCol w="14859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|Sₚ|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LB-LP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LB-Sch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|SB_greedy|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Gap vs LB-Sch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% de S₁₅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297.160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297.172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Segoe UI"/>
                        </a:rPr>
                        <a:t>532.555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BBF24"/>
                          </a:solidFill>
                          <a:latin typeface="Segoe UI"/>
                        </a:rPr>
                        <a:t>1,79×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~18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16,3%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49.527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58.887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Segoe UI"/>
                        </a:rPr>
                        <a:t>128.827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BBF24"/>
                          </a:solidFill>
                          <a:latin typeface="Segoe UI"/>
                        </a:rPr>
                        <a:t>2,19×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~3 h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3,9%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5.200.300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11.430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13.175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8BDF8"/>
                          </a:solidFill>
                          <a:latin typeface="Segoe UI"/>
                        </a:rPr>
                        <a:t>38.100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BBF24"/>
                          </a:solidFill>
                          <a:latin typeface="Segoe UI"/>
                        </a:rPr>
                        <a:t>2,89×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~79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1,2%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4.457.400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3.266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3.370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12.733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BBF24"/>
                          </a:solidFill>
                          <a:latin typeface="Segoe UI"/>
                        </a:rPr>
                        <a:t>3,78×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~3,4 h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0,4%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3154680"/>
            <a:ext cx="11430000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Interpretação dos Resultados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Garantia teórica: gap ≤ H(5.200.300) ≈ 15,4×   —   gap real: 1,79× a 3,78×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Segoe UI"/>
              </a:rPr>
              <a:t>Greedy ficou 4× a 9× melhor que o pior caso teórico garantido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p=14 usa 16,3% de S₁₅ para cobrir 100% de S₁₄   —   p=11 usa apenas 0,4%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754880"/>
            <a:ext cx="11430000" cy="150876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Auditoria de Cobertura Exata  (audit_cobertura.py)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p=11: APROVADO — 100% de S₁₁ coberto (verificação exata, sem amostragem)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p=12: APROVADO — 100% de S₁₂ coberto (verificação exata)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p=13: APROVADO — 100% de S₁₃ coberto (669,9B ops em ~80 min)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p=14: auditoria exata em andamento (2.373,8B ops  ·  ETA ~3,5 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Eixo Comparativo das Abordagens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Discussão das alternativas indicadas no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743200"/>
                <a:gridCol w="37719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Segoe UI"/>
                        </a:rPr>
                        <a:t>Abordagem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Segoe UI"/>
                        </a:rPr>
                        <a:t>Garantia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Segoe UI"/>
                        </a:rPr>
                        <a:t>Escala n=25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Greedy clássico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H(Nₚ)×OPT ≈ 15,4×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Implementado e executado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Principal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Stochastic Greedy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Sem garantia formal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Implementado — 13,5–20,6× mais rápido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Experimental ✓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GRASP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Sem garantia formal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Implementado — ~5× mais lento que greedy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Experimental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Algoritmos Aleatórios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Esperança ≤ H(Nₚ)×OPT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Viável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4A3B8"/>
                          </a:solidFill>
                          <a:latin typeface="Segoe UI"/>
                        </a:rPr>
                        <a:t>Alternativa futura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ILP (global)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Ótimo exato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7171"/>
                          </a:solidFill>
                          <a:latin typeface="Segoe UI"/>
                        </a:rPr>
                        <a:t>Inviável em n=25 completo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87171"/>
                          </a:solidFill>
                          <a:latin typeface="Segoe UI"/>
                        </a:rPr>
                        <a:t>Inviável 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ILP pós-greedy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Ótimo sobre candidatos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Viável (refinamento)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4A3B8"/>
                          </a:solidFill>
                          <a:latin typeface="Segoe UI"/>
                        </a:rPr>
                        <a:t>Solver disponível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Branch and Bound / B&amp;P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Ótimo (potencial)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Depende de heurísticas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4A3B8"/>
                          </a:solidFill>
                          <a:latin typeface="Segoe UI"/>
                        </a:rPr>
                        <a:t>Melhoria futura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Relaxação Lagrangiana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Lower bound+solução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Implementado — bound 59,58 (medium)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Experimental ✓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Column Generation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LP exact + rounding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Implementado (medium)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Experimental 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Computação Paralela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Speedup × p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Prog.1: 4,3×; Prog.5 (p=11): paralelo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D399"/>
                          </a:solidFill>
                          <a:latin typeface="Segoe UI"/>
                        </a:rPr>
                        <a:t>Implementado ✓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Metaheurísticas (SA, GA)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Sem garantia formal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2E8F0"/>
                          </a:solidFill>
                          <a:latin typeface="Segoe UI"/>
                        </a:rPr>
                        <a:t>Viável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94A3B8"/>
                          </a:solidFill>
                          <a:latin typeface="Segoe UI"/>
                        </a:rPr>
                        <a:t>Melhoria futura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Experimentos Alternativos — Ganhos Medidos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Benchmarks em escala reduzida para comparação de estratégias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Instância medium  (n=15, k=9, p=6)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81328"/>
          <a:ext cx="1142999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485900"/>
                <a:gridCol w="914400"/>
                <a:gridCol w="6515099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Método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|SB|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Observação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Greedy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10,035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Referência determinística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Stochastic Greedy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0,743 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152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13,5× mais rápido  |  +8,6% em |SB|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GRASP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48,813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5× mais caro; qualidade próxima do greedy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Relaxação Lagrangiana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23,948 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140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Bound LP: 59,58; reparo igual ao greedy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Column Generation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18,551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Relaxação LP + pricing; solução arredondada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Instância large-demo  (n=16, k=10, p=6)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831336"/>
          <a:ext cx="114299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485900"/>
                <a:gridCol w="914400"/>
                <a:gridCol w="6515099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Método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|SB|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Observação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Greedy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24,895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Referência para escala maior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Stochastic Greedy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1,208 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115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20,6× mais rápido  |  +9,5% em |SB|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GRASP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143,862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D399"/>
                          </a:solidFill>
                          <a:latin typeface="Segoe UI"/>
                        </a:rPr>
                        <a:t>107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5,8× mais lento; melhora marginal em |SB|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Greedy + poda local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28,268 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Removeu 0 candidatos redundantes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394960"/>
            <a:ext cx="1143000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5321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Conclusão dos Experimentos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34D399"/>
                </a:solidFill>
                <a:latin typeface="Segoe UI"/>
              </a:rPr>
              <a:t>Stochastic Greedy: maior ganho prático — 13,5–20,6× mais rápido com ≤ 10% de aumento em |SB|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GRASP valida metaheurísticas, mas não compensou o custo adicional nesta escala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Lagrangiana e Column Generation: abordagens científicas para bounds e relaxação de LP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Limitações e Possíveis Melhorias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Análise crítica da solução implementada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516636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Segoe UI"/>
              </a:rPr>
              <a:t>Limitações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ILP direto inviável em escala completa (n=25)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4,46 bilhões de coeficientes para p=11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Greedy não garante solução ótima global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gap real de 1,79× a 3,78× vs LB-Sch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Auditoria exata p=14 é cara: ~2.373 B operações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~3,5h de verificação por NumPy sequencial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Escalabilidade limitada para n &gt; 27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C(27,15) ≈ 21M; C(27,13) ≈ 20M; memória e tempo explodem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Tempo alto para p=13 (~3h) e p=11 (~3,4h)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gargalo: atualização de count[] (A updates/iter)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87171"/>
                </a:solidFill>
                <a:latin typeface="Segoe UI"/>
              </a:rPr>
              <a:t>ILP pós-greedy disponível, mas não executado em escala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94A3B8"/>
                </a:solidFill>
                <a:latin typeface="Segoe UI"/>
              </a:rPr>
              <a:t>  → seria refinamento, não resultado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5715000" cy="5166360"/>
          </a:xfrm>
          <a:prstGeom prst="rect">
            <a:avLst/>
          </a:prstGeom>
          <a:solidFill>
            <a:srgbClr val="162131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7043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Segoe UI"/>
              </a:rPr>
              <a:t>Melhorias Futuras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5257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Algoritmos Exatos sobre Espaço Reduzido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ILP pós-greedy (candidatos do greedy como universo)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Branch and Bound / Branch-and-Price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Column Generation completo (B&amp;P integrado)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Heurísticas Avançadas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Relaxação Lagrangiana para lower bounds mais apertados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Simulated Annealing pós-greedy (troca de elementos)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GRASP paralelo com mais restarts e busca local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Implementação de Alto Desempenho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Bitsets vetorizados (AVX2/AVX-512)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Cython ou C/C++ para os gargalos Python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Distribuição em múltiplos processos/máquinas (MPI)</a:t>
            </a:r>
          </a:p>
          <a:p>
            <a:pPr algn="l"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Auditoria Acelerada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Paralelizar audit_cobertura.py com batches de SB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2E8F0"/>
                </a:solidFill>
                <a:latin typeface="Segoe UI"/>
              </a:rPr>
              <a:t>  GPU (CuPy) para verificação de cobertura massiva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Segoe UI"/>
              </a:rPr>
              <a:t>Conclusão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Síntese dos resultados e contribuições do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PUCPR  ·  Complexidade de Algoritmos  ·  RA03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38BDF8"/>
                </a:solidFill>
                <a:latin typeface="Segoe UI"/>
              </a:rPr>
              <a:t>O Problema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2E8F0"/>
                </a:solidFill>
                <a:latin typeface="Segoe UI"/>
              </a:rPr>
              <a:t>Minimum Set Cover sobre U={1..25}: NP-difícil, instâncias com até 5,2M elementos em Sₚ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74519"/>
          <a:ext cx="11430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93726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Dimensão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Segoe UI"/>
                        </a:rPr>
                        <a:t>Contribuição do Trabalho</a:t>
                      </a:r>
                    </a:p>
                  </a:txBody>
                  <a:tcPr>
                    <a:solidFill>
                      <a:srgbClr val="0C2A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Modelagem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Formulação formal + ILP + lower bounds LP e Schönheim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Greedy com heap lazy / np.argmax / atualização paralela (p=11)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Estruturas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Bitmask uint32 + índices hash + count[] + nao_coberto[] — acesso 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Resultados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4 instâncias resolvidas; gap 1,79×–3,78× vs LB-Sch (teórico: ≤ 15,4×)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Paralelismo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Prog.1: 4,3× speedup; Prog.5 (p=11): atualização paralela de count[]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Experimentos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Stochastic Greedy, GRASP, Lagrangiana, Column Generation em benchmarks</a:t>
                      </a:r>
                    </a:p>
                  </a:txBody>
                  <a:tcPr>
                    <a:solidFill>
                      <a:srgbClr val="1621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8BDF8"/>
                          </a:solidFill>
                          <a:latin typeface="Segoe UI"/>
                        </a:rPr>
                        <a:t>Auditoria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2E8F0"/>
                          </a:solidFill>
                          <a:latin typeface="Segoe UI"/>
                        </a:rPr>
                        <a:t>p=11, 12, 13 APROVADO — cobertura 100% confirmada; p=14 em andamento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49240"/>
            <a:ext cx="1143000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0C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486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Mensagem Final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2E8F0"/>
                </a:solidFill>
                <a:latin typeface="Segoe UI"/>
              </a:rPr>
              <a:t>O greedy aproximativo, com estruturas de dados eficientes e paralelismo seletivo, produziu soluções de alta qualidade (gap 1,79×–3,78×) em tempo razoável para um problema NP-difícil de escala industrial.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4D399"/>
                </a:solidFill>
                <a:latin typeface="Segoe UI"/>
              </a:rPr>
              <a:t>Stochastic Greedy emergiu como alternativa prática de alto desempenho: 13–20× mais rápido com custo inferior a 10% de qualidade.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