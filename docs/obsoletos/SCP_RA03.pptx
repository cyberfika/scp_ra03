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65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6" r:id="rId11"/>
    <p:sldId id="267" r:id="rId12"/>
    <p:sldId id="264" r:id="rId13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53" d="100"/>
          <a:sy n="53" d="100"/>
        </p:scale>
        <p:origin x="3883" y="9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fte Fagundes" userId="39ee733d996cf204" providerId="LiveId" clId="{FAA9C936-0C38-44AB-BC9F-93665EC427EF}"/>
    <pc:docChg chg="custSel modSld">
      <pc:chgData name="Jafte Fagundes" userId="39ee733d996cf204" providerId="LiveId" clId="{FAA9C936-0C38-44AB-BC9F-93665EC427EF}" dt="2026-06-21T00:40:59.085" v="1" actId="27636"/>
      <pc:docMkLst>
        <pc:docMk/>
      </pc:docMkLst>
      <pc:sldChg chg="modSp mod">
        <pc:chgData name="Jafte Fagundes" userId="39ee733d996cf204" providerId="LiveId" clId="{FAA9C936-0C38-44AB-BC9F-93665EC427EF}" dt="2026-06-21T00:40:59.085" v="1" actId="27636"/>
        <pc:sldMkLst>
          <pc:docMk/>
          <pc:sldMk cId="0" sldId="259"/>
        </pc:sldMkLst>
        <pc:spChg chg="mod">
          <ac:chgData name="Jafte Fagundes" userId="39ee733d996cf204" providerId="LiveId" clId="{FAA9C936-0C38-44AB-BC9F-93665EC427EF}" dt="2026-06-21T00:40:59.085" v="1" actId="27636"/>
          <ac:spMkLst>
            <pc:docMk/>
            <pc:sldMk cId="0" sldId="259"/>
            <ac:spMk id="12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769625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Apresentar a modelagem formal: U, S15, Sp e o objetivo. Mostrar a formulação ILP e mencionar que é um Minimum Set Cover NP-difícil. A tabela de cardinalidades mostra a escala do problema.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tabela mostra que mesmo para p=14, a formulação ILP tem 3,3M variáveis, 4,5M restrições e 67M coeficientes não-nulos. Para p=11 chegamos a 6 bilhões de coeficientes. A busca exaustiva é impossível. A solução: greedy com garantia teórica.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lower bounds medem a qualidade da nossa solução. O LB-LP vem da contagem direta: cada X em S15 cobre C(15,p) subconjuntos. Schönheim é mais apertado. O insight contraintuitivo: p menor gera SB menor mas mais trabalho por iteração.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Cinco estruturas centrais. A bitmask uint32 é a mais importante: permite verificar Y subconjunto de X em O(1) com um AND bit-a-bit. NumPy vetoriza sobre 3,3 milhões ao mesmo tempo. O heap lazy é fundamental para p=14,13.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algoritmo greedy com três fases: pré-processamento, loop principal e atualização. O loop escolhe o X* que cobre mais Y não cobertos, então atualiza count[] para todos os vizinhos. A garantia Johnson/Lovász é ln(|Sp|)·|OPT| ≈ 15,4× para nossa instância.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Apresentar as duas análises: Programa 1 (geração dos conjuntos) é simples. Programas 2-5 variam por estratégia. Definir A = C(15,p)·C(25-p,15-p) para clareza. A tabela inferior mostra os valores concretos — notar que A cresce por fator 8000 entre p=14 e p=11.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4 gargalos principais: atualizações de count[], heap com entradas obsoletas, construção de índices e NumPy argmax percorrendo 3,3M por iteração. Escalabilidade: funciona até n≈26-27, para n=30 fica inviável. A tabela compara as 4 abordagens.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central. Gap obtido de 1,79× a 3,78× contra garantia teórica de 15,4× — ou seja, 4 a 9× melhor que o pior caso. Mencionar o hardware e o tempo de execução real. Todos os resultados verificados por amostragem. Rödl 1985 prevê exatamente esse comportamento assintótico.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Resumir as limitações honestas: ILP inviável, sem garantia de ótimo, sem backtracking. Das melhorias, destacar: ILP pós-greedy reduz variáveis de 3,3M para ~12K-38K (viável!), paralelização tem speedup teórico 8× no gargalo principal, simulated annealing pode fechar o gap de 1,79× para ~1,2×.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 descr="CPU com números binários e plantas">
            <a:extLst>
              <a:ext uri="{FF2B5EF4-FFF2-40B4-BE49-F238E27FC236}">
                <a16:creationId xmlns:a16="http://schemas.microsoft.com/office/drawing/2014/main" id="{76491F09-C150-4547-C2CD-67CC2CB0A1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5" name="Shape 0">
            <a:extLst>
              <a:ext uri="{FF2B5EF4-FFF2-40B4-BE49-F238E27FC236}">
                <a16:creationId xmlns:a16="http://schemas.microsoft.com/office/drawing/2014/main" id="{A500A23A-7CF1-457C-8501-FEA83BC0088A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38BDF8">
                  <a:alpha val="18000"/>
                </a:srgbClr>
              </a:gs>
              <a:gs pos="42000">
                <a:srgbClr val="38BDF8">
                  <a:alpha val="0"/>
                </a:srgbClr>
              </a:gs>
            </a:gsLst>
            <a:path path="circle">
              <a:fillToRect l="50000" t="100000" r="50000"/>
            </a:path>
          </a:gradFill>
          <a:ln/>
        </p:spPr>
        <p:txBody>
          <a:bodyPr/>
          <a:lstStyle/>
          <a:p>
            <a:endParaRPr lang="pt-BR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9B3EDCA2-E92C-50E7-06B1-7149B8F261E1}"/>
              </a:ext>
            </a:extLst>
          </p:cNvPr>
          <p:cNvSpPr txBox="1"/>
          <p:nvPr/>
        </p:nvSpPr>
        <p:spPr>
          <a:xfrm>
            <a:off x="1197203" y="895547"/>
            <a:ext cx="5703217" cy="360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>
                <a:solidFill>
                  <a:schemeClr val="bg1"/>
                </a:solidFill>
                <a:latin typeface="Aptos Black" panose="020B0004020202020204" pitchFamily="34" charset="0"/>
              </a:rPr>
              <a:t>COMPLEXIDADE DE ALGORITMOS</a:t>
            </a:r>
          </a:p>
          <a:p>
            <a:endParaRPr lang="pt-BR" sz="4000" dirty="0">
              <a:solidFill>
                <a:schemeClr val="bg1"/>
              </a:solidFill>
              <a:latin typeface="Aptos Black" panose="020B0004020202020204" pitchFamily="34" charset="0"/>
            </a:endParaRPr>
          </a:p>
          <a:p>
            <a:endParaRPr lang="pt-BR" sz="4000" dirty="0">
              <a:solidFill>
                <a:schemeClr val="bg1"/>
              </a:solidFill>
              <a:latin typeface="Aptos Black" panose="020B0004020202020204" pitchFamily="34" charset="0"/>
            </a:endParaRPr>
          </a:p>
          <a:p>
            <a:r>
              <a:rPr lang="pt-BR" sz="2800" dirty="0">
                <a:solidFill>
                  <a:schemeClr val="bg1"/>
                </a:solidFill>
                <a:latin typeface="Aptos Black" panose="020B0004020202020204" pitchFamily="34" charset="0"/>
              </a:rPr>
              <a:t>TRABALHO AVALIATIVO – RA03</a:t>
            </a:r>
          </a:p>
          <a:p>
            <a:endParaRPr lang="pt-BR" sz="4000" dirty="0">
              <a:solidFill>
                <a:schemeClr val="bg1"/>
              </a:solidFill>
              <a:latin typeface="Aptos Black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08991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800100"/>
            <a:ext cx="35063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38BDF8">
                    <a:alpha val="6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1607939" y="823913"/>
            <a:ext cx="9525" cy="247650"/>
          </a:xfrm>
          <a:prstGeom prst="rect">
            <a:avLst/>
          </a:prstGeom>
          <a:solidFill>
            <a:srgbClr val="1E264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1807964" y="647700"/>
            <a:ext cx="6371466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900" b="1" kern="0" spc="-78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Modelagem do Problema</a:t>
            </a:r>
            <a:endParaRPr lang="en-US" sz="3900" dirty="0"/>
          </a:p>
        </p:txBody>
      </p:sp>
      <p:sp>
        <p:nvSpPr>
          <p:cNvPr id="5" name="Shape 3"/>
          <p:cNvSpPr/>
          <p:nvPr/>
        </p:nvSpPr>
        <p:spPr>
          <a:xfrm>
            <a:off x="1143000" y="1590675"/>
            <a:ext cx="10096500" cy="1865412"/>
          </a:xfrm>
          <a:prstGeom prst="roundRect">
            <a:avLst>
              <a:gd name="adj" fmla="val 3064"/>
            </a:avLst>
          </a:prstGeom>
          <a:solidFill>
            <a:srgbClr val="13172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1143000" y="3446562"/>
            <a:ext cx="10096500" cy="9525"/>
          </a:xfrm>
          <a:prstGeom prst="rect">
            <a:avLst/>
          </a:prstGeom>
          <a:solidFill>
            <a:srgbClr val="1E264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1143000" y="1590675"/>
            <a:ext cx="10096500" cy="19050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1143000" y="1590675"/>
            <a:ext cx="9525" cy="1865412"/>
          </a:xfrm>
          <a:prstGeom prst="rect">
            <a:avLst/>
          </a:prstGeom>
          <a:solidFill>
            <a:srgbClr val="1E264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11229975" y="1590675"/>
            <a:ext cx="9525" cy="1865412"/>
          </a:xfrm>
          <a:prstGeom prst="rect">
            <a:avLst/>
          </a:prstGeom>
          <a:solidFill>
            <a:srgbClr val="1E264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1381125" y="1800225"/>
            <a:ext cx="1058227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b="1" kern="0" spc="84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DEFINIÇÃO FORMAL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381125" y="2105025"/>
            <a:ext cx="9908858" cy="4021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82000"/>
              </a:lnSpc>
              <a:buNone/>
            </a:pPr>
            <a:r>
              <a:rPr lang="en-US" sz="1575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U = {1, 2, …, 25}</a:t>
            </a:r>
            <a:endParaRPr lang="en-US" sz="1575" dirty="0"/>
          </a:p>
        </p:txBody>
      </p:sp>
      <p:sp>
        <p:nvSpPr>
          <p:cNvPr id="12" name="Text 10"/>
          <p:cNvSpPr/>
          <p:nvPr/>
        </p:nvSpPr>
        <p:spPr>
          <a:xfrm>
            <a:off x="1381125" y="2469059"/>
            <a:ext cx="9908858" cy="4289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82000"/>
              </a:lnSpc>
              <a:buNone/>
            </a:pPr>
            <a:r>
              <a:rPr lang="en-US" sz="1575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</a:t>
            </a:r>
            <a:r>
              <a:rPr lang="en-US" sz="1313" baseline="-4000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15 </a:t>
            </a:r>
            <a:r>
              <a:rPr lang="en-US" sz="1575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= C(25,15) = </a:t>
            </a:r>
            <a:r>
              <a:rPr lang="en-US" sz="1575" b="1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3.268.760 </a:t>
            </a:r>
            <a:r>
              <a:rPr lang="en-US" sz="1575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conjuntos</a:t>
            </a:r>
            <a:endParaRPr lang="en-US" sz="1575" dirty="0"/>
          </a:p>
        </p:txBody>
      </p:sp>
      <p:sp>
        <p:nvSpPr>
          <p:cNvPr id="13" name="Text 11"/>
          <p:cNvSpPr/>
          <p:nvPr/>
        </p:nvSpPr>
        <p:spPr>
          <a:xfrm>
            <a:off x="1381125" y="2897981"/>
            <a:ext cx="9908858" cy="396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82000"/>
              </a:lnSpc>
              <a:buNone/>
            </a:pPr>
            <a:r>
              <a:rPr lang="en-US" sz="1425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</a:t>
            </a:r>
            <a:r>
              <a:rPr lang="en-US" sz="1187" baseline="-400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 </a:t>
            </a:r>
            <a:r>
              <a:rPr lang="en-US" sz="1425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= todos subconjuntos de tamanho p de U</a:t>
            </a:r>
            <a:endParaRPr lang="en-US" sz="1425" dirty="0"/>
          </a:p>
        </p:txBody>
      </p:sp>
      <p:sp>
        <p:nvSpPr>
          <p:cNvPr id="14" name="Shape 12"/>
          <p:cNvSpPr/>
          <p:nvPr/>
        </p:nvSpPr>
        <p:spPr>
          <a:xfrm>
            <a:off x="1143000" y="3627537"/>
            <a:ext cx="10096500" cy="1800671"/>
          </a:xfrm>
          <a:prstGeom prst="roundRect">
            <a:avLst>
              <a:gd name="adj" fmla="val 3174"/>
            </a:avLst>
          </a:prstGeom>
          <a:solidFill>
            <a:srgbClr val="131720"/>
          </a:solidFill>
          <a:ln w="9525">
            <a:solidFill>
              <a:srgbClr val="1E264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1381125" y="3827562"/>
            <a:ext cx="1058227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b="1" kern="0" spc="84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OBJETIVO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381125" y="4132362"/>
            <a:ext cx="9908858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82000"/>
              </a:lnSpc>
              <a:buNone/>
            </a:pPr>
            <a:r>
              <a:rPr lang="en-US" sz="150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Para cada p ∈ {14,13,12,11}, encontrar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381125" y="4478982"/>
            <a:ext cx="9908858" cy="412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82000"/>
              </a:lnSpc>
              <a:buNone/>
            </a:pPr>
            <a:r>
              <a:rPr lang="en-US" sz="150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um SB ⊆ S15 tal que: (objetivo: minimizar |SB|; implementação: greedy aproximativo)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609725" y="4853583"/>
            <a:ext cx="9680258" cy="412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82000"/>
              </a:lnSpc>
              <a:buNone/>
            </a:pPr>
            <a:r>
              <a:rPr lang="en-US" sz="1500" dirty="0">
                <a:solidFill>
                  <a:srgbClr val="A3E63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∀ Y ∈ S</a:t>
            </a:r>
            <a:r>
              <a:rPr lang="en-US" sz="1250" baseline="-40000" dirty="0">
                <a:solidFill>
                  <a:srgbClr val="A3E63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</a:t>
            </a:r>
            <a:r>
              <a:rPr lang="en-US" sz="1500" dirty="0">
                <a:solidFill>
                  <a:srgbClr val="A3E63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 ∃ X ∈ SB : Y ⊆ X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1143000" y="5599658"/>
            <a:ext cx="10096500" cy="1866602"/>
          </a:xfrm>
          <a:prstGeom prst="roundRect">
            <a:avLst>
              <a:gd name="adj" fmla="val 3062"/>
            </a:avLst>
          </a:prstGeom>
          <a:solidFill>
            <a:srgbClr val="1E1E2E"/>
          </a:solidFill>
          <a:ln w="9525">
            <a:solidFill>
              <a:srgbClr val="25254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1381125" y="5799683"/>
            <a:ext cx="1058227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b="1" kern="0" spc="84" dirty="0">
                <a:solidFill>
                  <a:srgbClr val="818C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FORMULAÇÃO ILP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381125" y="6104483"/>
            <a:ext cx="9908858" cy="4253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95000"/>
              </a:lnSpc>
              <a:buNone/>
            </a:pPr>
            <a:r>
              <a:rPr lang="en-US" sz="1425" dirty="0">
                <a:solidFill>
                  <a:srgbClr val="818C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x</a:t>
            </a:r>
            <a:r>
              <a:rPr lang="en-US" sz="1187" baseline="-4000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 </a:t>
            </a:r>
            <a:r>
              <a:rPr lang="en-US" sz="1425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∈ {0,1}, ∀ X</a:t>
            </a:r>
            <a:r>
              <a:rPr lang="en-US" sz="1187" baseline="-4000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 </a:t>
            </a:r>
            <a:r>
              <a:rPr lang="en-US" sz="1425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∈ S</a:t>
            </a:r>
            <a:r>
              <a:rPr lang="en-US" sz="1187" baseline="-4000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15</a:t>
            </a:r>
            <a:endParaRPr lang="en-US" sz="1425" dirty="0"/>
          </a:p>
        </p:txBody>
      </p:sp>
      <p:sp>
        <p:nvSpPr>
          <p:cNvPr id="22" name="Text 20"/>
          <p:cNvSpPr/>
          <p:nvPr/>
        </p:nvSpPr>
        <p:spPr>
          <a:xfrm>
            <a:off x="1381125" y="6491734"/>
            <a:ext cx="9908858" cy="4253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95000"/>
              </a:lnSpc>
              <a:buNone/>
            </a:pPr>
            <a:r>
              <a:rPr lang="en-US" sz="1425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min </a:t>
            </a:r>
            <a:r>
              <a:rPr lang="en-US" sz="1425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Σ </a:t>
            </a:r>
            <a:r>
              <a:rPr lang="en-US" sz="1425" dirty="0">
                <a:solidFill>
                  <a:srgbClr val="818C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x</a:t>
            </a:r>
            <a:r>
              <a:rPr lang="en-US" sz="1187" baseline="-4000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</a:t>
            </a:r>
            <a:endParaRPr lang="en-US" sz="1425" dirty="0"/>
          </a:p>
        </p:txBody>
      </p:sp>
      <p:sp>
        <p:nvSpPr>
          <p:cNvPr id="23" name="Text 21"/>
          <p:cNvSpPr/>
          <p:nvPr/>
        </p:nvSpPr>
        <p:spPr>
          <a:xfrm>
            <a:off x="1381125" y="6878985"/>
            <a:ext cx="9908858" cy="4253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95000"/>
              </a:lnSpc>
              <a:buNone/>
            </a:pPr>
            <a:r>
              <a:rPr lang="en-US" sz="1425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s.a. </a:t>
            </a:r>
            <a:r>
              <a:rPr lang="en-US" sz="1425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Σ</a:t>
            </a:r>
            <a:r>
              <a:rPr lang="en-US" sz="975" baseline="-4000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i: Y⊆X</a:t>
            </a:r>
            <a:r>
              <a:rPr lang="en-US" sz="812" baseline="-4000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 </a:t>
            </a:r>
            <a:r>
              <a:rPr lang="en-US" sz="1425" dirty="0">
                <a:solidFill>
                  <a:srgbClr val="818C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x</a:t>
            </a:r>
            <a:r>
              <a:rPr lang="en-US" sz="1187" baseline="-4000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 </a:t>
            </a:r>
            <a:r>
              <a:rPr lang="en-US" sz="1425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≥ 1, ∀ Y ∈ S</a:t>
            </a:r>
            <a:r>
              <a:rPr lang="en-US" sz="1187" baseline="-4000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</a:t>
            </a:r>
            <a:endParaRPr lang="en-US" sz="1425" dirty="0"/>
          </a:p>
        </p:txBody>
      </p:sp>
      <p:sp>
        <p:nvSpPr>
          <p:cNvPr id="24" name="Text 22"/>
          <p:cNvSpPr/>
          <p:nvPr/>
        </p:nvSpPr>
        <p:spPr>
          <a:xfrm>
            <a:off x="11620500" y="1590675"/>
            <a:ext cx="607695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425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Cardinalidades dos conjuntos:</a:t>
            </a:r>
            <a:endParaRPr lang="en-US" sz="1425" dirty="0"/>
          </a:p>
        </p:txBody>
      </p:sp>
      <p:sp>
        <p:nvSpPr>
          <p:cNvPr id="25" name="Shape 23"/>
          <p:cNvSpPr/>
          <p:nvPr/>
        </p:nvSpPr>
        <p:spPr>
          <a:xfrm>
            <a:off x="11620500" y="2000250"/>
            <a:ext cx="5524500" cy="409575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6" name="Shape 24"/>
          <p:cNvSpPr/>
          <p:nvPr/>
        </p:nvSpPr>
        <p:spPr>
          <a:xfrm>
            <a:off x="11620500" y="2390775"/>
            <a:ext cx="5524500" cy="19050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7" name="Text 25"/>
          <p:cNvSpPr/>
          <p:nvPr/>
        </p:nvSpPr>
        <p:spPr>
          <a:xfrm>
            <a:off x="11753850" y="2105025"/>
            <a:ext cx="1272778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275" b="1" dirty="0">
                <a:solidFill>
                  <a:srgbClr val="7DD3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Conjunto</a:t>
            </a:r>
            <a:endParaRPr lang="en-US" sz="1275" dirty="0"/>
          </a:p>
        </p:txBody>
      </p:sp>
      <p:sp>
        <p:nvSpPr>
          <p:cNvPr id="28" name="Text 26"/>
          <p:cNvSpPr/>
          <p:nvPr/>
        </p:nvSpPr>
        <p:spPr>
          <a:xfrm>
            <a:off x="13293328" y="2105025"/>
            <a:ext cx="1635323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275" b="1" dirty="0">
                <a:solidFill>
                  <a:srgbClr val="7DD3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Fórmula</a:t>
            </a:r>
            <a:endParaRPr lang="en-US" sz="1275" dirty="0"/>
          </a:p>
        </p:txBody>
      </p:sp>
      <p:sp>
        <p:nvSpPr>
          <p:cNvPr id="29" name="Text 27"/>
          <p:cNvSpPr/>
          <p:nvPr/>
        </p:nvSpPr>
        <p:spPr>
          <a:xfrm>
            <a:off x="15157252" y="2105025"/>
            <a:ext cx="1816298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r">
              <a:buNone/>
            </a:pPr>
            <a:r>
              <a:rPr lang="en-US" sz="1275" b="1" dirty="0">
                <a:solidFill>
                  <a:srgbClr val="7DD3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Cardinalidade</a:t>
            </a:r>
            <a:endParaRPr lang="en-US" sz="1275" dirty="0"/>
          </a:p>
        </p:txBody>
      </p:sp>
      <p:sp>
        <p:nvSpPr>
          <p:cNvPr id="30" name="Shape 28"/>
          <p:cNvSpPr/>
          <p:nvPr/>
        </p:nvSpPr>
        <p:spPr>
          <a:xfrm>
            <a:off x="11620500" y="2409825"/>
            <a:ext cx="5524500" cy="520898"/>
          </a:xfrm>
          <a:prstGeom prst="rect">
            <a:avLst/>
          </a:prstGeom>
          <a:solidFill>
            <a:srgbClr val="1A1F2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1" name="Shape 29"/>
          <p:cNvSpPr/>
          <p:nvPr/>
        </p:nvSpPr>
        <p:spPr>
          <a:xfrm>
            <a:off x="11620500" y="2921198"/>
            <a:ext cx="5524500" cy="9525"/>
          </a:xfrm>
          <a:prstGeom prst="rect">
            <a:avLst/>
          </a:prstGeom>
          <a:solidFill>
            <a:srgbClr val="1E264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2" name="Text 30"/>
          <p:cNvSpPr/>
          <p:nvPr/>
        </p:nvSpPr>
        <p:spPr>
          <a:xfrm>
            <a:off x="11753850" y="2514600"/>
            <a:ext cx="1272778" cy="3494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575" b="1" dirty="0">
                <a:solidFill>
                  <a:srgbClr val="38BD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</a:t>
            </a:r>
            <a:r>
              <a:rPr lang="en-US" sz="1313" b="1" baseline="-40000" dirty="0">
                <a:solidFill>
                  <a:srgbClr val="38BD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15</a:t>
            </a:r>
            <a:endParaRPr lang="en-US" sz="1575" dirty="0"/>
          </a:p>
        </p:txBody>
      </p:sp>
      <p:sp>
        <p:nvSpPr>
          <p:cNvPr id="33" name="Text 31"/>
          <p:cNvSpPr/>
          <p:nvPr/>
        </p:nvSpPr>
        <p:spPr>
          <a:xfrm>
            <a:off x="13293328" y="2514600"/>
            <a:ext cx="1635323" cy="3494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575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C(25,15)</a:t>
            </a:r>
            <a:endParaRPr lang="en-US" sz="1575" dirty="0"/>
          </a:p>
        </p:txBody>
      </p:sp>
      <p:sp>
        <p:nvSpPr>
          <p:cNvPr id="34" name="Text 32"/>
          <p:cNvSpPr/>
          <p:nvPr/>
        </p:nvSpPr>
        <p:spPr>
          <a:xfrm>
            <a:off x="15157252" y="2514600"/>
            <a:ext cx="1816298" cy="3494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575" b="1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3.268.760</a:t>
            </a:r>
            <a:endParaRPr lang="en-US" sz="1575" dirty="0"/>
          </a:p>
        </p:txBody>
      </p:sp>
      <p:sp>
        <p:nvSpPr>
          <p:cNvPr id="35" name="Shape 33"/>
          <p:cNvSpPr/>
          <p:nvPr/>
        </p:nvSpPr>
        <p:spPr>
          <a:xfrm>
            <a:off x="11620500" y="2930723"/>
            <a:ext cx="5524500" cy="516136"/>
          </a:xfrm>
          <a:prstGeom prst="rect">
            <a:avLst/>
          </a:prstGeom>
          <a:solidFill>
            <a:srgbClr val="14182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6" name="Shape 34"/>
          <p:cNvSpPr/>
          <p:nvPr/>
        </p:nvSpPr>
        <p:spPr>
          <a:xfrm>
            <a:off x="11620500" y="3437334"/>
            <a:ext cx="5524500" cy="9525"/>
          </a:xfrm>
          <a:prstGeom prst="rect">
            <a:avLst/>
          </a:prstGeom>
          <a:solidFill>
            <a:srgbClr val="1E264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7" name="Text 35"/>
          <p:cNvSpPr/>
          <p:nvPr/>
        </p:nvSpPr>
        <p:spPr>
          <a:xfrm>
            <a:off x="11753850" y="3035498"/>
            <a:ext cx="1272778" cy="3446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575" b="1" dirty="0">
                <a:solidFill>
                  <a:srgbClr val="38BD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</a:t>
            </a:r>
            <a:r>
              <a:rPr lang="en-US" sz="1313" b="1" baseline="-40000" dirty="0">
                <a:solidFill>
                  <a:srgbClr val="38BD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14</a:t>
            </a:r>
            <a:endParaRPr lang="en-US" sz="1575" dirty="0"/>
          </a:p>
        </p:txBody>
      </p:sp>
      <p:sp>
        <p:nvSpPr>
          <p:cNvPr id="38" name="Text 36"/>
          <p:cNvSpPr/>
          <p:nvPr/>
        </p:nvSpPr>
        <p:spPr>
          <a:xfrm>
            <a:off x="13293328" y="3035498"/>
            <a:ext cx="1635323" cy="3446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575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C(25,14)</a:t>
            </a:r>
            <a:endParaRPr lang="en-US" sz="1575" dirty="0"/>
          </a:p>
        </p:txBody>
      </p:sp>
      <p:sp>
        <p:nvSpPr>
          <p:cNvPr id="39" name="Text 37"/>
          <p:cNvSpPr/>
          <p:nvPr/>
        </p:nvSpPr>
        <p:spPr>
          <a:xfrm>
            <a:off x="15157252" y="3035498"/>
            <a:ext cx="1816298" cy="3446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575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4.457.400</a:t>
            </a:r>
            <a:endParaRPr lang="en-US" sz="1575" dirty="0"/>
          </a:p>
        </p:txBody>
      </p:sp>
      <p:sp>
        <p:nvSpPr>
          <p:cNvPr id="40" name="Shape 38"/>
          <p:cNvSpPr/>
          <p:nvPr/>
        </p:nvSpPr>
        <p:spPr>
          <a:xfrm>
            <a:off x="11620500" y="3446859"/>
            <a:ext cx="5524500" cy="516136"/>
          </a:xfrm>
          <a:prstGeom prst="rect">
            <a:avLst/>
          </a:prstGeom>
          <a:solidFill>
            <a:srgbClr val="1A1F2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1" name="Shape 39"/>
          <p:cNvSpPr/>
          <p:nvPr/>
        </p:nvSpPr>
        <p:spPr>
          <a:xfrm>
            <a:off x="11620500" y="3953470"/>
            <a:ext cx="5524500" cy="9525"/>
          </a:xfrm>
          <a:prstGeom prst="rect">
            <a:avLst/>
          </a:prstGeom>
          <a:solidFill>
            <a:srgbClr val="1E264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2" name="Text 40"/>
          <p:cNvSpPr/>
          <p:nvPr/>
        </p:nvSpPr>
        <p:spPr>
          <a:xfrm>
            <a:off x="11753850" y="3551634"/>
            <a:ext cx="1272778" cy="3446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575" b="1" dirty="0">
                <a:solidFill>
                  <a:srgbClr val="38BD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</a:t>
            </a:r>
            <a:r>
              <a:rPr lang="en-US" sz="1313" b="1" baseline="-40000" dirty="0">
                <a:solidFill>
                  <a:srgbClr val="38BD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13</a:t>
            </a:r>
            <a:endParaRPr lang="en-US" sz="1575" dirty="0"/>
          </a:p>
        </p:txBody>
      </p:sp>
      <p:sp>
        <p:nvSpPr>
          <p:cNvPr id="43" name="Text 41"/>
          <p:cNvSpPr/>
          <p:nvPr/>
        </p:nvSpPr>
        <p:spPr>
          <a:xfrm>
            <a:off x="13293328" y="3551634"/>
            <a:ext cx="1635323" cy="3446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575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C(25,13)</a:t>
            </a:r>
            <a:endParaRPr lang="en-US" sz="1575" dirty="0"/>
          </a:p>
        </p:txBody>
      </p:sp>
      <p:sp>
        <p:nvSpPr>
          <p:cNvPr id="44" name="Text 42"/>
          <p:cNvSpPr/>
          <p:nvPr/>
        </p:nvSpPr>
        <p:spPr>
          <a:xfrm>
            <a:off x="15157252" y="3551634"/>
            <a:ext cx="1816298" cy="3446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575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5.200.300</a:t>
            </a:r>
            <a:endParaRPr lang="en-US" sz="1575" dirty="0"/>
          </a:p>
        </p:txBody>
      </p:sp>
      <p:sp>
        <p:nvSpPr>
          <p:cNvPr id="45" name="Shape 43"/>
          <p:cNvSpPr/>
          <p:nvPr/>
        </p:nvSpPr>
        <p:spPr>
          <a:xfrm>
            <a:off x="11620500" y="3962995"/>
            <a:ext cx="5524500" cy="516136"/>
          </a:xfrm>
          <a:prstGeom prst="rect">
            <a:avLst/>
          </a:prstGeom>
          <a:solidFill>
            <a:srgbClr val="14182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6" name="Shape 44"/>
          <p:cNvSpPr/>
          <p:nvPr/>
        </p:nvSpPr>
        <p:spPr>
          <a:xfrm>
            <a:off x="11620500" y="4469606"/>
            <a:ext cx="5524500" cy="9525"/>
          </a:xfrm>
          <a:prstGeom prst="rect">
            <a:avLst/>
          </a:prstGeom>
          <a:solidFill>
            <a:srgbClr val="1E264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7" name="Text 45"/>
          <p:cNvSpPr/>
          <p:nvPr/>
        </p:nvSpPr>
        <p:spPr>
          <a:xfrm>
            <a:off x="11753850" y="4067770"/>
            <a:ext cx="1272778" cy="3446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575" b="1" dirty="0">
                <a:solidFill>
                  <a:srgbClr val="38BD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</a:t>
            </a:r>
            <a:r>
              <a:rPr lang="en-US" sz="1313" b="1" baseline="-40000" dirty="0">
                <a:solidFill>
                  <a:srgbClr val="38BD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12</a:t>
            </a:r>
            <a:endParaRPr lang="en-US" sz="1575" dirty="0"/>
          </a:p>
        </p:txBody>
      </p:sp>
      <p:sp>
        <p:nvSpPr>
          <p:cNvPr id="48" name="Text 46"/>
          <p:cNvSpPr/>
          <p:nvPr/>
        </p:nvSpPr>
        <p:spPr>
          <a:xfrm>
            <a:off x="13293328" y="4067770"/>
            <a:ext cx="1635323" cy="3446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575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C(25,12)</a:t>
            </a:r>
            <a:endParaRPr lang="en-US" sz="1575" dirty="0"/>
          </a:p>
        </p:txBody>
      </p:sp>
      <p:sp>
        <p:nvSpPr>
          <p:cNvPr id="49" name="Text 47"/>
          <p:cNvSpPr/>
          <p:nvPr/>
        </p:nvSpPr>
        <p:spPr>
          <a:xfrm>
            <a:off x="15157252" y="4067770"/>
            <a:ext cx="1816298" cy="3446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575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5.200.300</a:t>
            </a:r>
            <a:endParaRPr lang="en-US" sz="1575" dirty="0"/>
          </a:p>
        </p:txBody>
      </p:sp>
      <p:sp>
        <p:nvSpPr>
          <p:cNvPr id="50" name="Shape 48"/>
          <p:cNvSpPr/>
          <p:nvPr/>
        </p:nvSpPr>
        <p:spPr>
          <a:xfrm>
            <a:off x="11620500" y="4479131"/>
            <a:ext cx="5524500" cy="511373"/>
          </a:xfrm>
          <a:prstGeom prst="rect">
            <a:avLst/>
          </a:prstGeom>
          <a:solidFill>
            <a:srgbClr val="1A1F2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1" name="Text 49"/>
          <p:cNvSpPr/>
          <p:nvPr/>
        </p:nvSpPr>
        <p:spPr>
          <a:xfrm>
            <a:off x="11753850" y="4583906"/>
            <a:ext cx="1272778" cy="3399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575" b="1" dirty="0">
                <a:solidFill>
                  <a:srgbClr val="38BD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</a:t>
            </a:r>
            <a:r>
              <a:rPr lang="en-US" sz="1313" b="1" baseline="-40000" dirty="0">
                <a:solidFill>
                  <a:srgbClr val="38BD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11</a:t>
            </a:r>
            <a:endParaRPr lang="en-US" sz="1575" dirty="0"/>
          </a:p>
        </p:txBody>
      </p:sp>
      <p:sp>
        <p:nvSpPr>
          <p:cNvPr id="52" name="Text 50"/>
          <p:cNvSpPr/>
          <p:nvPr/>
        </p:nvSpPr>
        <p:spPr>
          <a:xfrm>
            <a:off x="13293328" y="4583906"/>
            <a:ext cx="1635323" cy="3399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575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C(25,11)</a:t>
            </a:r>
            <a:endParaRPr lang="en-US" sz="1575" dirty="0"/>
          </a:p>
        </p:txBody>
      </p:sp>
      <p:sp>
        <p:nvSpPr>
          <p:cNvPr id="53" name="Text 51"/>
          <p:cNvSpPr/>
          <p:nvPr/>
        </p:nvSpPr>
        <p:spPr>
          <a:xfrm>
            <a:off x="15157252" y="4583906"/>
            <a:ext cx="1816298" cy="3399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575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4.457.400</a:t>
            </a:r>
            <a:endParaRPr lang="en-US" sz="1575" dirty="0"/>
          </a:p>
        </p:txBody>
      </p:sp>
      <p:sp>
        <p:nvSpPr>
          <p:cNvPr id="54" name="Shape 52"/>
          <p:cNvSpPr/>
          <p:nvPr/>
        </p:nvSpPr>
        <p:spPr>
          <a:xfrm>
            <a:off x="11620500" y="5161955"/>
            <a:ext cx="5524500" cy="1438275"/>
          </a:xfrm>
          <a:prstGeom prst="roundRect">
            <a:avLst>
              <a:gd name="adj" fmla="val 3974"/>
            </a:avLst>
          </a:prstGeom>
          <a:solidFill>
            <a:srgbClr val="F87171">
              <a:alpha val="6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5" name="Shape 53"/>
          <p:cNvSpPr/>
          <p:nvPr/>
        </p:nvSpPr>
        <p:spPr>
          <a:xfrm>
            <a:off x="11620500" y="6590705"/>
            <a:ext cx="5524500" cy="9525"/>
          </a:xfrm>
          <a:prstGeom prst="rect">
            <a:avLst/>
          </a:prstGeom>
          <a:solidFill>
            <a:srgbClr val="F87171">
              <a:alpha val="2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6" name="Shape 54"/>
          <p:cNvSpPr/>
          <p:nvPr/>
        </p:nvSpPr>
        <p:spPr>
          <a:xfrm>
            <a:off x="11620500" y="5161955"/>
            <a:ext cx="5524500" cy="9525"/>
          </a:xfrm>
          <a:prstGeom prst="rect">
            <a:avLst/>
          </a:prstGeom>
          <a:solidFill>
            <a:srgbClr val="F87171">
              <a:alpha val="2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7" name="Shape 55"/>
          <p:cNvSpPr/>
          <p:nvPr/>
        </p:nvSpPr>
        <p:spPr>
          <a:xfrm>
            <a:off x="11620500" y="5161955"/>
            <a:ext cx="28575" cy="1438275"/>
          </a:xfrm>
          <a:prstGeom prst="rect">
            <a:avLst/>
          </a:prstGeom>
          <a:solidFill>
            <a:srgbClr val="F8717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8" name="Shape 56"/>
          <p:cNvSpPr/>
          <p:nvPr/>
        </p:nvSpPr>
        <p:spPr>
          <a:xfrm>
            <a:off x="17135475" y="5161955"/>
            <a:ext cx="9525" cy="1438275"/>
          </a:xfrm>
          <a:prstGeom prst="rect">
            <a:avLst/>
          </a:prstGeom>
          <a:solidFill>
            <a:srgbClr val="F87171">
              <a:alpha val="2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9" name="Text 57"/>
          <p:cNvSpPr/>
          <p:nvPr/>
        </p:nvSpPr>
        <p:spPr>
          <a:xfrm>
            <a:off x="11858625" y="5342930"/>
            <a:ext cx="557403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00" b="1" kern="0" spc="90" dirty="0">
                <a:solidFill>
                  <a:srgbClr val="F8717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MINIMUM SET COVER — NP-DIFÍCIL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11858625" y="5562005"/>
            <a:ext cx="5219319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575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Provado por Karp (1972) — um dos 21 problemas NP-completos originais</a:t>
            </a:r>
            <a:endParaRPr lang="en-US" sz="1575" dirty="0"/>
          </a:p>
        </p:txBody>
      </p:sp>
      <p:sp>
        <p:nvSpPr>
          <p:cNvPr id="61" name="Text 59"/>
          <p:cNvSpPr/>
          <p:nvPr/>
        </p:nvSpPr>
        <p:spPr>
          <a:xfrm>
            <a:off x="11858625" y="6219230"/>
            <a:ext cx="557403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Não existe algoritmo polinomial exato a menos que P=NP</a:t>
            </a:r>
            <a:endParaRPr lang="en-US" sz="1350" dirty="0"/>
          </a:p>
        </p:txBody>
      </p:sp>
      <p:sp>
        <p:nvSpPr>
          <p:cNvPr id="62" name="Shape 60"/>
          <p:cNvSpPr/>
          <p:nvPr/>
        </p:nvSpPr>
        <p:spPr>
          <a:xfrm>
            <a:off x="1143000" y="9496425"/>
            <a:ext cx="16002000" cy="9525"/>
          </a:xfrm>
          <a:prstGeom prst="rect">
            <a:avLst/>
          </a:prstGeom>
          <a:solidFill>
            <a:srgbClr val="161C2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3" name="TextBox 62"/>
          <p:cNvSpPr txBox="1"/>
          <p:nvPr/>
        </p:nvSpPr>
        <p:spPr>
          <a:xfrm>
            <a:off x="9893808" y="9665208"/>
            <a:ext cx="128016" cy="164592"/>
          </a:xfrm>
          <a:prstGeom prst="rect">
            <a:avLst/>
          </a:prstGeom>
          <a:noFill/>
        </p:spPr>
        <p:txBody>
          <a:bodyPr wrap="none" lIns="36576" tIns="18288" rIns="36576" bIns="18288" anchor="ctr">
            <a:spAutoFit/>
          </a:bodyPr>
          <a:lstStyle/>
          <a:p>
            <a:pPr algn="ctr"/>
            <a:r>
              <a:rPr sz="800" b="0">
                <a:solidFill>
                  <a:srgbClr val="38BDF8"/>
                </a:solidFill>
                <a:latin typeface="Inter"/>
              </a:rPr>
              <a:t>●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058400" y="9665208"/>
            <a:ext cx="128016" cy="164592"/>
          </a:xfrm>
          <a:prstGeom prst="rect">
            <a:avLst/>
          </a:prstGeom>
          <a:noFill/>
        </p:spPr>
        <p:txBody>
          <a:bodyPr wrap="none" lIns="36576" tIns="18288" rIns="36576" bIns="18288" anchor="ctr">
            <a:spAutoFit/>
          </a:bodyPr>
          <a:lstStyle/>
          <a:p>
            <a:pPr algn="ctr"/>
            <a:r>
              <a:rPr sz="800" b="0">
                <a:solidFill>
                  <a:srgbClr val="475569"/>
                </a:solidFill>
                <a:latin typeface="Inter"/>
              </a:rPr>
              <a:t>●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222992" y="9665208"/>
            <a:ext cx="128016" cy="164592"/>
          </a:xfrm>
          <a:prstGeom prst="rect">
            <a:avLst/>
          </a:prstGeom>
          <a:noFill/>
        </p:spPr>
        <p:txBody>
          <a:bodyPr wrap="none" lIns="36576" tIns="18288" rIns="36576" bIns="18288" anchor="ctr">
            <a:spAutoFit/>
          </a:bodyPr>
          <a:lstStyle/>
          <a:p>
            <a:pPr algn="ctr"/>
            <a:r>
              <a:rPr sz="800" b="0">
                <a:solidFill>
                  <a:srgbClr val="475569"/>
                </a:solidFill>
                <a:latin typeface="Inter"/>
              </a:rPr>
              <a:t>●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387584" y="9665208"/>
            <a:ext cx="128016" cy="164592"/>
          </a:xfrm>
          <a:prstGeom prst="rect">
            <a:avLst/>
          </a:prstGeom>
          <a:noFill/>
        </p:spPr>
        <p:txBody>
          <a:bodyPr wrap="none" lIns="36576" tIns="18288" rIns="36576" bIns="18288" anchor="ctr">
            <a:spAutoFit/>
          </a:bodyPr>
          <a:lstStyle/>
          <a:p>
            <a:pPr algn="ctr"/>
            <a:r>
              <a:rPr sz="800" b="0">
                <a:solidFill>
                  <a:srgbClr val="475569"/>
                </a:solidFill>
                <a:latin typeface="Inter"/>
              </a:rPr>
              <a:t>●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552176" y="9665208"/>
            <a:ext cx="128016" cy="164592"/>
          </a:xfrm>
          <a:prstGeom prst="rect">
            <a:avLst/>
          </a:prstGeom>
          <a:noFill/>
        </p:spPr>
        <p:txBody>
          <a:bodyPr wrap="none" lIns="36576" tIns="18288" rIns="36576" bIns="18288" anchor="ctr">
            <a:spAutoFit/>
          </a:bodyPr>
          <a:lstStyle/>
          <a:p>
            <a:pPr algn="ctr"/>
            <a:r>
              <a:rPr sz="800" b="0">
                <a:solidFill>
                  <a:srgbClr val="475569"/>
                </a:solidFill>
                <a:latin typeface="Inter"/>
              </a:rPr>
              <a:t>●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716768" y="9665208"/>
            <a:ext cx="128016" cy="164592"/>
          </a:xfrm>
          <a:prstGeom prst="rect">
            <a:avLst/>
          </a:prstGeom>
          <a:noFill/>
        </p:spPr>
        <p:txBody>
          <a:bodyPr wrap="none" lIns="36576" tIns="18288" rIns="36576" bIns="18288" anchor="ctr">
            <a:spAutoFit/>
          </a:bodyPr>
          <a:lstStyle/>
          <a:p>
            <a:pPr algn="ctr"/>
            <a:r>
              <a:rPr sz="800" b="0">
                <a:solidFill>
                  <a:srgbClr val="475569"/>
                </a:solidFill>
                <a:latin typeface="Inter"/>
              </a:rPr>
              <a:t>●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881360" y="9665208"/>
            <a:ext cx="128016" cy="164592"/>
          </a:xfrm>
          <a:prstGeom prst="rect">
            <a:avLst/>
          </a:prstGeom>
          <a:noFill/>
        </p:spPr>
        <p:txBody>
          <a:bodyPr wrap="none" lIns="36576" tIns="18288" rIns="36576" bIns="18288" anchor="ctr">
            <a:spAutoFit/>
          </a:bodyPr>
          <a:lstStyle/>
          <a:p>
            <a:pPr algn="ctr"/>
            <a:r>
              <a:rPr sz="800" b="0">
                <a:solidFill>
                  <a:srgbClr val="475569"/>
                </a:solidFill>
                <a:latin typeface="Inter"/>
              </a:rPr>
              <a:t>●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1045952" y="9665208"/>
            <a:ext cx="128016" cy="164592"/>
          </a:xfrm>
          <a:prstGeom prst="rect">
            <a:avLst/>
          </a:prstGeom>
          <a:noFill/>
        </p:spPr>
        <p:txBody>
          <a:bodyPr wrap="none" lIns="36576" tIns="18288" rIns="36576" bIns="18288" anchor="ctr">
            <a:spAutoFit/>
          </a:bodyPr>
          <a:lstStyle/>
          <a:p>
            <a:pPr algn="ctr"/>
            <a:r>
              <a:rPr sz="800" b="0">
                <a:solidFill>
                  <a:srgbClr val="475569"/>
                </a:solidFill>
                <a:latin typeface="Inter"/>
              </a:rPr>
              <a:t>●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1210544" y="9665208"/>
            <a:ext cx="128016" cy="164592"/>
          </a:xfrm>
          <a:prstGeom prst="rect">
            <a:avLst/>
          </a:prstGeom>
          <a:noFill/>
        </p:spPr>
        <p:txBody>
          <a:bodyPr wrap="none" lIns="36576" tIns="18288" rIns="36576" bIns="18288" anchor="ctr">
            <a:spAutoFit/>
          </a:bodyPr>
          <a:lstStyle/>
          <a:p>
            <a:pPr algn="ctr"/>
            <a:r>
              <a:rPr sz="800" b="0">
                <a:solidFill>
                  <a:srgbClr val="475569"/>
                </a:solidFill>
                <a:latin typeface="Inter"/>
              </a:rPr>
              <a:t>●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1375136" y="9665208"/>
            <a:ext cx="128016" cy="164592"/>
          </a:xfrm>
          <a:prstGeom prst="rect">
            <a:avLst/>
          </a:prstGeom>
          <a:noFill/>
        </p:spPr>
        <p:txBody>
          <a:bodyPr wrap="none" lIns="36576" tIns="18288" rIns="36576" bIns="18288" anchor="ctr">
            <a:spAutoFit/>
          </a:bodyPr>
          <a:lstStyle/>
          <a:p>
            <a:pPr algn="ctr"/>
            <a:r>
              <a:rPr sz="800" b="0">
                <a:solidFill>
                  <a:srgbClr val="475569"/>
                </a:solidFill>
                <a:latin typeface="Inter"/>
              </a:rPr>
              <a:t>●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1539728" y="9665208"/>
            <a:ext cx="128016" cy="164592"/>
          </a:xfrm>
          <a:prstGeom prst="rect">
            <a:avLst/>
          </a:prstGeom>
          <a:noFill/>
        </p:spPr>
        <p:txBody>
          <a:bodyPr wrap="none" lIns="36576" tIns="18288" rIns="36576" bIns="18288" anchor="ctr">
            <a:spAutoFit/>
          </a:bodyPr>
          <a:lstStyle/>
          <a:p>
            <a:pPr algn="ctr"/>
            <a:r>
              <a:rPr sz="800" b="0">
                <a:solidFill>
                  <a:srgbClr val="475569"/>
                </a:solidFill>
                <a:latin typeface="Inter"/>
              </a:rPr>
              <a:t>●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6504920" y="9637776"/>
            <a:ext cx="749808" cy="219456"/>
          </a:xfrm>
          <a:prstGeom prst="rect">
            <a:avLst/>
          </a:prstGeom>
          <a:noFill/>
        </p:spPr>
        <p:txBody>
          <a:bodyPr wrap="none" lIns="36576" tIns="18288" rIns="36576" bIns="18288" anchor="ctr">
            <a:spAutoFit/>
          </a:bodyPr>
          <a:lstStyle/>
          <a:p>
            <a:pPr algn="r"/>
            <a:r>
              <a:rPr sz="1050" b="0">
                <a:solidFill>
                  <a:srgbClr val="94A3B8"/>
                </a:solidFill>
                <a:latin typeface="JetBrains Mono"/>
              </a:rPr>
              <a:t>01 de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800100"/>
            <a:ext cx="35063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38BDF8">
                    <a:alpha val="6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1607939" y="823913"/>
            <a:ext cx="9525" cy="247650"/>
          </a:xfrm>
          <a:prstGeom prst="rect">
            <a:avLst/>
          </a:prstGeom>
          <a:solidFill>
            <a:srgbClr val="1E264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1807964" y="647700"/>
            <a:ext cx="7408738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900" b="1" kern="0" spc="-78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Por Que ILP Direto é Inviável?</a:t>
            </a:r>
            <a:endParaRPr lang="en-US" sz="3900" dirty="0"/>
          </a:p>
        </p:txBody>
      </p:sp>
      <p:sp>
        <p:nvSpPr>
          <p:cNvPr id="5" name="Shape 3"/>
          <p:cNvSpPr/>
          <p:nvPr/>
        </p:nvSpPr>
        <p:spPr>
          <a:xfrm>
            <a:off x="1143000" y="1590675"/>
            <a:ext cx="3810000" cy="1543050"/>
          </a:xfrm>
          <a:prstGeom prst="roundRect">
            <a:avLst>
              <a:gd name="adj" fmla="val 3704"/>
            </a:avLst>
          </a:prstGeom>
          <a:solidFill>
            <a:srgbClr val="F87171">
              <a:alpha val="6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1143000" y="3124200"/>
            <a:ext cx="3810000" cy="9525"/>
          </a:xfrm>
          <a:prstGeom prst="rect">
            <a:avLst/>
          </a:prstGeom>
          <a:solidFill>
            <a:srgbClr val="F87171">
              <a:alpha val="18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1143000" y="1590675"/>
            <a:ext cx="3810000" cy="9525"/>
          </a:xfrm>
          <a:prstGeom prst="rect">
            <a:avLst/>
          </a:prstGeom>
          <a:solidFill>
            <a:srgbClr val="F87171">
              <a:alpha val="18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1143000" y="1590675"/>
            <a:ext cx="28575" cy="1543050"/>
          </a:xfrm>
          <a:prstGeom prst="rect">
            <a:avLst/>
          </a:prstGeom>
          <a:solidFill>
            <a:srgbClr val="F8717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4943475" y="1590675"/>
            <a:ext cx="9525" cy="1543050"/>
          </a:xfrm>
          <a:prstGeom prst="rect">
            <a:avLst/>
          </a:prstGeom>
          <a:solidFill>
            <a:srgbClr val="F87171">
              <a:alpha val="18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1400175" y="1790700"/>
            <a:ext cx="364617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25" b="1" kern="0" spc="124" dirty="0">
                <a:solidFill>
                  <a:srgbClr val="F8717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NP-DIFÍCIL</a:t>
            </a:r>
            <a:endParaRPr lang="en-US" sz="825" dirty="0"/>
          </a:p>
        </p:txBody>
      </p:sp>
      <p:sp>
        <p:nvSpPr>
          <p:cNvPr id="11" name="Text 9"/>
          <p:cNvSpPr/>
          <p:nvPr/>
        </p:nvSpPr>
        <p:spPr>
          <a:xfrm>
            <a:off x="1400175" y="2019300"/>
            <a:ext cx="364617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Set Cover provado NP-difícil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1400175" y="2390775"/>
            <a:ext cx="3414141" cy="581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25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Karp, 1972 — um dos 21 problemas NP-completos originais</a:t>
            </a:r>
            <a:endParaRPr lang="en-US" sz="1425" dirty="0"/>
          </a:p>
        </p:txBody>
      </p:sp>
      <p:sp>
        <p:nvSpPr>
          <p:cNvPr id="13" name="Shape 11"/>
          <p:cNvSpPr/>
          <p:nvPr/>
        </p:nvSpPr>
        <p:spPr>
          <a:xfrm>
            <a:off x="1143000" y="3305175"/>
            <a:ext cx="3810000" cy="1552575"/>
          </a:xfrm>
          <a:prstGeom prst="roundRect">
            <a:avLst>
              <a:gd name="adj" fmla="val 3681"/>
            </a:avLst>
          </a:prstGeom>
          <a:solidFill>
            <a:srgbClr val="131720"/>
          </a:solidFill>
          <a:ln w="9525">
            <a:solidFill>
              <a:srgbClr val="1E264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1381125" y="3505200"/>
            <a:ext cx="366712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Espaço de busca:</a:t>
            </a:r>
            <a:endParaRPr lang="en-US" sz="1275" dirty="0"/>
          </a:p>
        </p:txBody>
      </p:sp>
      <p:sp>
        <p:nvSpPr>
          <p:cNvPr id="15" name="Text 13"/>
          <p:cNvSpPr/>
          <p:nvPr/>
        </p:nvSpPr>
        <p:spPr>
          <a:xfrm>
            <a:off x="1381125" y="3771900"/>
            <a:ext cx="366712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</a:t>
            </a:r>
            <a:r>
              <a:rPr lang="en-US" sz="1500" baseline="30000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3.268.760</a:t>
            </a:r>
            <a:endParaRPr lang="en-US" sz="2700" dirty="0"/>
          </a:p>
        </p:txBody>
      </p:sp>
      <p:sp>
        <p:nvSpPr>
          <p:cNvPr id="16" name="Text 14"/>
          <p:cNvSpPr/>
          <p:nvPr/>
        </p:nvSpPr>
        <p:spPr>
          <a:xfrm>
            <a:off x="1381125" y="4191000"/>
            <a:ext cx="3433763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possibilidades → força bruta impossível</a:t>
            </a:r>
            <a:endParaRPr lang="en-US" sz="1425" dirty="0"/>
          </a:p>
        </p:txBody>
      </p:sp>
      <p:sp>
        <p:nvSpPr>
          <p:cNvPr id="17" name="Shape 15"/>
          <p:cNvSpPr/>
          <p:nvPr/>
        </p:nvSpPr>
        <p:spPr>
          <a:xfrm>
            <a:off x="1143000" y="5029200"/>
            <a:ext cx="3810000" cy="1514475"/>
          </a:xfrm>
          <a:prstGeom prst="roundRect">
            <a:avLst>
              <a:gd name="adj" fmla="val 3774"/>
            </a:avLst>
          </a:prstGeom>
          <a:solidFill>
            <a:srgbClr val="131720"/>
          </a:solidFill>
          <a:ln w="9525">
            <a:solidFill>
              <a:srgbClr val="38BDF8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1381125" y="5229225"/>
            <a:ext cx="366712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Feige, 1998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381125" y="5495925"/>
            <a:ext cx="366712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5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Inaproximável abaixo de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381125" y="5819775"/>
            <a:ext cx="366712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38BD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(1−ε)·ln(n)·|OPT|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1381125" y="6153150"/>
            <a:ext cx="366712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menos que P=NP</a:t>
            </a:r>
            <a:endParaRPr lang="en-US" sz="1275" dirty="0"/>
          </a:p>
        </p:txBody>
      </p:sp>
      <p:sp>
        <p:nvSpPr>
          <p:cNvPr id="22" name="Shape 20"/>
          <p:cNvSpPr/>
          <p:nvPr/>
        </p:nvSpPr>
        <p:spPr>
          <a:xfrm>
            <a:off x="1143000" y="6715125"/>
            <a:ext cx="3810000" cy="1428750"/>
          </a:xfrm>
          <a:prstGeom prst="roundRect">
            <a:avLst>
              <a:gd name="adj" fmla="val 4000"/>
            </a:avLst>
          </a:prstGeom>
          <a:solidFill>
            <a:srgbClr val="34D399">
              <a:alpha val="5000"/>
            </a:srgbClr>
          </a:solidFill>
          <a:ln w="9525">
            <a:solidFill>
              <a:srgbClr val="34D399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/>
          <p:nvPr/>
        </p:nvSpPr>
        <p:spPr>
          <a:xfrm>
            <a:off x="1362075" y="6877050"/>
            <a:ext cx="370903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b="1" kern="0" spc="84" dirty="0">
                <a:solidFill>
                  <a:srgbClr val="34D3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SOLUÇÃO ADOTADA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362075" y="7124700"/>
            <a:ext cx="3473006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5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Algoritmo greedy com garantia de </a:t>
            </a:r>
            <a:r>
              <a:rPr lang="en-US" sz="1500" b="1" dirty="0">
                <a:solidFill>
                  <a:srgbClr val="34D3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ln(n)-aproximação </a:t>
            </a:r>
            <a:r>
              <a:rPr lang="en-US" sz="15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melhor razão polinomial possível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5334000" y="1590675"/>
            <a:ext cx="1299210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Escala do ILP Direto por instância — inviabilidade por memória e tempo: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5334000" y="1971675"/>
            <a:ext cx="11811000" cy="447675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7" name="Shape 25"/>
          <p:cNvSpPr/>
          <p:nvPr/>
        </p:nvSpPr>
        <p:spPr>
          <a:xfrm>
            <a:off x="5334000" y="2400300"/>
            <a:ext cx="11811000" cy="19050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8" name="Text 26"/>
          <p:cNvSpPr/>
          <p:nvPr/>
        </p:nvSpPr>
        <p:spPr>
          <a:xfrm>
            <a:off x="5486400" y="2095500"/>
            <a:ext cx="82302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275" b="1" dirty="0">
                <a:solidFill>
                  <a:srgbClr val="7DD3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</a:t>
            </a:r>
            <a:endParaRPr lang="en-US" sz="1275" dirty="0"/>
          </a:p>
        </p:txBody>
      </p:sp>
      <p:sp>
        <p:nvSpPr>
          <p:cNvPr id="29" name="Text 27"/>
          <p:cNvSpPr/>
          <p:nvPr/>
        </p:nvSpPr>
        <p:spPr>
          <a:xfrm>
            <a:off x="6571399" y="2095500"/>
            <a:ext cx="2397282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r">
              <a:buNone/>
            </a:pPr>
            <a:r>
              <a:rPr lang="en-US" sz="1275" b="1" dirty="0">
                <a:solidFill>
                  <a:srgbClr val="7DD3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Variáveis</a:t>
            </a:r>
            <a:endParaRPr lang="en-US" sz="1275" dirty="0"/>
          </a:p>
        </p:txBody>
      </p:sp>
      <p:sp>
        <p:nvSpPr>
          <p:cNvPr id="30" name="Text 28"/>
          <p:cNvSpPr/>
          <p:nvPr/>
        </p:nvSpPr>
        <p:spPr>
          <a:xfrm>
            <a:off x="9268760" y="2095500"/>
            <a:ext cx="2397282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r">
              <a:buNone/>
            </a:pPr>
            <a:r>
              <a:rPr lang="en-US" sz="1275" b="1" dirty="0">
                <a:solidFill>
                  <a:srgbClr val="7DD3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Restrições</a:t>
            </a:r>
            <a:endParaRPr lang="en-US" sz="1275" dirty="0"/>
          </a:p>
        </p:txBody>
      </p:sp>
      <p:sp>
        <p:nvSpPr>
          <p:cNvPr id="31" name="Text 29"/>
          <p:cNvSpPr/>
          <p:nvPr/>
        </p:nvSpPr>
        <p:spPr>
          <a:xfrm>
            <a:off x="11939215" y="2095500"/>
            <a:ext cx="3321025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r">
              <a:buNone/>
            </a:pPr>
            <a:r>
              <a:rPr lang="en-US" sz="1275" b="1" dirty="0">
                <a:solidFill>
                  <a:srgbClr val="7DD3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Coef. não-nulos</a:t>
            </a:r>
            <a:endParaRPr lang="en-US" sz="1275" dirty="0"/>
          </a:p>
        </p:txBody>
      </p:sp>
      <p:sp>
        <p:nvSpPr>
          <p:cNvPr id="32" name="Text 30"/>
          <p:cNvSpPr/>
          <p:nvPr/>
        </p:nvSpPr>
        <p:spPr>
          <a:xfrm>
            <a:off x="15603141" y="2095500"/>
            <a:ext cx="1389459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275" b="1" dirty="0">
                <a:solidFill>
                  <a:srgbClr val="7DD3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Viável?</a:t>
            </a:r>
            <a:endParaRPr lang="en-US" sz="1275" dirty="0"/>
          </a:p>
        </p:txBody>
      </p:sp>
      <p:sp>
        <p:nvSpPr>
          <p:cNvPr id="33" name="Shape 31"/>
          <p:cNvSpPr/>
          <p:nvPr/>
        </p:nvSpPr>
        <p:spPr>
          <a:xfrm>
            <a:off x="5334000" y="2419350"/>
            <a:ext cx="11811000" cy="585788"/>
          </a:xfrm>
          <a:prstGeom prst="rect">
            <a:avLst/>
          </a:prstGeom>
          <a:solidFill>
            <a:srgbClr val="1A1F2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4" name="Shape 32"/>
          <p:cNvSpPr/>
          <p:nvPr/>
        </p:nvSpPr>
        <p:spPr>
          <a:xfrm>
            <a:off x="5334000" y="2995613"/>
            <a:ext cx="11811000" cy="9525"/>
          </a:xfrm>
          <a:prstGeom prst="rect">
            <a:avLst/>
          </a:prstGeom>
          <a:solidFill>
            <a:srgbClr val="1E264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5" name="Text 33"/>
          <p:cNvSpPr/>
          <p:nvPr/>
        </p:nvSpPr>
        <p:spPr>
          <a:xfrm>
            <a:off x="5486400" y="2552700"/>
            <a:ext cx="823020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14</a:t>
            </a:r>
            <a:endParaRPr lang="en-US" sz="1650" dirty="0"/>
          </a:p>
        </p:txBody>
      </p:sp>
      <p:sp>
        <p:nvSpPr>
          <p:cNvPr id="36" name="Text 34"/>
          <p:cNvSpPr/>
          <p:nvPr/>
        </p:nvSpPr>
        <p:spPr>
          <a:xfrm>
            <a:off x="6571399" y="2552700"/>
            <a:ext cx="2397282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65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3.268.760</a:t>
            </a:r>
            <a:endParaRPr lang="en-US" sz="1650" dirty="0"/>
          </a:p>
        </p:txBody>
      </p:sp>
      <p:sp>
        <p:nvSpPr>
          <p:cNvPr id="37" name="Text 35"/>
          <p:cNvSpPr/>
          <p:nvPr/>
        </p:nvSpPr>
        <p:spPr>
          <a:xfrm>
            <a:off x="9268760" y="2552700"/>
            <a:ext cx="2397282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65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4.457.400</a:t>
            </a:r>
            <a:endParaRPr lang="en-US" sz="1650" dirty="0"/>
          </a:p>
        </p:txBody>
      </p:sp>
      <p:sp>
        <p:nvSpPr>
          <p:cNvPr id="38" name="Text 36"/>
          <p:cNvSpPr/>
          <p:nvPr/>
        </p:nvSpPr>
        <p:spPr>
          <a:xfrm>
            <a:off x="11939215" y="2552700"/>
            <a:ext cx="3321025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650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49.031.400</a:t>
            </a:r>
            <a:endParaRPr lang="en-US" sz="1650" dirty="0"/>
          </a:p>
        </p:txBody>
      </p:sp>
      <p:sp>
        <p:nvSpPr>
          <p:cNvPr id="39" name="Text 37"/>
          <p:cNvSpPr/>
          <p:nvPr/>
        </p:nvSpPr>
        <p:spPr>
          <a:xfrm>
            <a:off x="15603141" y="2552700"/>
            <a:ext cx="1389459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8717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✗</a:t>
            </a:r>
            <a:endParaRPr lang="en-US" sz="1800" dirty="0"/>
          </a:p>
        </p:txBody>
      </p:sp>
      <p:sp>
        <p:nvSpPr>
          <p:cNvPr id="40" name="Shape 38"/>
          <p:cNvSpPr/>
          <p:nvPr/>
        </p:nvSpPr>
        <p:spPr>
          <a:xfrm>
            <a:off x="5334000" y="3005138"/>
            <a:ext cx="11811000" cy="581025"/>
          </a:xfrm>
          <a:prstGeom prst="rect">
            <a:avLst/>
          </a:prstGeom>
          <a:solidFill>
            <a:srgbClr val="14182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1" name="Shape 39"/>
          <p:cNvSpPr/>
          <p:nvPr/>
        </p:nvSpPr>
        <p:spPr>
          <a:xfrm>
            <a:off x="5334000" y="3576638"/>
            <a:ext cx="11811000" cy="9525"/>
          </a:xfrm>
          <a:prstGeom prst="rect">
            <a:avLst/>
          </a:prstGeom>
          <a:solidFill>
            <a:srgbClr val="1E264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2" name="Text 40"/>
          <p:cNvSpPr/>
          <p:nvPr/>
        </p:nvSpPr>
        <p:spPr>
          <a:xfrm>
            <a:off x="5486400" y="3138488"/>
            <a:ext cx="82302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13</a:t>
            </a:r>
            <a:endParaRPr lang="en-US" sz="1650" dirty="0"/>
          </a:p>
        </p:txBody>
      </p:sp>
      <p:sp>
        <p:nvSpPr>
          <p:cNvPr id="43" name="Text 41"/>
          <p:cNvSpPr/>
          <p:nvPr/>
        </p:nvSpPr>
        <p:spPr>
          <a:xfrm>
            <a:off x="6571399" y="3138488"/>
            <a:ext cx="2397282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65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3.268.760</a:t>
            </a:r>
            <a:endParaRPr lang="en-US" sz="1650" dirty="0"/>
          </a:p>
        </p:txBody>
      </p:sp>
      <p:sp>
        <p:nvSpPr>
          <p:cNvPr id="44" name="Text 42"/>
          <p:cNvSpPr/>
          <p:nvPr/>
        </p:nvSpPr>
        <p:spPr>
          <a:xfrm>
            <a:off x="9268760" y="3138488"/>
            <a:ext cx="2397282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65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5.200.300</a:t>
            </a:r>
            <a:endParaRPr lang="en-US" sz="1650" dirty="0"/>
          </a:p>
        </p:txBody>
      </p:sp>
      <p:sp>
        <p:nvSpPr>
          <p:cNvPr id="45" name="Text 43"/>
          <p:cNvSpPr/>
          <p:nvPr/>
        </p:nvSpPr>
        <p:spPr>
          <a:xfrm>
            <a:off x="11939215" y="3138488"/>
            <a:ext cx="3321025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650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343.219.800</a:t>
            </a:r>
            <a:endParaRPr lang="en-US" sz="1650" dirty="0"/>
          </a:p>
        </p:txBody>
      </p:sp>
      <p:sp>
        <p:nvSpPr>
          <p:cNvPr id="46" name="Text 44"/>
          <p:cNvSpPr/>
          <p:nvPr/>
        </p:nvSpPr>
        <p:spPr>
          <a:xfrm>
            <a:off x="15603141" y="3138488"/>
            <a:ext cx="1389459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8717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✗</a:t>
            </a:r>
            <a:endParaRPr lang="en-US" sz="1800" dirty="0"/>
          </a:p>
        </p:txBody>
      </p:sp>
      <p:sp>
        <p:nvSpPr>
          <p:cNvPr id="47" name="Shape 45"/>
          <p:cNvSpPr/>
          <p:nvPr/>
        </p:nvSpPr>
        <p:spPr>
          <a:xfrm>
            <a:off x="5334000" y="3586163"/>
            <a:ext cx="11811000" cy="581025"/>
          </a:xfrm>
          <a:prstGeom prst="rect">
            <a:avLst/>
          </a:prstGeom>
          <a:solidFill>
            <a:srgbClr val="1A1F2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8" name="Shape 46"/>
          <p:cNvSpPr/>
          <p:nvPr/>
        </p:nvSpPr>
        <p:spPr>
          <a:xfrm>
            <a:off x="5334000" y="4157663"/>
            <a:ext cx="11811000" cy="9525"/>
          </a:xfrm>
          <a:prstGeom prst="rect">
            <a:avLst/>
          </a:prstGeom>
          <a:solidFill>
            <a:srgbClr val="1E264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9" name="Text 47"/>
          <p:cNvSpPr/>
          <p:nvPr/>
        </p:nvSpPr>
        <p:spPr>
          <a:xfrm>
            <a:off x="5486400" y="3719512"/>
            <a:ext cx="82302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12</a:t>
            </a:r>
            <a:endParaRPr lang="en-US" sz="1650" dirty="0"/>
          </a:p>
        </p:txBody>
      </p:sp>
      <p:sp>
        <p:nvSpPr>
          <p:cNvPr id="50" name="Text 48"/>
          <p:cNvSpPr/>
          <p:nvPr/>
        </p:nvSpPr>
        <p:spPr>
          <a:xfrm>
            <a:off x="6571399" y="3719512"/>
            <a:ext cx="2397282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65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3.268.760</a:t>
            </a:r>
            <a:endParaRPr lang="en-US" sz="1650" dirty="0"/>
          </a:p>
        </p:txBody>
      </p:sp>
      <p:sp>
        <p:nvSpPr>
          <p:cNvPr id="51" name="Text 49"/>
          <p:cNvSpPr/>
          <p:nvPr/>
        </p:nvSpPr>
        <p:spPr>
          <a:xfrm>
            <a:off x="9268760" y="3719512"/>
            <a:ext cx="2397282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65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5.200.300</a:t>
            </a:r>
            <a:endParaRPr lang="en-US" sz="1650" dirty="0"/>
          </a:p>
        </p:txBody>
      </p:sp>
      <p:sp>
        <p:nvSpPr>
          <p:cNvPr id="52" name="Text 50"/>
          <p:cNvSpPr/>
          <p:nvPr/>
        </p:nvSpPr>
        <p:spPr>
          <a:xfrm>
            <a:off x="11939215" y="3719512"/>
            <a:ext cx="3321025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650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1.487.285.800</a:t>
            </a:r>
            <a:endParaRPr lang="en-US" sz="1650" dirty="0"/>
          </a:p>
        </p:txBody>
      </p:sp>
      <p:sp>
        <p:nvSpPr>
          <p:cNvPr id="53" name="Text 51"/>
          <p:cNvSpPr/>
          <p:nvPr/>
        </p:nvSpPr>
        <p:spPr>
          <a:xfrm>
            <a:off x="15603141" y="3719512"/>
            <a:ext cx="1389459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8717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✗</a:t>
            </a:r>
            <a:endParaRPr lang="en-US" sz="1800" dirty="0"/>
          </a:p>
        </p:txBody>
      </p:sp>
      <p:sp>
        <p:nvSpPr>
          <p:cNvPr id="54" name="Shape 52"/>
          <p:cNvSpPr/>
          <p:nvPr/>
        </p:nvSpPr>
        <p:spPr>
          <a:xfrm>
            <a:off x="5334000" y="4167188"/>
            <a:ext cx="11811000" cy="576263"/>
          </a:xfrm>
          <a:prstGeom prst="rect">
            <a:avLst/>
          </a:prstGeom>
          <a:solidFill>
            <a:srgbClr val="14182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5" name="Text 53"/>
          <p:cNvSpPr/>
          <p:nvPr/>
        </p:nvSpPr>
        <p:spPr>
          <a:xfrm>
            <a:off x="5486400" y="4300538"/>
            <a:ext cx="82302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11</a:t>
            </a:r>
            <a:endParaRPr lang="en-US" sz="1650" dirty="0"/>
          </a:p>
        </p:txBody>
      </p:sp>
      <p:sp>
        <p:nvSpPr>
          <p:cNvPr id="56" name="Text 54"/>
          <p:cNvSpPr/>
          <p:nvPr/>
        </p:nvSpPr>
        <p:spPr>
          <a:xfrm>
            <a:off x="6571399" y="4300538"/>
            <a:ext cx="2397282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65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3.268.760</a:t>
            </a:r>
            <a:endParaRPr lang="en-US" sz="1650" dirty="0"/>
          </a:p>
        </p:txBody>
      </p:sp>
      <p:sp>
        <p:nvSpPr>
          <p:cNvPr id="57" name="Text 55"/>
          <p:cNvSpPr/>
          <p:nvPr/>
        </p:nvSpPr>
        <p:spPr>
          <a:xfrm>
            <a:off x="9268760" y="4300538"/>
            <a:ext cx="2397282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65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4.457.400</a:t>
            </a:r>
            <a:endParaRPr lang="en-US" sz="1650" dirty="0"/>
          </a:p>
        </p:txBody>
      </p:sp>
      <p:sp>
        <p:nvSpPr>
          <p:cNvPr id="58" name="Text 56"/>
          <p:cNvSpPr/>
          <p:nvPr/>
        </p:nvSpPr>
        <p:spPr>
          <a:xfrm>
            <a:off x="11939215" y="4300538"/>
            <a:ext cx="3321025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650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4.461.857.400</a:t>
            </a:r>
            <a:endParaRPr lang="en-US" sz="1650" dirty="0"/>
          </a:p>
        </p:txBody>
      </p:sp>
      <p:sp>
        <p:nvSpPr>
          <p:cNvPr id="59" name="Text 57"/>
          <p:cNvSpPr/>
          <p:nvPr/>
        </p:nvSpPr>
        <p:spPr>
          <a:xfrm>
            <a:off x="15603141" y="4300538"/>
            <a:ext cx="1389459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8717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✗</a:t>
            </a:r>
            <a:endParaRPr lang="en-US" sz="1800" dirty="0"/>
          </a:p>
        </p:txBody>
      </p:sp>
      <p:sp>
        <p:nvSpPr>
          <p:cNvPr id="60" name="Text 58"/>
          <p:cNvSpPr/>
          <p:nvPr/>
        </p:nvSpPr>
        <p:spPr>
          <a:xfrm>
            <a:off x="5334000" y="4876800"/>
            <a:ext cx="129921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Todas as instâncias inviáveis por limite de memória e tempo de resolução</a:t>
            </a:r>
            <a:endParaRPr lang="en-US" sz="1275" dirty="0"/>
          </a:p>
        </p:txBody>
      </p:sp>
      <p:sp>
        <p:nvSpPr>
          <p:cNvPr id="61" name="Shape 59"/>
          <p:cNvSpPr/>
          <p:nvPr/>
        </p:nvSpPr>
        <p:spPr>
          <a:xfrm>
            <a:off x="1143000" y="9496425"/>
            <a:ext cx="16002000" cy="9525"/>
          </a:xfrm>
          <a:prstGeom prst="rect">
            <a:avLst/>
          </a:prstGeom>
          <a:solidFill>
            <a:srgbClr val="161C2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2" name="TextBox 61"/>
          <p:cNvSpPr txBox="1"/>
          <p:nvPr/>
        </p:nvSpPr>
        <p:spPr>
          <a:xfrm>
            <a:off x="9893808" y="9665208"/>
            <a:ext cx="128016" cy="164592"/>
          </a:xfrm>
          <a:prstGeom prst="rect">
            <a:avLst/>
          </a:prstGeom>
          <a:noFill/>
        </p:spPr>
        <p:txBody>
          <a:bodyPr wrap="none" lIns="36576" tIns="18288" rIns="36576" bIns="18288" anchor="ctr">
            <a:spAutoFit/>
          </a:bodyPr>
          <a:lstStyle/>
          <a:p>
            <a:pPr algn="ctr"/>
            <a:r>
              <a:rPr sz="800" b="0">
                <a:solidFill>
                  <a:srgbClr val="475569"/>
                </a:solidFill>
                <a:latin typeface="Inter"/>
              </a:rPr>
              <a:t>●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058400" y="9665208"/>
            <a:ext cx="128016" cy="164592"/>
          </a:xfrm>
          <a:prstGeom prst="rect">
            <a:avLst/>
          </a:prstGeom>
          <a:noFill/>
        </p:spPr>
        <p:txBody>
          <a:bodyPr wrap="none" lIns="36576" tIns="18288" rIns="36576" bIns="18288" anchor="ctr">
            <a:spAutoFit/>
          </a:bodyPr>
          <a:lstStyle/>
          <a:p>
            <a:pPr algn="ctr"/>
            <a:r>
              <a:rPr sz="800" b="0">
                <a:solidFill>
                  <a:srgbClr val="38BDF8"/>
                </a:solidFill>
                <a:latin typeface="Inter"/>
              </a:rPr>
              <a:t>●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222992" y="9665208"/>
            <a:ext cx="128016" cy="164592"/>
          </a:xfrm>
          <a:prstGeom prst="rect">
            <a:avLst/>
          </a:prstGeom>
          <a:noFill/>
        </p:spPr>
        <p:txBody>
          <a:bodyPr wrap="none" lIns="36576" tIns="18288" rIns="36576" bIns="18288" anchor="ctr">
            <a:spAutoFit/>
          </a:bodyPr>
          <a:lstStyle/>
          <a:p>
            <a:pPr algn="ctr"/>
            <a:r>
              <a:rPr sz="800" b="0">
                <a:solidFill>
                  <a:srgbClr val="475569"/>
                </a:solidFill>
                <a:latin typeface="Inter"/>
              </a:rPr>
              <a:t>●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387584" y="9665208"/>
            <a:ext cx="128016" cy="164592"/>
          </a:xfrm>
          <a:prstGeom prst="rect">
            <a:avLst/>
          </a:prstGeom>
          <a:noFill/>
        </p:spPr>
        <p:txBody>
          <a:bodyPr wrap="none" lIns="36576" tIns="18288" rIns="36576" bIns="18288" anchor="ctr">
            <a:spAutoFit/>
          </a:bodyPr>
          <a:lstStyle/>
          <a:p>
            <a:pPr algn="ctr"/>
            <a:r>
              <a:rPr sz="800" b="0">
                <a:solidFill>
                  <a:srgbClr val="475569"/>
                </a:solidFill>
                <a:latin typeface="Inter"/>
              </a:rPr>
              <a:t>●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552176" y="9665208"/>
            <a:ext cx="128016" cy="164592"/>
          </a:xfrm>
          <a:prstGeom prst="rect">
            <a:avLst/>
          </a:prstGeom>
          <a:noFill/>
        </p:spPr>
        <p:txBody>
          <a:bodyPr wrap="none" lIns="36576" tIns="18288" rIns="36576" bIns="18288" anchor="ctr">
            <a:spAutoFit/>
          </a:bodyPr>
          <a:lstStyle/>
          <a:p>
            <a:pPr algn="ctr"/>
            <a:r>
              <a:rPr sz="800" b="0">
                <a:solidFill>
                  <a:srgbClr val="475569"/>
                </a:solidFill>
                <a:latin typeface="Inter"/>
              </a:rPr>
              <a:t>●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716768" y="9665208"/>
            <a:ext cx="128016" cy="164592"/>
          </a:xfrm>
          <a:prstGeom prst="rect">
            <a:avLst/>
          </a:prstGeom>
          <a:noFill/>
        </p:spPr>
        <p:txBody>
          <a:bodyPr wrap="none" lIns="36576" tIns="18288" rIns="36576" bIns="18288" anchor="ctr">
            <a:spAutoFit/>
          </a:bodyPr>
          <a:lstStyle/>
          <a:p>
            <a:pPr algn="ctr"/>
            <a:r>
              <a:rPr sz="800" b="0">
                <a:solidFill>
                  <a:srgbClr val="475569"/>
                </a:solidFill>
                <a:latin typeface="Inter"/>
              </a:rPr>
              <a:t>●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881360" y="9665208"/>
            <a:ext cx="128016" cy="164592"/>
          </a:xfrm>
          <a:prstGeom prst="rect">
            <a:avLst/>
          </a:prstGeom>
          <a:noFill/>
        </p:spPr>
        <p:txBody>
          <a:bodyPr wrap="none" lIns="36576" tIns="18288" rIns="36576" bIns="18288" anchor="ctr">
            <a:spAutoFit/>
          </a:bodyPr>
          <a:lstStyle/>
          <a:p>
            <a:pPr algn="ctr"/>
            <a:r>
              <a:rPr sz="800" b="0">
                <a:solidFill>
                  <a:srgbClr val="475569"/>
                </a:solidFill>
                <a:latin typeface="Inter"/>
              </a:rPr>
              <a:t>●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1045952" y="9665208"/>
            <a:ext cx="128016" cy="164592"/>
          </a:xfrm>
          <a:prstGeom prst="rect">
            <a:avLst/>
          </a:prstGeom>
          <a:noFill/>
        </p:spPr>
        <p:txBody>
          <a:bodyPr wrap="none" lIns="36576" tIns="18288" rIns="36576" bIns="18288" anchor="ctr">
            <a:spAutoFit/>
          </a:bodyPr>
          <a:lstStyle/>
          <a:p>
            <a:pPr algn="ctr"/>
            <a:r>
              <a:rPr sz="800" b="0">
                <a:solidFill>
                  <a:srgbClr val="475569"/>
                </a:solidFill>
                <a:latin typeface="Inter"/>
              </a:rPr>
              <a:t>●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1210544" y="9665208"/>
            <a:ext cx="128016" cy="164592"/>
          </a:xfrm>
          <a:prstGeom prst="rect">
            <a:avLst/>
          </a:prstGeom>
          <a:noFill/>
        </p:spPr>
        <p:txBody>
          <a:bodyPr wrap="none" lIns="36576" tIns="18288" rIns="36576" bIns="18288" anchor="ctr">
            <a:spAutoFit/>
          </a:bodyPr>
          <a:lstStyle/>
          <a:p>
            <a:pPr algn="ctr"/>
            <a:r>
              <a:rPr sz="800" b="0">
                <a:solidFill>
                  <a:srgbClr val="475569"/>
                </a:solidFill>
                <a:latin typeface="Inter"/>
              </a:rPr>
              <a:t>●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1375136" y="9665208"/>
            <a:ext cx="128016" cy="164592"/>
          </a:xfrm>
          <a:prstGeom prst="rect">
            <a:avLst/>
          </a:prstGeom>
          <a:noFill/>
        </p:spPr>
        <p:txBody>
          <a:bodyPr wrap="none" lIns="36576" tIns="18288" rIns="36576" bIns="18288" anchor="ctr">
            <a:spAutoFit/>
          </a:bodyPr>
          <a:lstStyle/>
          <a:p>
            <a:pPr algn="ctr"/>
            <a:r>
              <a:rPr sz="800" b="0">
                <a:solidFill>
                  <a:srgbClr val="475569"/>
                </a:solidFill>
                <a:latin typeface="Inter"/>
              </a:rPr>
              <a:t>●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1539728" y="9665208"/>
            <a:ext cx="128016" cy="164592"/>
          </a:xfrm>
          <a:prstGeom prst="rect">
            <a:avLst/>
          </a:prstGeom>
          <a:noFill/>
        </p:spPr>
        <p:txBody>
          <a:bodyPr wrap="none" lIns="36576" tIns="18288" rIns="36576" bIns="18288" anchor="ctr">
            <a:spAutoFit/>
          </a:bodyPr>
          <a:lstStyle/>
          <a:p>
            <a:pPr algn="ctr"/>
            <a:r>
              <a:rPr sz="800" b="0">
                <a:solidFill>
                  <a:srgbClr val="475569"/>
                </a:solidFill>
                <a:latin typeface="Inter"/>
              </a:rPr>
              <a:t>●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6504920" y="9637776"/>
            <a:ext cx="749808" cy="219456"/>
          </a:xfrm>
          <a:prstGeom prst="rect">
            <a:avLst/>
          </a:prstGeom>
          <a:noFill/>
        </p:spPr>
        <p:txBody>
          <a:bodyPr wrap="none" lIns="36576" tIns="18288" rIns="36576" bIns="18288" anchor="ctr">
            <a:spAutoFit/>
          </a:bodyPr>
          <a:lstStyle/>
          <a:p>
            <a:pPr algn="r"/>
            <a:r>
              <a:rPr sz="1050" b="0">
                <a:solidFill>
                  <a:srgbClr val="94A3B8"/>
                </a:solidFill>
                <a:latin typeface="JetBrains Mono"/>
              </a:rPr>
              <a:t>02 de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800100"/>
            <a:ext cx="35063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38BDF8">
                    <a:alpha val="6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1607939" y="823913"/>
            <a:ext cx="9525" cy="247650"/>
          </a:xfrm>
          <a:prstGeom prst="rect">
            <a:avLst/>
          </a:prstGeom>
          <a:solidFill>
            <a:srgbClr val="1E264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1807964" y="647700"/>
            <a:ext cx="3656811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900" b="1" kern="0" spc="-78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Lower Bounds</a:t>
            </a:r>
            <a:endParaRPr lang="en-US" sz="3900" dirty="0"/>
          </a:p>
        </p:txBody>
      </p:sp>
      <p:sp>
        <p:nvSpPr>
          <p:cNvPr id="5" name="Shape 3"/>
          <p:cNvSpPr/>
          <p:nvPr/>
        </p:nvSpPr>
        <p:spPr>
          <a:xfrm>
            <a:off x="1143000" y="1514475"/>
            <a:ext cx="10801350" cy="523875"/>
          </a:xfrm>
          <a:prstGeom prst="roundRect">
            <a:avLst>
              <a:gd name="adj" fmla="val 10909"/>
            </a:avLst>
          </a:prstGeom>
          <a:solidFill>
            <a:srgbClr val="38BDF8">
              <a:alpha val="5000"/>
            </a:srgbClr>
          </a:solidFill>
          <a:ln w="9525">
            <a:solidFill>
              <a:srgbClr val="38BDF8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1362075" y="1666875"/>
            <a:ext cx="65023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425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LB-LP:</a:t>
            </a:r>
            <a:endParaRPr lang="en-US" sz="1425" dirty="0"/>
          </a:p>
        </p:txBody>
      </p:sp>
      <p:sp>
        <p:nvSpPr>
          <p:cNvPr id="7" name="Text 5"/>
          <p:cNvSpPr/>
          <p:nvPr/>
        </p:nvSpPr>
        <p:spPr>
          <a:xfrm>
            <a:off x="2050405" y="1657350"/>
            <a:ext cx="3242295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dirty="0">
                <a:solidFill>
                  <a:srgbClr val="38BD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|SB| ≥ ⌈ C(25,p) / C(15,p) ⌉</a:t>
            </a:r>
            <a:endParaRPr lang="en-US" sz="1425" dirty="0"/>
          </a:p>
        </p:txBody>
      </p:sp>
      <p:sp>
        <p:nvSpPr>
          <p:cNvPr id="8" name="Text 6"/>
          <p:cNvSpPr/>
          <p:nvPr/>
        </p:nvSpPr>
        <p:spPr>
          <a:xfrm>
            <a:off x="5112246" y="1664940"/>
            <a:ext cx="4685407" cy="26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cada X ∈ S</a:t>
            </a:r>
            <a:r>
              <a:rPr lang="en-US" sz="1063" baseline="-400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 </a:t>
            </a:r>
            <a:r>
              <a:rPr lang="en-US" sz="1275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cobre exatamente C(15,p) subconjuntos</a:t>
            </a:r>
            <a:endParaRPr lang="en-US" sz="1275" dirty="0"/>
          </a:p>
        </p:txBody>
      </p:sp>
      <p:sp>
        <p:nvSpPr>
          <p:cNvPr id="9" name="Shape 7"/>
          <p:cNvSpPr/>
          <p:nvPr/>
        </p:nvSpPr>
        <p:spPr>
          <a:xfrm>
            <a:off x="12134850" y="1514475"/>
            <a:ext cx="5010150" cy="523875"/>
          </a:xfrm>
          <a:prstGeom prst="roundRect">
            <a:avLst>
              <a:gd name="adj" fmla="val 10909"/>
            </a:avLst>
          </a:prstGeom>
          <a:solidFill>
            <a:srgbClr val="818CF8">
              <a:alpha val="5000"/>
            </a:srgbClr>
          </a:solidFill>
          <a:ln w="9525">
            <a:solidFill>
              <a:srgbClr val="818CF8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12353925" y="1666875"/>
            <a:ext cx="1085255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425" dirty="0">
                <a:solidFill>
                  <a:srgbClr val="818C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Schönheim:</a:t>
            </a:r>
            <a:endParaRPr lang="en-US" sz="1425" dirty="0"/>
          </a:p>
        </p:txBody>
      </p:sp>
      <p:sp>
        <p:nvSpPr>
          <p:cNvPr id="11" name="Text 9"/>
          <p:cNvSpPr/>
          <p:nvPr/>
        </p:nvSpPr>
        <p:spPr>
          <a:xfrm>
            <a:off x="13477280" y="1662113"/>
            <a:ext cx="3639949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818C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L(n,k,t) = ⌈(n/k)·L(n-1,k-1,t-1)⌉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1143000" y="2266950"/>
            <a:ext cx="16002000" cy="466725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1143000" y="2714625"/>
            <a:ext cx="16002000" cy="19050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1295400" y="2390775"/>
            <a:ext cx="1200001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275" b="1" dirty="0">
                <a:solidFill>
                  <a:srgbClr val="7DD3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</a:t>
            </a:r>
            <a:endParaRPr lang="en-US" sz="1275" dirty="0"/>
          </a:p>
        </p:txBody>
      </p:sp>
      <p:sp>
        <p:nvSpPr>
          <p:cNvPr id="15" name="Text 13"/>
          <p:cNvSpPr/>
          <p:nvPr/>
        </p:nvSpPr>
        <p:spPr>
          <a:xfrm>
            <a:off x="2682858" y="2390775"/>
            <a:ext cx="4955895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275" b="1" dirty="0">
                <a:solidFill>
                  <a:srgbClr val="7DD3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C(15, p) cobertos por X</a:t>
            </a:r>
            <a:endParaRPr lang="en-US" sz="1275" dirty="0"/>
          </a:p>
        </p:txBody>
      </p:sp>
      <p:sp>
        <p:nvSpPr>
          <p:cNvPr id="16" name="Text 14"/>
          <p:cNvSpPr/>
          <p:nvPr/>
        </p:nvSpPr>
        <p:spPr>
          <a:xfrm>
            <a:off x="7849789" y="2390775"/>
            <a:ext cx="5454403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275" b="1" dirty="0">
                <a:solidFill>
                  <a:srgbClr val="7DD3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LB-LP = ⌈C(25,p)/C(15,p)⌉</a:t>
            </a:r>
            <a:endParaRPr lang="en-US" sz="1275" dirty="0"/>
          </a:p>
        </p:txBody>
      </p:sp>
      <p:sp>
        <p:nvSpPr>
          <p:cNvPr id="17" name="Text 15"/>
          <p:cNvSpPr/>
          <p:nvPr/>
        </p:nvSpPr>
        <p:spPr>
          <a:xfrm>
            <a:off x="13575683" y="2390775"/>
            <a:ext cx="3378817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275" b="1" dirty="0">
                <a:solidFill>
                  <a:srgbClr val="7DD3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LB-Schönheim</a:t>
            </a:r>
            <a:endParaRPr lang="en-US" sz="1275" dirty="0"/>
          </a:p>
        </p:txBody>
      </p:sp>
      <p:sp>
        <p:nvSpPr>
          <p:cNvPr id="18" name="Shape 16"/>
          <p:cNvSpPr/>
          <p:nvPr/>
        </p:nvSpPr>
        <p:spPr>
          <a:xfrm>
            <a:off x="1143000" y="2733675"/>
            <a:ext cx="16002000" cy="538163"/>
          </a:xfrm>
          <a:prstGeom prst="rect">
            <a:avLst/>
          </a:prstGeom>
          <a:solidFill>
            <a:srgbClr val="1A1F2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Shape 17"/>
          <p:cNvSpPr/>
          <p:nvPr/>
        </p:nvSpPr>
        <p:spPr>
          <a:xfrm>
            <a:off x="1143000" y="3262313"/>
            <a:ext cx="16002000" cy="9525"/>
          </a:xfrm>
          <a:prstGeom prst="rect">
            <a:avLst/>
          </a:prstGeom>
          <a:solidFill>
            <a:srgbClr val="1E264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1295400" y="2857500"/>
            <a:ext cx="1200001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14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2682858" y="2857500"/>
            <a:ext cx="4955895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65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15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7849789" y="2857500"/>
            <a:ext cx="5454403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650" b="1" dirty="0">
                <a:solidFill>
                  <a:srgbClr val="A3E63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297.160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13575683" y="2857500"/>
            <a:ext cx="3378817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650" b="1" dirty="0">
                <a:solidFill>
                  <a:srgbClr val="38BD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297.172</a:t>
            </a:r>
            <a:endParaRPr lang="en-US" sz="1650" dirty="0"/>
          </a:p>
        </p:txBody>
      </p:sp>
      <p:sp>
        <p:nvSpPr>
          <p:cNvPr id="24" name="Shape 22"/>
          <p:cNvSpPr/>
          <p:nvPr/>
        </p:nvSpPr>
        <p:spPr>
          <a:xfrm>
            <a:off x="1143000" y="3271838"/>
            <a:ext cx="16002000" cy="533400"/>
          </a:xfrm>
          <a:prstGeom prst="rect">
            <a:avLst/>
          </a:prstGeom>
          <a:solidFill>
            <a:srgbClr val="14182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5" name="Shape 23"/>
          <p:cNvSpPr/>
          <p:nvPr/>
        </p:nvSpPr>
        <p:spPr>
          <a:xfrm>
            <a:off x="1143000" y="3795713"/>
            <a:ext cx="16002000" cy="9525"/>
          </a:xfrm>
          <a:prstGeom prst="rect">
            <a:avLst/>
          </a:prstGeom>
          <a:solidFill>
            <a:srgbClr val="1E264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1295400" y="3395663"/>
            <a:ext cx="1200001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13</a:t>
            </a:r>
            <a:endParaRPr lang="en-US" sz="1650" dirty="0"/>
          </a:p>
        </p:txBody>
      </p:sp>
      <p:sp>
        <p:nvSpPr>
          <p:cNvPr id="27" name="Text 25"/>
          <p:cNvSpPr/>
          <p:nvPr/>
        </p:nvSpPr>
        <p:spPr>
          <a:xfrm>
            <a:off x="2682858" y="3395663"/>
            <a:ext cx="495589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65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105</a:t>
            </a:r>
            <a:endParaRPr lang="en-US" sz="1650" dirty="0"/>
          </a:p>
        </p:txBody>
      </p:sp>
      <p:sp>
        <p:nvSpPr>
          <p:cNvPr id="28" name="Text 26"/>
          <p:cNvSpPr/>
          <p:nvPr/>
        </p:nvSpPr>
        <p:spPr>
          <a:xfrm>
            <a:off x="7849789" y="3395663"/>
            <a:ext cx="5454403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650" b="1" dirty="0">
                <a:solidFill>
                  <a:srgbClr val="A3E63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49.527</a:t>
            </a:r>
            <a:endParaRPr lang="en-US" sz="1650" dirty="0"/>
          </a:p>
        </p:txBody>
      </p:sp>
      <p:sp>
        <p:nvSpPr>
          <p:cNvPr id="29" name="Text 27"/>
          <p:cNvSpPr/>
          <p:nvPr/>
        </p:nvSpPr>
        <p:spPr>
          <a:xfrm>
            <a:off x="13575683" y="3395663"/>
            <a:ext cx="3378817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650" b="1" dirty="0">
                <a:solidFill>
                  <a:srgbClr val="38BD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58.887</a:t>
            </a:r>
            <a:endParaRPr lang="en-US" sz="1650" dirty="0"/>
          </a:p>
        </p:txBody>
      </p:sp>
      <p:sp>
        <p:nvSpPr>
          <p:cNvPr id="30" name="Shape 28"/>
          <p:cNvSpPr/>
          <p:nvPr/>
        </p:nvSpPr>
        <p:spPr>
          <a:xfrm>
            <a:off x="1143000" y="3805237"/>
            <a:ext cx="16002000" cy="533400"/>
          </a:xfrm>
          <a:prstGeom prst="rect">
            <a:avLst/>
          </a:prstGeom>
          <a:solidFill>
            <a:srgbClr val="1A1F2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1" name="Shape 29"/>
          <p:cNvSpPr/>
          <p:nvPr/>
        </p:nvSpPr>
        <p:spPr>
          <a:xfrm>
            <a:off x="1143000" y="4329113"/>
            <a:ext cx="16002000" cy="9525"/>
          </a:xfrm>
          <a:prstGeom prst="rect">
            <a:avLst/>
          </a:prstGeom>
          <a:solidFill>
            <a:srgbClr val="1E264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2" name="Text 30"/>
          <p:cNvSpPr/>
          <p:nvPr/>
        </p:nvSpPr>
        <p:spPr>
          <a:xfrm>
            <a:off x="1295400" y="3929063"/>
            <a:ext cx="1200001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12</a:t>
            </a:r>
            <a:endParaRPr lang="en-US" sz="1650" dirty="0"/>
          </a:p>
        </p:txBody>
      </p:sp>
      <p:sp>
        <p:nvSpPr>
          <p:cNvPr id="33" name="Text 31"/>
          <p:cNvSpPr/>
          <p:nvPr/>
        </p:nvSpPr>
        <p:spPr>
          <a:xfrm>
            <a:off x="2682858" y="3929063"/>
            <a:ext cx="495589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65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455</a:t>
            </a:r>
            <a:endParaRPr lang="en-US" sz="1650" dirty="0"/>
          </a:p>
        </p:txBody>
      </p:sp>
      <p:sp>
        <p:nvSpPr>
          <p:cNvPr id="34" name="Text 32"/>
          <p:cNvSpPr/>
          <p:nvPr/>
        </p:nvSpPr>
        <p:spPr>
          <a:xfrm>
            <a:off x="7849789" y="3929063"/>
            <a:ext cx="5454403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650" b="1" dirty="0">
                <a:solidFill>
                  <a:srgbClr val="A3E63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11.430</a:t>
            </a:r>
            <a:endParaRPr lang="en-US" sz="1650" dirty="0"/>
          </a:p>
        </p:txBody>
      </p:sp>
      <p:sp>
        <p:nvSpPr>
          <p:cNvPr id="35" name="Text 33"/>
          <p:cNvSpPr/>
          <p:nvPr/>
        </p:nvSpPr>
        <p:spPr>
          <a:xfrm>
            <a:off x="13575683" y="3929063"/>
            <a:ext cx="3378817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650" b="1" dirty="0">
                <a:solidFill>
                  <a:srgbClr val="38BD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13.175</a:t>
            </a:r>
            <a:endParaRPr lang="en-US" sz="1650" dirty="0"/>
          </a:p>
        </p:txBody>
      </p:sp>
      <p:sp>
        <p:nvSpPr>
          <p:cNvPr id="36" name="Shape 34"/>
          <p:cNvSpPr/>
          <p:nvPr/>
        </p:nvSpPr>
        <p:spPr>
          <a:xfrm>
            <a:off x="1143000" y="4338638"/>
            <a:ext cx="16002000" cy="528638"/>
          </a:xfrm>
          <a:prstGeom prst="rect">
            <a:avLst/>
          </a:prstGeom>
          <a:solidFill>
            <a:srgbClr val="14182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7" name="Text 35"/>
          <p:cNvSpPr/>
          <p:nvPr/>
        </p:nvSpPr>
        <p:spPr>
          <a:xfrm>
            <a:off x="1295400" y="4462463"/>
            <a:ext cx="1200001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11</a:t>
            </a:r>
            <a:endParaRPr lang="en-US" sz="1650" dirty="0"/>
          </a:p>
        </p:txBody>
      </p:sp>
      <p:sp>
        <p:nvSpPr>
          <p:cNvPr id="38" name="Text 36"/>
          <p:cNvSpPr/>
          <p:nvPr/>
        </p:nvSpPr>
        <p:spPr>
          <a:xfrm>
            <a:off x="2682858" y="4462463"/>
            <a:ext cx="4955895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65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1.365</a:t>
            </a:r>
            <a:endParaRPr lang="en-US" sz="1650" dirty="0"/>
          </a:p>
        </p:txBody>
      </p:sp>
      <p:sp>
        <p:nvSpPr>
          <p:cNvPr id="39" name="Text 37"/>
          <p:cNvSpPr/>
          <p:nvPr/>
        </p:nvSpPr>
        <p:spPr>
          <a:xfrm>
            <a:off x="7849789" y="4462463"/>
            <a:ext cx="5454403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650" b="1" dirty="0">
                <a:solidFill>
                  <a:srgbClr val="A3E63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3.266</a:t>
            </a:r>
            <a:endParaRPr lang="en-US" sz="1650" dirty="0"/>
          </a:p>
        </p:txBody>
      </p:sp>
      <p:sp>
        <p:nvSpPr>
          <p:cNvPr id="40" name="Text 38"/>
          <p:cNvSpPr/>
          <p:nvPr/>
        </p:nvSpPr>
        <p:spPr>
          <a:xfrm>
            <a:off x="13575683" y="4462463"/>
            <a:ext cx="3378817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650" b="1" dirty="0">
                <a:solidFill>
                  <a:srgbClr val="38BD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3.370</a:t>
            </a:r>
            <a:endParaRPr lang="en-US" sz="1650" dirty="0"/>
          </a:p>
        </p:txBody>
      </p:sp>
      <p:sp>
        <p:nvSpPr>
          <p:cNvPr id="41" name="Shape 39"/>
          <p:cNvSpPr/>
          <p:nvPr/>
        </p:nvSpPr>
        <p:spPr>
          <a:xfrm>
            <a:off x="1143000" y="5095875"/>
            <a:ext cx="9384060" cy="1328738"/>
          </a:xfrm>
          <a:prstGeom prst="roundRect">
            <a:avLst>
              <a:gd name="adj" fmla="val 4301"/>
            </a:avLst>
          </a:prstGeom>
          <a:solidFill>
            <a:srgbClr val="FBBF24">
              <a:alpha val="5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2" name="Shape 40"/>
          <p:cNvSpPr/>
          <p:nvPr/>
        </p:nvSpPr>
        <p:spPr>
          <a:xfrm>
            <a:off x="1143000" y="6415088"/>
            <a:ext cx="9384060" cy="9525"/>
          </a:xfrm>
          <a:prstGeom prst="rect">
            <a:avLst/>
          </a:prstGeom>
          <a:solidFill>
            <a:srgbClr val="FBBF24">
              <a:alpha val="18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3" name="Shape 41"/>
          <p:cNvSpPr/>
          <p:nvPr/>
        </p:nvSpPr>
        <p:spPr>
          <a:xfrm>
            <a:off x="1143000" y="5095875"/>
            <a:ext cx="9384060" cy="9525"/>
          </a:xfrm>
          <a:prstGeom prst="rect">
            <a:avLst/>
          </a:prstGeom>
          <a:solidFill>
            <a:srgbClr val="FBBF24">
              <a:alpha val="18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4" name="Shape 42"/>
          <p:cNvSpPr/>
          <p:nvPr/>
        </p:nvSpPr>
        <p:spPr>
          <a:xfrm>
            <a:off x="1143000" y="5095875"/>
            <a:ext cx="28575" cy="1328738"/>
          </a:xfrm>
          <a:prstGeom prst="rect">
            <a:avLst/>
          </a:prstGeom>
          <a:solidFill>
            <a:srgbClr val="FBBF2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5" name="Shape 43"/>
          <p:cNvSpPr/>
          <p:nvPr/>
        </p:nvSpPr>
        <p:spPr>
          <a:xfrm>
            <a:off x="10517535" y="5095875"/>
            <a:ext cx="9525" cy="1328738"/>
          </a:xfrm>
          <a:prstGeom prst="rect">
            <a:avLst/>
          </a:prstGeom>
          <a:solidFill>
            <a:srgbClr val="FBBF24">
              <a:alpha val="18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6" name="Text 44"/>
          <p:cNvSpPr/>
          <p:nvPr/>
        </p:nvSpPr>
        <p:spPr>
          <a:xfrm>
            <a:off x="1381125" y="5276850"/>
            <a:ext cx="9819546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b="1" kern="0" spc="84" dirty="0">
                <a:solidFill>
                  <a:srgbClr val="FBB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RESULTADO CONTRAINTUITIVO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1381125" y="5543550"/>
            <a:ext cx="9194666" cy="738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75000"/>
              </a:lnSpc>
              <a:buNone/>
            </a:pPr>
            <a:r>
              <a:rPr lang="en-US" sz="1575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p=11 exige apenas </a:t>
            </a:r>
            <a:r>
              <a:rPr lang="en-US" sz="1575" b="1" dirty="0">
                <a:solidFill>
                  <a:srgbClr val="FBB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~3.370 elementos </a:t>
            </a:r>
            <a:r>
              <a:rPr lang="en-US" sz="1575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 3,3 milhões disponíveis. A dificuldade aumenta com p — tanto o tamanho de SB quanto o trabalho por iteração crescem.</a:t>
            </a:r>
            <a:endParaRPr lang="en-US" sz="1575" dirty="0"/>
          </a:p>
        </p:txBody>
      </p:sp>
      <p:sp>
        <p:nvSpPr>
          <p:cNvPr id="48" name="Shape 46"/>
          <p:cNvSpPr/>
          <p:nvPr/>
        </p:nvSpPr>
        <p:spPr>
          <a:xfrm>
            <a:off x="10755660" y="5095875"/>
            <a:ext cx="6389340" cy="1328738"/>
          </a:xfrm>
          <a:prstGeom prst="roundRect">
            <a:avLst>
              <a:gd name="adj" fmla="val 4301"/>
            </a:avLst>
          </a:prstGeom>
          <a:solidFill>
            <a:srgbClr val="131720"/>
          </a:solidFill>
          <a:ln w="9525">
            <a:solidFill>
              <a:srgbClr val="1E264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9" name="Text 47"/>
          <p:cNvSpPr/>
          <p:nvPr/>
        </p:nvSpPr>
        <p:spPr>
          <a:xfrm>
            <a:off x="10974735" y="5276850"/>
            <a:ext cx="6546309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b="1" kern="0" spc="84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PARADOXO DE COMPLEXIDADE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10974735" y="5543550"/>
            <a:ext cx="6129726" cy="738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75000"/>
              </a:lnSpc>
              <a:buNone/>
            </a:pPr>
            <a:r>
              <a:rPr lang="en-US" sz="1575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Menor p → SB menor (menos iterações) MAS custo por iteração </a:t>
            </a:r>
            <a:r>
              <a:rPr lang="en-US" sz="1575" b="1" dirty="0">
                <a:solidFill>
                  <a:srgbClr val="FB92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cresce drasticamente</a:t>
            </a:r>
            <a:endParaRPr lang="en-US" sz="1575" dirty="0"/>
          </a:p>
        </p:txBody>
      </p:sp>
      <p:sp>
        <p:nvSpPr>
          <p:cNvPr id="51" name="Shape 49"/>
          <p:cNvSpPr/>
          <p:nvPr/>
        </p:nvSpPr>
        <p:spPr>
          <a:xfrm>
            <a:off x="1143000" y="9496425"/>
            <a:ext cx="16002000" cy="9525"/>
          </a:xfrm>
          <a:prstGeom prst="rect">
            <a:avLst/>
          </a:prstGeom>
          <a:solidFill>
            <a:srgbClr val="161C2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2" name="TextBox 51"/>
          <p:cNvSpPr txBox="1"/>
          <p:nvPr/>
        </p:nvSpPr>
        <p:spPr>
          <a:xfrm>
            <a:off x="9893808" y="9665208"/>
            <a:ext cx="128016" cy="164592"/>
          </a:xfrm>
          <a:prstGeom prst="rect">
            <a:avLst/>
          </a:prstGeom>
          <a:noFill/>
        </p:spPr>
        <p:txBody>
          <a:bodyPr wrap="none" lIns="36576" tIns="18288" rIns="36576" bIns="18288" anchor="ctr">
            <a:spAutoFit/>
          </a:bodyPr>
          <a:lstStyle/>
          <a:p>
            <a:pPr algn="ctr"/>
            <a:r>
              <a:rPr sz="800" b="0">
                <a:solidFill>
                  <a:srgbClr val="475569"/>
                </a:solidFill>
                <a:latin typeface="Inter"/>
              </a:rPr>
              <a:t>●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058400" y="9665208"/>
            <a:ext cx="128016" cy="164592"/>
          </a:xfrm>
          <a:prstGeom prst="rect">
            <a:avLst/>
          </a:prstGeom>
          <a:noFill/>
        </p:spPr>
        <p:txBody>
          <a:bodyPr wrap="none" lIns="36576" tIns="18288" rIns="36576" bIns="18288" anchor="ctr">
            <a:spAutoFit/>
          </a:bodyPr>
          <a:lstStyle/>
          <a:p>
            <a:pPr algn="ctr"/>
            <a:r>
              <a:rPr sz="800" b="0">
                <a:solidFill>
                  <a:srgbClr val="475569"/>
                </a:solidFill>
                <a:latin typeface="Inter"/>
              </a:rPr>
              <a:t>●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222992" y="9665208"/>
            <a:ext cx="128016" cy="164592"/>
          </a:xfrm>
          <a:prstGeom prst="rect">
            <a:avLst/>
          </a:prstGeom>
          <a:noFill/>
        </p:spPr>
        <p:txBody>
          <a:bodyPr wrap="none" lIns="36576" tIns="18288" rIns="36576" bIns="18288" anchor="ctr">
            <a:spAutoFit/>
          </a:bodyPr>
          <a:lstStyle/>
          <a:p>
            <a:pPr algn="ctr"/>
            <a:r>
              <a:rPr sz="800" b="0">
                <a:solidFill>
                  <a:srgbClr val="38BDF8"/>
                </a:solidFill>
                <a:latin typeface="Inter"/>
              </a:rPr>
              <a:t>●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387584" y="9665208"/>
            <a:ext cx="128016" cy="164592"/>
          </a:xfrm>
          <a:prstGeom prst="rect">
            <a:avLst/>
          </a:prstGeom>
          <a:noFill/>
        </p:spPr>
        <p:txBody>
          <a:bodyPr wrap="none" lIns="36576" tIns="18288" rIns="36576" bIns="18288" anchor="ctr">
            <a:spAutoFit/>
          </a:bodyPr>
          <a:lstStyle/>
          <a:p>
            <a:pPr algn="ctr"/>
            <a:r>
              <a:rPr sz="800" b="0">
                <a:solidFill>
                  <a:srgbClr val="475569"/>
                </a:solidFill>
                <a:latin typeface="Inter"/>
              </a:rPr>
              <a:t>●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552176" y="9665208"/>
            <a:ext cx="128016" cy="164592"/>
          </a:xfrm>
          <a:prstGeom prst="rect">
            <a:avLst/>
          </a:prstGeom>
          <a:noFill/>
        </p:spPr>
        <p:txBody>
          <a:bodyPr wrap="none" lIns="36576" tIns="18288" rIns="36576" bIns="18288" anchor="ctr">
            <a:spAutoFit/>
          </a:bodyPr>
          <a:lstStyle/>
          <a:p>
            <a:pPr algn="ctr"/>
            <a:r>
              <a:rPr sz="800" b="0">
                <a:solidFill>
                  <a:srgbClr val="475569"/>
                </a:solidFill>
                <a:latin typeface="Inter"/>
              </a:rPr>
              <a:t>●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716768" y="9665208"/>
            <a:ext cx="128016" cy="164592"/>
          </a:xfrm>
          <a:prstGeom prst="rect">
            <a:avLst/>
          </a:prstGeom>
          <a:noFill/>
        </p:spPr>
        <p:txBody>
          <a:bodyPr wrap="none" lIns="36576" tIns="18288" rIns="36576" bIns="18288" anchor="ctr">
            <a:spAutoFit/>
          </a:bodyPr>
          <a:lstStyle/>
          <a:p>
            <a:pPr algn="ctr"/>
            <a:r>
              <a:rPr sz="800" b="0">
                <a:solidFill>
                  <a:srgbClr val="475569"/>
                </a:solidFill>
                <a:latin typeface="Inter"/>
              </a:rPr>
              <a:t>●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881360" y="9665208"/>
            <a:ext cx="128016" cy="164592"/>
          </a:xfrm>
          <a:prstGeom prst="rect">
            <a:avLst/>
          </a:prstGeom>
          <a:noFill/>
        </p:spPr>
        <p:txBody>
          <a:bodyPr wrap="none" lIns="36576" tIns="18288" rIns="36576" bIns="18288" anchor="ctr">
            <a:spAutoFit/>
          </a:bodyPr>
          <a:lstStyle/>
          <a:p>
            <a:pPr algn="ctr"/>
            <a:r>
              <a:rPr sz="800" b="0">
                <a:solidFill>
                  <a:srgbClr val="475569"/>
                </a:solidFill>
                <a:latin typeface="Inter"/>
              </a:rPr>
              <a:t>●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1045952" y="9665208"/>
            <a:ext cx="128016" cy="164592"/>
          </a:xfrm>
          <a:prstGeom prst="rect">
            <a:avLst/>
          </a:prstGeom>
          <a:noFill/>
        </p:spPr>
        <p:txBody>
          <a:bodyPr wrap="none" lIns="36576" tIns="18288" rIns="36576" bIns="18288" anchor="ctr">
            <a:spAutoFit/>
          </a:bodyPr>
          <a:lstStyle/>
          <a:p>
            <a:pPr algn="ctr"/>
            <a:r>
              <a:rPr sz="800" b="0">
                <a:solidFill>
                  <a:srgbClr val="475569"/>
                </a:solidFill>
                <a:latin typeface="Inter"/>
              </a:rPr>
              <a:t>●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1210544" y="9665208"/>
            <a:ext cx="128016" cy="164592"/>
          </a:xfrm>
          <a:prstGeom prst="rect">
            <a:avLst/>
          </a:prstGeom>
          <a:noFill/>
        </p:spPr>
        <p:txBody>
          <a:bodyPr wrap="none" lIns="36576" tIns="18288" rIns="36576" bIns="18288" anchor="ctr">
            <a:spAutoFit/>
          </a:bodyPr>
          <a:lstStyle/>
          <a:p>
            <a:pPr algn="ctr"/>
            <a:r>
              <a:rPr sz="800" b="0">
                <a:solidFill>
                  <a:srgbClr val="475569"/>
                </a:solidFill>
                <a:latin typeface="Inter"/>
              </a:rPr>
              <a:t>●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1375136" y="9665208"/>
            <a:ext cx="128016" cy="164592"/>
          </a:xfrm>
          <a:prstGeom prst="rect">
            <a:avLst/>
          </a:prstGeom>
          <a:noFill/>
        </p:spPr>
        <p:txBody>
          <a:bodyPr wrap="none" lIns="36576" tIns="18288" rIns="36576" bIns="18288" anchor="ctr">
            <a:spAutoFit/>
          </a:bodyPr>
          <a:lstStyle/>
          <a:p>
            <a:pPr algn="ctr"/>
            <a:r>
              <a:rPr sz="800" b="0">
                <a:solidFill>
                  <a:srgbClr val="475569"/>
                </a:solidFill>
                <a:latin typeface="Inter"/>
              </a:rPr>
              <a:t>●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1539728" y="9665208"/>
            <a:ext cx="128016" cy="164592"/>
          </a:xfrm>
          <a:prstGeom prst="rect">
            <a:avLst/>
          </a:prstGeom>
          <a:noFill/>
        </p:spPr>
        <p:txBody>
          <a:bodyPr wrap="none" lIns="36576" tIns="18288" rIns="36576" bIns="18288" anchor="ctr">
            <a:spAutoFit/>
          </a:bodyPr>
          <a:lstStyle/>
          <a:p>
            <a:pPr algn="ctr"/>
            <a:r>
              <a:rPr sz="800" b="0">
                <a:solidFill>
                  <a:srgbClr val="475569"/>
                </a:solidFill>
                <a:latin typeface="Inter"/>
              </a:rPr>
              <a:t>●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6504920" y="9637776"/>
            <a:ext cx="749808" cy="219456"/>
          </a:xfrm>
          <a:prstGeom prst="rect">
            <a:avLst/>
          </a:prstGeom>
          <a:noFill/>
        </p:spPr>
        <p:txBody>
          <a:bodyPr wrap="none" lIns="36576" tIns="18288" rIns="36576" bIns="18288" anchor="ctr">
            <a:spAutoFit/>
          </a:bodyPr>
          <a:lstStyle/>
          <a:p>
            <a:pPr algn="r"/>
            <a:r>
              <a:rPr sz="1050" b="0">
                <a:solidFill>
                  <a:srgbClr val="94A3B8"/>
                </a:solidFill>
                <a:latin typeface="JetBrains Mono"/>
              </a:rPr>
              <a:t>03 de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800100"/>
            <a:ext cx="35063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38BDF8">
                    <a:alpha val="6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1607939" y="823913"/>
            <a:ext cx="9525" cy="247650"/>
          </a:xfrm>
          <a:prstGeom prst="rect">
            <a:avLst/>
          </a:prstGeom>
          <a:solidFill>
            <a:srgbClr val="1E264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1807964" y="647700"/>
            <a:ext cx="5182761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900" b="1" kern="0" spc="-78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Estruturas de Dados</a:t>
            </a:r>
            <a:endParaRPr lang="en-US" sz="3900" dirty="0"/>
          </a:p>
        </p:txBody>
      </p:sp>
      <p:sp>
        <p:nvSpPr>
          <p:cNvPr id="5" name="Shape 3"/>
          <p:cNvSpPr/>
          <p:nvPr/>
        </p:nvSpPr>
        <p:spPr>
          <a:xfrm>
            <a:off x="1143000" y="1514475"/>
            <a:ext cx="9982200" cy="2632174"/>
          </a:xfrm>
          <a:prstGeom prst="roundRect">
            <a:avLst>
              <a:gd name="adj" fmla="val 2171"/>
            </a:avLst>
          </a:prstGeom>
          <a:solidFill>
            <a:srgbClr val="1E1E2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1143000" y="4137124"/>
            <a:ext cx="9982200" cy="9525"/>
          </a:xfrm>
          <a:prstGeom prst="rect">
            <a:avLst/>
          </a:prstGeom>
          <a:solidFill>
            <a:srgbClr val="25254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1143000" y="1514475"/>
            <a:ext cx="9982200" cy="19050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1143000" y="1514475"/>
            <a:ext cx="9525" cy="2632174"/>
          </a:xfrm>
          <a:prstGeom prst="rect">
            <a:avLst/>
          </a:prstGeom>
          <a:solidFill>
            <a:srgbClr val="25254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11115675" y="1514475"/>
            <a:ext cx="9525" cy="2632174"/>
          </a:xfrm>
          <a:prstGeom prst="rect">
            <a:avLst/>
          </a:prstGeom>
          <a:solidFill>
            <a:srgbClr val="25254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1381125" y="1724025"/>
            <a:ext cx="1045654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b="1" kern="0" spc="84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 BITMASK UINT32 — REPRESENTAÇÃO DE SUBCONJUNTOS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381125" y="2028825"/>
            <a:ext cx="9791129" cy="3214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75000"/>
              </a:lnSpc>
              <a:buNone/>
            </a:pPr>
            <a:r>
              <a:rPr lang="en-US" sz="1275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Cada subconjunto de {1..25} → inteiro de 25 bits</a:t>
            </a:r>
            <a:endParaRPr lang="en-US" sz="1275" dirty="0"/>
          </a:p>
        </p:txBody>
      </p:sp>
      <p:sp>
        <p:nvSpPr>
          <p:cNvPr id="12" name="Text 10"/>
          <p:cNvSpPr/>
          <p:nvPr/>
        </p:nvSpPr>
        <p:spPr>
          <a:xfrm>
            <a:off x="1381125" y="2369344"/>
            <a:ext cx="9791129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75000"/>
              </a:lnSpc>
              <a:buNone/>
            </a:pPr>
            <a:r>
              <a:rPr lang="en-US" sz="150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{1, 3, 5} → </a:t>
            </a:r>
            <a:r>
              <a:rPr lang="en-US" sz="1500" dirty="0">
                <a:solidFill>
                  <a:srgbClr val="38BDF8"/>
                </a:solidFill>
                <a:latin typeface="JetBrains Mono"/>
                <a:ea typeface="JetBrains Mono" pitchFamily="34" charset="-122"/>
                <a:cs typeface="JetBrains Mono" pitchFamily="34" charset="-120"/>
              </a:rPr>
              <a:t>0b</a:t>
            </a:r>
            <a:r>
              <a:rPr lang="en-US" sz="1500" dirty="0">
                <a:solidFill>
                  <a:srgbClr val="E2E8F0"/>
                </a:solidFill>
                <a:latin typeface="JetBrains Mono"/>
                <a:ea typeface="JetBrains Mono" pitchFamily="34" charset="-122"/>
                <a:cs typeface="JetBrains Mono" pitchFamily="34" charset="-120"/>
              </a:rPr>
              <a:t>00000000000000000000</a:t>
            </a:r>
            <a:r>
              <a:rPr lang="en-US" sz="1500" dirty="0">
                <a:solidFill>
                  <a:srgbClr val="FBBF24"/>
                </a:solidFill>
                <a:latin typeface="JetBrains Mono"/>
                <a:ea typeface="JetBrains Mono" pitchFamily="34" charset="-122"/>
                <a:cs typeface="JetBrains Mono" pitchFamily="34" charset="-120"/>
              </a:rPr>
              <a:t>10101</a:t>
            </a:r>
            <a:r>
              <a:rPr lang="en-US" sz="1500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r>
              <a:rPr lang="en-US" sz="150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= </a:t>
            </a:r>
            <a:r>
              <a:rPr lang="en-US" sz="1500" dirty="0">
                <a:solidFill>
                  <a:srgbClr val="38BD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21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381125" y="2759869"/>
            <a:ext cx="9791129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75000"/>
              </a:lnSpc>
              <a:buNone/>
            </a:pPr>
            <a:r>
              <a:rPr lang="en-US" sz="15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Verificar Y ⊆ X em O(1):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381125" y="3093244"/>
            <a:ext cx="9791129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75000"/>
              </a:lnSpc>
              <a:buNone/>
            </a:pPr>
            <a:r>
              <a:rPr lang="en-US" sz="150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</a:t>
            </a:r>
            <a:r>
              <a:rPr lang="en-US" sz="1500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X </a:t>
            </a:r>
            <a:r>
              <a:rPr lang="en-US" sz="1500" dirty="0">
                <a:solidFill>
                  <a:srgbClr val="38BD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&amp; </a:t>
            </a:r>
            <a:r>
              <a:rPr lang="en-US" sz="1500" dirty="0">
                <a:solidFill>
                  <a:srgbClr val="A78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Y</a:t>
            </a:r>
            <a:r>
              <a:rPr lang="en-US" sz="150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 </a:t>
            </a:r>
            <a:r>
              <a:rPr lang="en-US" sz="1500" dirty="0">
                <a:solidFill>
                  <a:srgbClr val="38BD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== </a:t>
            </a:r>
            <a:r>
              <a:rPr lang="en-US" sz="1500" dirty="0">
                <a:solidFill>
                  <a:srgbClr val="A78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Y </a:t>
            </a:r>
            <a:r>
              <a:rPr lang="en-US" sz="1275" dirty="0">
                <a:solidFill>
                  <a:srgbClr val="4755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← uma instrução de máquina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1381125" y="3559969"/>
            <a:ext cx="9505950" cy="9525"/>
          </a:xfrm>
          <a:prstGeom prst="rect">
            <a:avLst/>
          </a:prstGeom>
          <a:solidFill>
            <a:srgbClr val="25254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1381125" y="3683794"/>
            <a:ext cx="1070818" cy="3009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</a:t>
            </a:r>
            <a:r>
              <a:rPr lang="en-US" sz="1125" baseline="-400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15</a:t>
            </a:r>
            <a:r>
              <a:rPr lang="en-US" sz="135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: </a:t>
            </a:r>
            <a:r>
              <a:rPr lang="en-US" sz="1350" b="1" dirty="0">
                <a:solidFill>
                  <a:srgbClr val="34D3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13 MB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2566243" y="3683794"/>
            <a:ext cx="1452443" cy="3009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</a:t>
            </a:r>
            <a:r>
              <a:rPr lang="en-US" sz="1125" baseline="-400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</a:t>
            </a:r>
            <a:r>
              <a:rPr lang="en-US" sz="135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: até </a:t>
            </a:r>
            <a:r>
              <a:rPr lang="en-US" sz="1350" b="1" dirty="0">
                <a:solidFill>
                  <a:srgbClr val="34D3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21 MB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077146" y="3683794"/>
            <a:ext cx="2150179" cy="3009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array dtype: </a:t>
            </a:r>
            <a:r>
              <a:rPr lang="en-US" sz="1350" dirty="0">
                <a:solidFill>
                  <a:srgbClr val="38BD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uint32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11430000" y="1514475"/>
            <a:ext cx="628650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Comparativo de desempenho: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11430000" y="1828800"/>
            <a:ext cx="5715000" cy="409575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Shape 19"/>
          <p:cNvSpPr/>
          <p:nvPr/>
        </p:nvSpPr>
        <p:spPr>
          <a:xfrm>
            <a:off x="11430000" y="2219325"/>
            <a:ext cx="5715000" cy="19050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11582400" y="1933575"/>
            <a:ext cx="1963043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7DD3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Operação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3735943" y="1933575"/>
            <a:ext cx="1155353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DD3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frozenset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5119896" y="1933575"/>
            <a:ext cx="920502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DD3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bitmask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6268998" y="1933575"/>
            <a:ext cx="761702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DD3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Ganho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11430000" y="2238375"/>
            <a:ext cx="5715000" cy="471488"/>
          </a:xfrm>
          <a:prstGeom prst="rect">
            <a:avLst/>
          </a:prstGeom>
          <a:solidFill>
            <a:srgbClr val="1A1F2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7" name="Shape 25"/>
          <p:cNvSpPr/>
          <p:nvPr/>
        </p:nvSpPr>
        <p:spPr>
          <a:xfrm>
            <a:off x="11430000" y="2700338"/>
            <a:ext cx="5715000" cy="9525"/>
          </a:xfrm>
          <a:prstGeom prst="rect">
            <a:avLst/>
          </a:prstGeom>
          <a:solidFill>
            <a:srgbClr val="1E264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8" name="Text 26"/>
          <p:cNvSpPr/>
          <p:nvPr/>
        </p:nvSpPr>
        <p:spPr>
          <a:xfrm>
            <a:off x="11582400" y="2343150"/>
            <a:ext cx="1963043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Verificar Y ⊆ X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13735943" y="2343150"/>
            <a:ext cx="1155353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F871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O(p)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15119896" y="2343150"/>
            <a:ext cx="920502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34D3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O(1)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16268998" y="2343150"/>
            <a:ext cx="761702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BB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~15×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11430000" y="2709863"/>
            <a:ext cx="5715000" cy="447675"/>
          </a:xfrm>
          <a:prstGeom prst="rect">
            <a:avLst/>
          </a:prstGeom>
          <a:solidFill>
            <a:srgbClr val="14182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3" name="Shape 31"/>
          <p:cNvSpPr/>
          <p:nvPr/>
        </p:nvSpPr>
        <p:spPr>
          <a:xfrm>
            <a:off x="11430000" y="3148013"/>
            <a:ext cx="5715000" cy="9525"/>
          </a:xfrm>
          <a:prstGeom prst="rect">
            <a:avLst/>
          </a:prstGeom>
          <a:solidFill>
            <a:srgbClr val="1E264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4" name="Text 32"/>
          <p:cNvSpPr/>
          <p:nvPr/>
        </p:nvSpPr>
        <p:spPr>
          <a:xfrm>
            <a:off x="11582400" y="2814638"/>
            <a:ext cx="1963043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Vetorizar (NumPy)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13735943" y="2814638"/>
            <a:ext cx="1155353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F8717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Impossível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15119896" y="2814638"/>
            <a:ext cx="920502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34D3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Possível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16268998" y="2814638"/>
            <a:ext cx="761702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BB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~100×</a:t>
            </a:r>
            <a:endParaRPr lang="en-US" sz="1500" dirty="0"/>
          </a:p>
        </p:txBody>
      </p:sp>
      <p:sp>
        <p:nvSpPr>
          <p:cNvPr id="38" name="Shape 36"/>
          <p:cNvSpPr/>
          <p:nvPr/>
        </p:nvSpPr>
        <p:spPr>
          <a:xfrm>
            <a:off x="11430000" y="3157538"/>
            <a:ext cx="5715000" cy="461963"/>
          </a:xfrm>
          <a:prstGeom prst="rect">
            <a:avLst/>
          </a:prstGeom>
          <a:solidFill>
            <a:srgbClr val="1A1F2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9" name="Text 37"/>
          <p:cNvSpPr/>
          <p:nvPr/>
        </p:nvSpPr>
        <p:spPr>
          <a:xfrm>
            <a:off x="11582400" y="3262313"/>
            <a:ext cx="1963043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Memória/elemento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13735943" y="3262313"/>
            <a:ext cx="1155353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F871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~300 B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15119896" y="3262313"/>
            <a:ext cx="920502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34D3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 B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16268998" y="3262313"/>
            <a:ext cx="761702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BB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~75×</a:t>
            </a:r>
            <a:endParaRPr lang="en-US" sz="1500" dirty="0"/>
          </a:p>
        </p:txBody>
      </p:sp>
      <p:sp>
        <p:nvSpPr>
          <p:cNvPr id="43" name="Shape 41"/>
          <p:cNvSpPr/>
          <p:nvPr/>
        </p:nvSpPr>
        <p:spPr>
          <a:xfrm>
            <a:off x="1143000" y="4337149"/>
            <a:ext cx="3857625" cy="1533823"/>
          </a:xfrm>
          <a:prstGeom prst="roundRect">
            <a:avLst>
              <a:gd name="adj" fmla="val 3726"/>
            </a:avLst>
          </a:prstGeom>
          <a:solidFill>
            <a:srgbClr val="13172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4" name="Shape 42"/>
          <p:cNvSpPr/>
          <p:nvPr/>
        </p:nvSpPr>
        <p:spPr>
          <a:xfrm>
            <a:off x="1143000" y="5861447"/>
            <a:ext cx="3857625" cy="9525"/>
          </a:xfrm>
          <a:prstGeom prst="rect">
            <a:avLst/>
          </a:prstGeom>
          <a:solidFill>
            <a:srgbClr val="1E264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5" name="Shape 43"/>
          <p:cNvSpPr/>
          <p:nvPr/>
        </p:nvSpPr>
        <p:spPr>
          <a:xfrm>
            <a:off x="1143000" y="4337149"/>
            <a:ext cx="3857625" cy="19050"/>
          </a:xfrm>
          <a:prstGeom prst="rect">
            <a:avLst/>
          </a:prstGeom>
          <a:solidFill>
            <a:srgbClr val="818C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6" name="Shape 44"/>
          <p:cNvSpPr/>
          <p:nvPr/>
        </p:nvSpPr>
        <p:spPr>
          <a:xfrm>
            <a:off x="1143000" y="4337149"/>
            <a:ext cx="9525" cy="1533823"/>
          </a:xfrm>
          <a:prstGeom prst="rect">
            <a:avLst/>
          </a:prstGeom>
          <a:solidFill>
            <a:srgbClr val="1E264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7" name="Shape 45"/>
          <p:cNvSpPr/>
          <p:nvPr/>
        </p:nvSpPr>
        <p:spPr>
          <a:xfrm>
            <a:off x="4991100" y="4337149"/>
            <a:ext cx="9525" cy="1533823"/>
          </a:xfrm>
          <a:prstGeom prst="rect">
            <a:avLst/>
          </a:prstGeom>
          <a:solidFill>
            <a:srgbClr val="1E264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8" name="Text 46"/>
          <p:cNvSpPr/>
          <p:nvPr/>
        </p:nvSpPr>
        <p:spPr>
          <a:xfrm>
            <a:off x="1343025" y="4508599"/>
            <a:ext cx="3803333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25" b="1" kern="0" spc="83" dirty="0">
                <a:solidFill>
                  <a:srgbClr val="818C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 DICIONÁRIOS HASH</a:t>
            </a:r>
            <a:endParaRPr lang="en-US" sz="825" dirty="0"/>
          </a:p>
        </p:txBody>
      </p:sp>
      <p:sp>
        <p:nvSpPr>
          <p:cNvPr id="49" name="Text 47"/>
          <p:cNvSpPr/>
          <p:nvPr/>
        </p:nvSpPr>
        <p:spPr>
          <a:xfrm>
            <a:off x="1343025" y="4718149"/>
            <a:ext cx="3561302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1350" dirty="0">
                <a:solidFill>
                  <a:srgbClr val="38BD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s15_index</a:t>
            </a:r>
            <a:r>
              <a:rPr lang="en-US" sz="135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: mask → idx em S</a:t>
            </a:r>
            <a:r>
              <a:rPr lang="en-US" sz="1125" baseline="-400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15</a:t>
            </a:r>
            <a:endParaRPr lang="en-US" sz="1350" dirty="0"/>
          </a:p>
        </p:txBody>
      </p:sp>
      <p:sp>
        <p:nvSpPr>
          <p:cNvPr id="50" name="Text 48"/>
          <p:cNvSpPr/>
          <p:nvPr/>
        </p:nvSpPr>
        <p:spPr>
          <a:xfrm>
            <a:off x="1343025" y="5042892"/>
            <a:ext cx="3561302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1350" dirty="0">
                <a:solidFill>
                  <a:srgbClr val="38BD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sp_index</a:t>
            </a:r>
            <a:r>
              <a:rPr lang="en-US" sz="135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: mask → idx em S</a:t>
            </a:r>
            <a:r>
              <a:rPr lang="en-US" sz="1125" baseline="-400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</a:t>
            </a:r>
            <a:endParaRPr lang="en-US" sz="1350" dirty="0"/>
          </a:p>
        </p:txBody>
      </p:sp>
      <p:sp>
        <p:nvSpPr>
          <p:cNvPr id="51" name="Text 49"/>
          <p:cNvSpPr/>
          <p:nvPr/>
        </p:nvSpPr>
        <p:spPr>
          <a:xfrm>
            <a:off x="1343025" y="5424785"/>
            <a:ext cx="3561302" cy="3223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lookup O(1) · construção O(N</a:t>
            </a:r>
            <a:r>
              <a:rPr lang="en-US" sz="1000" baseline="-400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15</a:t>
            </a:r>
            <a:r>
              <a:rPr lang="en-US" sz="12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+N</a:t>
            </a:r>
            <a:r>
              <a:rPr lang="en-US" sz="1000" baseline="-400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</a:t>
            </a:r>
            <a:r>
              <a:rPr lang="en-US" sz="12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5191125" y="4337149"/>
            <a:ext cx="3857625" cy="1533823"/>
          </a:xfrm>
          <a:prstGeom prst="roundRect">
            <a:avLst>
              <a:gd name="adj" fmla="val 3726"/>
            </a:avLst>
          </a:prstGeom>
          <a:solidFill>
            <a:srgbClr val="13172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3" name="Shape 51"/>
          <p:cNvSpPr/>
          <p:nvPr/>
        </p:nvSpPr>
        <p:spPr>
          <a:xfrm>
            <a:off x="5191125" y="5861447"/>
            <a:ext cx="3857625" cy="9525"/>
          </a:xfrm>
          <a:prstGeom prst="rect">
            <a:avLst/>
          </a:prstGeom>
          <a:solidFill>
            <a:srgbClr val="1E264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4" name="Shape 52"/>
          <p:cNvSpPr/>
          <p:nvPr/>
        </p:nvSpPr>
        <p:spPr>
          <a:xfrm>
            <a:off x="5191125" y="4337149"/>
            <a:ext cx="3857625" cy="19050"/>
          </a:xfrm>
          <a:prstGeom prst="rect">
            <a:avLst/>
          </a:prstGeom>
          <a:solidFill>
            <a:srgbClr val="A3E63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5" name="Shape 53"/>
          <p:cNvSpPr/>
          <p:nvPr/>
        </p:nvSpPr>
        <p:spPr>
          <a:xfrm>
            <a:off x="5191125" y="4337149"/>
            <a:ext cx="9525" cy="1533823"/>
          </a:xfrm>
          <a:prstGeom prst="rect">
            <a:avLst/>
          </a:prstGeom>
          <a:solidFill>
            <a:srgbClr val="1E264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6" name="Shape 54"/>
          <p:cNvSpPr/>
          <p:nvPr/>
        </p:nvSpPr>
        <p:spPr>
          <a:xfrm>
            <a:off x="9039225" y="4337149"/>
            <a:ext cx="9525" cy="1533823"/>
          </a:xfrm>
          <a:prstGeom prst="rect">
            <a:avLst/>
          </a:prstGeom>
          <a:solidFill>
            <a:srgbClr val="1E264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7" name="Text 55"/>
          <p:cNvSpPr/>
          <p:nvPr/>
        </p:nvSpPr>
        <p:spPr>
          <a:xfrm>
            <a:off x="5391150" y="4508599"/>
            <a:ext cx="3803333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25" b="1" kern="0" spc="83" dirty="0">
                <a:solidFill>
                  <a:srgbClr val="A3E6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 ARRAY COUNT[ I ]</a:t>
            </a:r>
            <a:endParaRPr lang="en-US" sz="825" dirty="0"/>
          </a:p>
        </p:txBody>
      </p:sp>
      <p:sp>
        <p:nvSpPr>
          <p:cNvPr id="58" name="Text 56"/>
          <p:cNvSpPr/>
          <p:nvPr/>
        </p:nvSpPr>
        <p:spPr>
          <a:xfrm>
            <a:off x="5391150" y="4718149"/>
            <a:ext cx="3561302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1350" dirty="0">
                <a:solidFill>
                  <a:srgbClr val="A3E63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count</a:t>
            </a:r>
            <a:r>
              <a:rPr lang="en-US" sz="135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[i] = |{Y ∈ N : Y ⊆ X</a:t>
            </a:r>
            <a:r>
              <a:rPr lang="en-US" sz="1125" baseline="-400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</a:t>
            </a:r>
            <a:r>
              <a:rPr lang="en-US" sz="135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}|</a:t>
            </a:r>
            <a:endParaRPr lang="en-US" sz="1350" dirty="0"/>
          </a:p>
        </p:txBody>
      </p:sp>
      <p:sp>
        <p:nvSpPr>
          <p:cNvPr id="59" name="Text 57"/>
          <p:cNvSpPr/>
          <p:nvPr/>
        </p:nvSpPr>
        <p:spPr>
          <a:xfrm>
            <a:off x="5391150" y="5042892"/>
            <a:ext cx="3561302" cy="297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init: C(15,p) · decrementado</a:t>
            </a:r>
            <a:endParaRPr lang="en-US" sz="1200" dirty="0"/>
          </a:p>
        </p:txBody>
      </p:sp>
      <p:sp>
        <p:nvSpPr>
          <p:cNvPr id="60" name="Text 58"/>
          <p:cNvSpPr/>
          <p:nvPr/>
        </p:nvSpPr>
        <p:spPr>
          <a:xfrm>
            <a:off x="5391150" y="5301853"/>
            <a:ext cx="3561302" cy="297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argmax sem recomputar tudo</a:t>
            </a:r>
            <a:endParaRPr lang="en-US" sz="1200" dirty="0"/>
          </a:p>
        </p:txBody>
      </p:sp>
      <p:sp>
        <p:nvSpPr>
          <p:cNvPr id="61" name="Shape 59"/>
          <p:cNvSpPr/>
          <p:nvPr/>
        </p:nvSpPr>
        <p:spPr>
          <a:xfrm>
            <a:off x="9239250" y="4337149"/>
            <a:ext cx="3857625" cy="1533823"/>
          </a:xfrm>
          <a:prstGeom prst="roundRect">
            <a:avLst>
              <a:gd name="adj" fmla="val 3726"/>
            </a:avLst>
          </a:prstGeom>
          <a:solidFill>
            <a:srgbClr val="13172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2" name="Shape 60"/>
          <p:cNvSpPr/>
          <p:nvPr/>
        </p:nvSpPr>
        <p:spPr>
          <a:xfrm>
            <a:off x="9239250" y="5861447"/>
            <a:ext cx="3857625" cy="9525"/>
          </a:xfrm>
          <a:prstGeom prst="rect">
            <a:avLst/>
          </a:prstGeom>
          <a:solidFill>
            <a:srgbClr val="1E264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3" name="Shape 61"/>
          <p:cNvSpPr/>
          <p:nvPr/>
        </p:nvSpPr>
        <p:spPr>
          <a:xfrm>
            <a:off x="9239250" y="4337149"/>
            <a:ext cx="3857625" cy="19050"/>
          </a:xfrm>
          <a:prstGeom prst="rect">
            <a:avLst/>
          </a:prstGeom>
          <a:solidFill>
            <a:srgbClr val="FBBF2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4" name="Shape 62"/>
          <p:cNvSpPr/>
          <p:nvPr/>
        </p:nvSpPr>
        <p:spPr>
          <a:xfrm>
            <a:off x="9239250" y="4337149"/>
            <a:ext cx="9525" cy="1533823"/>
          </a:xfrm>
          <a:prstGeom prst="rect">
            <a:avLst/>
          </a:prstGeom>
          <a:solidFill>
            <a:srgbClr val="1E264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5" name="Shape 63"/>
          <p:cNvSpPr/>
          <p:nvPr/>
        </p:nvSpPr>
        <p:spPr>
          <a:xfrm>
            <a:off x="13087350" y="4337149"/>
            <a:ext cx="9525" cy="1533823"/>
          </a:xfrm>
          <a:prstGeom prst="rect">
            <a:avLst/>
          </a:prstGeom>
          <a:solidFill>
            <a:srgbClr val="1E264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6" name="Text 64"/>
          <p:cNvSpPr/>
          <p:nvPr/>
        </p:nvSpPr>
        <p:spPr>
          <a:xfrm>
            <a:off x="9439275" y="4508599"/>
            <a:ext cx="3803333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25" b="1" kern="0" spc="83" dirty="0">
                <a:solidFill>
                  <a:srgbClr val="FBB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 HEAP LAZY (P=14,13)</a:t>
            </a:r>
            <a:endParaRPr lang="en-US" sz="825" dirty="0"/>
          </a:p>
        </p:txBody>
      </p:sp>
      <p:sp>
        <p:nvSpPr>
          <p:cNvPr id="67" name="Text 65"/>
          <p:cNvSpPr/>
          <p:nvPr/>
        </p:nvSpPr>
        <p:spPr>
          <a:xfrm>
            <a:off x="9439275" y="4718149"/>
            <a:ext cx="3561302" cy="3295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1350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(−count[i], i) </a:t>
            </a:r>
            <a:r>
              <a:rPr lang="en-US" sz="135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max-heap</a:t>
            </a:r>
            <a:endParaRPr lang="en-US" sz="1350" dirty="0"/>
          </a:p>
        </p:txBody>
      </p:sp>
      <p:sp>
        <p:nvSpPr>
          <p:cNvPr id="68" name="Text 66"/>
          <p:cNvSpPr/>
          <p:nvPr/>
        </p:nvSpPr>
        <p:spPr>
          <a:xfrm>
            <a:off x="9439275" y="5009555"/>
            <a:ext cx="3561302" cy="297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lazy: entradas obsoletas</a:t>
            </a:r>
            <a:endParaRPr lang="en-US" sz="1200" dirty="0"/>
          </a:p>
        </p:txBody>
      </p:sp>
      <p:sp>
        <p:nvSpPr>
          <p:cNvPr id="69" name="Text 67"/>
          <p:cNvSpPr/>
          <p:nvPr/>
        </p:nvSpPr>
        <p:spPr>
          <a:xfrm>
            <a:off x="9439275" y="5268516"/>
            <a:ext cx="3561302" cy="297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descartadas no pop</a:t>
            </a:r>
            <a:endParaRPr lang="en-US" sz="1200" dirty="0"/>
          </a:p>
        </p:txBody>
      </p:sp>
      <p:sp>
        <p:nvSpPr>
          <p:cNvPr id="70" name="Shape 68"/>
          <p:cNvSpPr/>
          <p:nvPr/>
        </p:nvSpPr>
        <p:spPr>
          <a:xfrm>
            <a:off x="13287375" y="4337149"/>
            <a:ext cx="3857625" cy="1533823"/>
          </a:xfrm>
          <a:prstGeom prst="roundRect">
            <a:avLst>
              <a:gd name="adj" fmla="val 3726"/>
            </a:avLst>
          </a:prstGeom>
          <a:solidFill>
            <a:srgbClr val="13172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1" name="Shape 69"/>
          <p:cNvSpPr/>
          <p:nvPr/>
        </p:nvSpPr>
        <p:spPr>
          <a:xfrm>
            <a:off x="13287375" y="5861447"/>
            <a:ext cx="3857625" cy="9525"/>
          </a:xfrm>
          <a:prstGeom prst="rect">
            <a:avLst/>
          </a:prstGeom>
          <a:solidFill>
            <a:srgbClr val="1E264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2" name="Shape 70"/>
          <p:cNvSpPr/>
          <p:nvPr/>
        </p:nvSpPr>
        <p:spPr>
          <a:xfrm>
            <a:off x="13287375" y="4337149"/>
            <a:ext cx="3857625" cy="19050"/>
          </a:xfrm>
          <a:prstGeom prst="rect">
            <a:avLst/>
          </a:prstGeom>
          <a:solidFill>
            <a:srgbClr val="FB923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3" name="Shape 71"/>
          <p:cNvSpPr/>
          <p:nvPr/>
        </p:nvSpPr>
        <p:spPr>
          <a:xfrm>
            <a:off x="13287375" y="4337149"/>
            <a:ext cx="9525" cy="1533823"/>
          </a:xfrm>
          <a:prstGeom prst="rect">
            <a:avLst/>
          </a:prstGeom>
          <a:solidFill>
            <a:srgbClr val="1E264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4" name="Shape 72"/>
          <p:cNvSpPr/>
          <p:nvPr/>
        </p:nvSpPr>
        <p:spPr>
          <a:xfrm>
            <a:off x="17135475" y="4337149"/>
            <a:ext cx="9525" cy="1533823"/>
          </a:xfrm>
          <a:prstGeom prst="rect">
            <a:avLst/>
          </a:prstGeom>
          <a:solidFill>
            <a:srgbClr val="1E264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5" name="Text 73"/>
          <p:cNvSpPr/>
          <p:nvPr/>
        </p:nvSpPr>
        <p:spPr>
          <a:xfrm>
            <a:off x="13487400" y="4508599"/>
            <a:ext cx="3803333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25" b="1" kern="0" spc="83" dirty="0">
                <a:solidFill>
                  <a:srgbClr val="FB92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5. ARRAY NAO_COBERTO[ J ]</a:t>
            </a:r>
            <a:endParaRPr lang="en-US" sz="825" dirty="0"/>
          </a:p>
        </p:txBody>
      </p:sp>
      <p:sp>
        <p:nvSpPr>
          <p:cNvPr id="76" name="Text 74"/>
          <p:cNvSpPr/>
          <p:nvPr/>
        </p:nvSpPr>
        <p:spPr>
          <a:xfrm>
            <a:off x="13487400" y="4718149"/>
            <a:ext cx="3561302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1350" dirty="0">
                <a:solidFill>
                  <a:srgbClr val="FB923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bool</a:t>
            </a:r>
            <a:r>
              <a:rPr lang="en-US" sz="135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 tamanho |S</a:t>
            </a:r>
            <a:r>
              <a:rPr lang="en-US" sz="1125" baseline="-400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</a:t>
            </a:r>
            <a:r>
              <a:rPr lang="en-US" sz="135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|</a:t>
            </a:r>
            <a:endParaRPr lang="en-US" sz="1350" dirty="0"/>
          </a:p>
        </p:txBody>
      </p:sp>
      <p:sp>
        <p:nvSpPr>
          <p:cNvPr id="77" name="Text 75"/>
          <p:cNvSpPr/>
          <p:nvPr/>
        </p:nvSpPr>
        <p:spPr>
          <a:xfrm>
            <a:off x="13487400" y="5042892"/>
            <a:ext cx="3561302" cy="3223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True = Y</a:t>
            </a:r>
            <a:r>
              <a:rPr lang="en-US" sz="1000" baseline="-400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j </a:t>
            </a:r>
            <a:r>
              <a:rPr lang="en-US" sz="12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ainda não coberto</a:t>
            </a:r>
            <a:endParaRPr lang="en-US" sz="1200" dirty="0"/>
          </a:p>
        </p:txBody>
      </p:sp>
      <p:sp>
        <p:nvSpPr>
          <p:cNvPr id="78" name="Text 76"/>
          <p:cNvSpPr/>
          <p:nvPr/>
        </p:nvSpPr>
        <p:spPr>
          <a:xfrm>
            <a:off x="13487400" y="5327154"/>
            <a:ext cx="3561302" cy="297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lookup/set: O(1)</a:t>
            </a:r>
            <a:endParaRPr lang="en-US" sz="1200" dirty="0"/>
          </a:p>
        </p:txBody>
      </p:sp>
      <p:sp>
        <p:nvSpPr>
          <p:cNvPr id="79" name="Shape 77"/>
          <p:cNvSpPr/>
          <p:nvPr/>
        </p:nvSpPr>
        <p:spPr>
          <a:xfrm>
            <a:off x="1143000" y="9496425"/>
            <a:ext cx="16002000" cy="9525"/>
          </a:xfrm>
          <a:prstGeom prst="rect">
            <a:avLst/>
          </a:prstGeom>
          <a:solidFill>
            <a:srgbClr val="161C2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0" name="TextBox 79"/>
          <p:cNvSpPr txBox="1"/>
          <p:nvPr/>
        </p:nvSpPr>
        <p:spPr>
          <a:xfrm>
            <a:off x="9893808" y="9665208"/>
            <a:ext cx="128016" cy="164592"/>
          </a:xfrm>
          <a:prstGeom prst="rect">
            <a:avLst/>
          </a:prstGeom>
          <a:noFill/>
        </p:spPr>
        <p:txBody>
          <a:bodyPr wrap="none" lIns="36576" tIns="18288" rIns="36576" bIns="18288" anchor="ctr">
            <a:spAutoFit/>
          </a:bodyPr>
          <a:lstStyle/>
          <a:p>
            <a:pPr algn="ctr"/>
            <a:r>
              <a:rPr sz="800" b="0">
                <a:solidFill>
                  <a:srgbClr val="475569"/>
                </a:solidFill>
                <a:latin typeface="Inter"/>
              </a:rPr>
              <a:t>●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0058400" y="9665208"/>
            <a:ext cx="128016" cy="164592"/>
          </a:xfrm>
          <a:prstGeom prst="rect">
            <a:avLst/>
          </a:prstGeom>
          <a:noFill/>
        </p:spPr>
        <p:txBody>
          <a:bodyPr wrap="none" lIns="36576" tIns="18288" rIns="36576" bIns="18288" anchor="ctr">
            <a:spAutoFit/>
          </a:bodyPr>
          <a:lstStyle/>
          <a:p>
            <a:pPr algn="ctr"/>
            <a:r>
              <a:rPr sz="800" b="0">
                <a:solidFill>
                  <a:srgbClr val="475569"/>
                </a:solidFill>
                <a:latin typeface="Inter"/>
              </a:rPr>
              <a:t>●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222992" y="9665208"/>
            <a:ext cx="128016" cy="164592"/>
          </a:xfrm>
          <a:prstGeom prst="rect">
            <a:avLst/>
          </a:prstGeom>
          <a:noFill/>
        </p:spPr>
        <p:txBody>
          <a:bodyPr wrap="none" lIns="36576" tIns="18288" rIns="36576" bIns="18288" anchor="ctr">
            <a:spAutoFit/>
          </a:bodyPr>
          <a:lstStyle/>
          <a:p>
            <a:pPr algn="ctr"/>
            <a:r>
              <a:rPr sz="800" b="0">
                <a:solidFill>
                  <a:srgbClr val="475569"/>
                </a:solidFill>
                <a:latin typeface="Inter"/>
              </a:rPr>
              <a:t>●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0387584" y="9665208"/>
            <a:ext cx="128016" cy="164592"/>
          </a:xfrm>
          <a:prstGeom prst="rect">
            <a:avLst/>
          </a:prstGeom>
          <a:noFill/>
        </p:spPr>
        <p:txBody>
          <a:bodyPr wrap="none" lIns="36576" tIns="18288" rIns="36576" bIns="18288" anchor="ctr">
            <a:spAutoFit/>
          </a:bodyPr>
          <a:lstStyle/>
          <a:p>
            <a:pPr algn="ctr"/>
            <a:r>
              <a:rPr sz="800" b="0">
                <a:solidFill>
                  <a:srgbClr val="38BDF8"/>
                </a:solidFill>
                <a:latin typeface="Inter"/>
              </a:rPr>
              <a:t>●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0552176" y="9665208"/>
            <a:ext cx="128016" cy="164592"/>
          </a:xfrm>
          <a:prstGeom prst="rect">
            <a:avLst/>
          </a:prstGeom>
          <a:noFill/>
        </p:spPr>
        <p:txBody>
          <a:bodyPr wrap="none" lIns="36576" tIns="18288" rIns="36576" bIns="18288" anchor="ctr">
            <a:spAutoFit/>
          </a:bodyPr>
          <a:lstStyle/>
          <a:p>
            <a:pPr algn="ctr"/>
            <a:r>
              <a:rPr sz="800" b="0">
                <a:solidFill>
                  <a:srgbClr val="475569"/>
                </a:solidFill>
                <a:latin typeface="Inter"/>
              </a:rPr>
              <a:t>●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0716768" y="9665208"/>
            <a:ext cx="128016" cy="164592"/>
          </a:xfrm>
          <a:prstGeom prst="rect">
            <a:avLst/>
          </a:prstGeom>
          <a:noFill/>
        </p:spPr>
        <p:txBody>
          <a:bodyPr wrap="none" lIns="36576" tIns="18288" rIns="36576" bIns="18288" anchor="ctr">
            <a:spAutoFit/>
          </a:bodyPr>
          <a:lstStyle/>
          <a:p>
            <a:pPr algn="ctr"/>
            <a:r>
              <a:rPr sz="800" b="0">
                <a:solidFill>
                  <a:srgbClr val="475569"/>
                </a:solidFill>
                <a:latin typeface="Inter"/>
              </a:rPr>
              <a:t>●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0881360" y="9665208"/>
            <a:ext cx="128016" cy="164592"/>
          </a:xfrm>
          <a:prstGeom prst="rect">
            <a:avLst/>
          </a:prstGeom>
          <a:noFill/>
        </p:spPr>
        <p:txBody>
          <a:bodyPr wrap="none" lIns="36576" tIns="18288" rIns="36576" bIns="18288" anchor="ctr">
            <a:spAutoFit/>
          </a:bodyPr>
          <a:lstStyle/>
          <a:p>
            <a:pPr algn="ctr"/>
            <a:r>
              <a:rPr sz="800" b="0">
                <a:solidFill>
                  <a:srgbClr val="475569"/>
                </a:solidFill>
                <a:latin typeface="Inter"/>
              </a:rPr>
              <a:t>●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1045952" y="9665208"/>
            <a:ext cx="128016" cy="164592"/>
          </a:xfrm>
          <a:prstGeom prst="rect">
            <a:avLst/>
          </a:prstGeom>
          <a:noFill/>
        </p:spPr>
        <p:txBody>
          <a:bodyPr wrap="none" lIns="36576" tIns="18288" rIns="36576" bIns="18288" anchor="ctr">
            <a:spAutoFit/>
          </a:bodyPr>
          <a:lstStyle/>
          <a:p>
            <a:pPr algn="ctr"/>
            <a:r>
              <a:rPr sz="800" b="0">
                <a:solidFill>
                  <a:srgbClr val="475569"/>
                </a:solidFill>
                <a:latin typeface="Inter"/>
              </a:rPr>
              <a:t>●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1210544" y="9665208"/>
            <a:ext cx="128016" cy="164592"/>
          </a:xfrm>
          <a:prstGeom prst="rect">
            <a:avLst/>
          </a:prstGeom>
          <a:noFill/>
        </p:spPr>
        <p:txBody>
          <a:bodyPr wrap="none" lIns="36576" tIns="18288" rIns="36576" bIns="18288" anchor="ctr">
            <a:spAutoFit/>
          </a:bodyPr>
          <a:lstStyle/>
          <a:p>
            <a:pPr algn="ctr"/>
            <a:r>
              <a:rPr sz="800" b="0">
                <a:solidFill>
                  <a:srgbClr val="475569"/>
                </a:solidFill>
                <a:latin typeface="Inter"/>
              </a:rPr>
              <a:t>●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1375136" y="9665208"/>
            <a:ext cx="128016" cy="164592"/>
          </a:xfrm>
          <a:prstGeom prst="rect">
            <a:avLst/>
          </a:prstGeom>
          <a:noFill/>
        </p:spPr>
        <p:txBody>
          <a:bodyPr wrap="none" lIns="36576" tIns="18288" rIns="36576" bIns="18288" anchor="ctr">
            <a:spAutoFit/>
          </a:bodyPr>
          <a:lstStyle/>
          <a:p>
            <a:pPr algn="ctr"/>
            <a:r>
              <a:rPr sz="800" b="0">
                <a:solidFill>
                  <a:srgbClr val="475569"/>
                </a:solidFill>
                <a:latin typeface="Inter"/>
              </a:rPr>
              <a:t>●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1539728" y="9665208"/>
            <a:ext cx="128016" cy="164592"/>
          </a:xfrm>
          <a:prstGeom prst="rect">
            <a:avLst/>
          </a:prstGeom>
          <a:noFill/>
        </p:spPr>
        <p:txBody>
          <a:bodyPr wrap="none" lIns="36576" tIns="18288" rIns="36576" bIns="18288" anchor="ctr">
            <a:spAutoFit/>
          </a:bodyPr>
          <a:lstStyle/>
          <a:p>
            <a:pPr algn="ctr"/>
            <a:r>
              <a:rPr sz="800" b="0">
                <a:solidFill>
                  <a:srgbClr val="475569"/>
                </a:solidFill>
                <a:latin typeface="Inter"/>
              </a:rPr>
              <a:t>●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6504920" y="9637776"/>
            <a:ext cx="749808" cy="219456"/>
          </a:xfrm>
          <a:prstGeom prst="rect">
            <a:avLst/>
          </a:prstGeom>
          <a:noFill/>
        </p:spPr>
        <p:txBody>
          <a:bodyPr wrap="none" lIns="36576" tIns="18288" rIns="36576" bIns="18288" anchor="ctr">
            <a:spAutoFit/>
          </a:bodyPr>
          <a:lstStyle/>
          <a:p>
            <a:pPr algn="r"/>
            <a:r>
              <a:rPr sz="1050" b="0">
                <a:solidFill>
                  <a:srgbClr val="94A3B8"/>
                </a:solidFill>
                <a:latin typeface="JetBrains Mono"/>
              </a:rPr>
              <a:t>04 de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800100"/>
            <a:ext cx="35063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38BDF8">
                    <a:alpha val="6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1607939" y="823913"/>
            <a:ext cx="9525" cy="247650"/>
          </a:xfrm>
          <a:prstGeom prst="rect">
            <a:avLst/>
          </a:prstGeom>
          <a:solidFill>
            <a:srgbClr val="1E264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1807964" y="647700"/>
            <a:ext cx="10942930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900" b="1" kern="0" spc="-78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Estratégia Algorítmica — Greedy Set Cover</a:t>
            </a:r>
            <a:endParaRPr lang="en-US" sz="3900" dirty="0"/>
          </a:p>
        </p:txBody>
      </p:sp>
      <p:sp>
        <p:nvSpPr>
          <p:cNvPr id="5" name="Text 3"/>
          <p:cNvSpPr/>
          <p:nvPr/>
        </p:nvSpPr>
        <p:spPr>
          <a:xfrm>
            <a:off x="1143000" y="1552575"/>
            <a:ext cx="817245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Pseudocódigo formal:</a:t>
            </a:r>
            <a:endParaRPr lang="en-US" sz="1275" dirty="0"/>
          </a:p>
        </p:txBody>
      </p:sp>
      <p:sp>
        <p:nvSpPr>
          <p:cNvPr id="6" name="Shape 4"/>
          <p:cNvSpPr/>
          <p:nvPr/>
        </p:nvSpPr>
        <p:spPr>
          <a:xfrm>
            <a:off x="1143000" y="1838325"/>
            <a:ext cx="7429500" cy="4564559"/>
          </a:xfrm>
          <a:prstGeom prst="roundRect">
            <a:avLst>
              <a:gd name="adj" fmla="val 1252"/>
            </a:avLst>
          </a:prstGeom>
          <a:solidFill>
            <a:srgbClr val="1E1E2E"/>
          </a:solidFill>
          <a:ln w="9525">
            <a:solidFill>
              <a:srgbClr val="25254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1419225" y="2057400"/>
            <a:ext cx="7083362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9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Entrada: S</a:t>
            </a:r>
            <a:r>
              <a:rPr lang="en-US" sz="1000" baseline="-40000" dirty="0">
                <a:solidFill>
                  <a:srgbClr val="64748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15</a:t>
            </a:r>
            <a:r>
              <a:rPr lang="en-US" sz="1200" dirty="0">
                <a:solidFill>
                  <a:srgbClr val="64748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 S</a:t>
            </a:r>
            <a:r>
              <a:rPr lang="en-US" sz="1000" baseline="-40000" dirty="0">
                <a:solidFill>
                  <a:srgbClr val="64748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419225" y="2366963"/>
            <a:ext cx="7083362" cy="3275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9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Pré-proc: construir s15_index, sp_index, count[], nao_coberto[]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419225" y="2732633"/>
            <a:ext cx="7083362" cy="3818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90000"/>
              </a:lnSpc>
              <a:buNone/>
            </a:pPr>
            <a:r>
              <a:rPr lang="en-US" sz="1425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SB </a:t>
            </a:r>
            <a:r>
              <a:rPr lang="en-US" sz="1425" dirty="0">
                <a:solidFill>
                  <a:srgbClr val="38BD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← </a:t>
            </a:r>
            <a:r>
              <a:rPr lang="en-US" sz="1425" dirty="0">
                <a:solidFill>
                  <a:srgbClr val="818C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∅</a:t>
            </a:r>
            <a:endParaRPr lang="en-US" sz="1425" dirty="0"/>
          </a:p>
        </p:txBody>
      </p:sp>
      <p:sp>
        <p:nvSpPr>
          <p:cNvPr id="10" name="Text 8"/>
          <p:cNvSpPr/>
          <p:nvPr/>
        </p:nvSpPr>
        <p:spPr>
          <a:xfrm>
            <a:off x="1419225" y="3076426"/>
            <a:ext cx="7083362" cy="3818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90000"/>
              </a:lnSpc>
              <a:buNone/>
            </a:pPr>
            <a:r>
              <a:rPr lang="en-US" sz="1425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enquanto </a:t>
            </a:r>
            <a:r>
              <a:rPr lang="en-US" sz="1425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∃ j com </a:t>
            </a:r>
            <a:r>
              <a:rPr lang="en-US" sz="1425" dirty="0">
                <a:solidFill>
                  <a:srgbClr val="FB923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nao_coberto</a:t>
            </a:r>
            <a:r>
              <a:rPr lang="en-US" sz="1425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[j]:</a:t>
            </a:r>
            <a:endParaRPr lang="en-US" sz="1425" dirty="0"/>
          </a:p>
        </p:txBody>
      </p:sp>
      <p:sp>
        <p:nvSpPr>
          <p:cNvPr id="11" name="Text 9"/>
          <p:cNvSpPr/>
          <p:nvPr/>
        </p:nvSpPr>
        <p:spPr>
          <a:xfrm>
            <a:off x="1724025" y="3420219"/>
            <a:ext cx="6778562" cy="3951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90000"/>
              </a:lnSpc>
              <a:buNone/>
            </a:pPr>
            <a:r>
              <a:rPr lang="en-US" sz="1425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X* </a:t>
            </a:r>
            <a:r>
              <a:rPr lang="en-US" sz="1425" dirty="0">
                <a:solidFill>
                  <a:srgbClr val="38BD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← </a:t>
            </a:r>
            <a:r>
              <a:rPr lang="en-US" sz="1425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argmax</a:t>
            </a:r>
            <a:r>
              <a:rPr lang="en-US" sz="975" baseline="-400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 </a:t>
            </a:r>
            <a:r>
              <a:rPr lang="en-US" sz="1425" dirty="0">
                <a:solidFill>
                  <a:srgbClr val="A3E63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count</a:t>
            </a:r>
            <a:r>
              <a:rPr lang="en-US" sz="1425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[i] </a:t>
            </a:r>
            <a:r>
              <a:rPr lang="en-US" sz="1200" dirty="0">
                <a:solidFill>
                  <a:srgbClr val="4755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heap lazy ou numpy argmax</a:t>
            </a:r>
            <a:endParaRPr lang="en-US" sz="1425" dirty="0"/>
          </a:p>
        </p:txBody>
      </p:sp>
      <p:sp>
        <p:nvSpPr>
          <p:cNvPr id="12" name="Text 10"/>
          <p:cNvSpPr/>
          <p:nvPr/>
        </p:nvSpPr>
        <p:spPr>
          <a:xfrm>
            <a:off x="1724025" y="3777258"/>
            <a:ext cx="6778562" cy="3818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90000"/>
              </a:lnSpc>
              <a:buNone/>
            </a:pPr>
            <a:r>
              <a:rPr lang="en-US" sz="1425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SB </a:t>
            </a:r>
            <a:r>
              <a:rPr lang="en-US" sz="1425" dirty="0">
                <a:solidFill>
                  <a:srgbClr val="38BD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← </a:t>
            </a:r>
            <a:r>
              <a:rPr lang="en-US" sz="1425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SB ∪ {X*}</a:t>
            </a:r>
            <a:r>
              <a:rPr lang="en-US" sz="1425" dirty="0">
                <a:solidFill>
                  <a:srgbClr val="4755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;</a:t>
            </a:r>
            <a:r>
              <a:rPr lang="en-US" sz="1425" dirty="0">
                <a:solidFill>
                  <a:srgbClr val="A3E63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count</a:t>
            </a:r>
            <a:r>
              <a:rPr lang="en-US" sz="1425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[X*] </a:t>
            </a:r>
            <a:r>
              <a:rPr lang="en-US" sz="1425" dirty="0">
                <a:solidFill>
                  <a:srgbClr val="38BD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← </a:t>
            </a:r>
            <a:r>
              <a:rPr lang="en-US" sz="1425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−1</a:t>
            </a:r>
            <a:endParaRPr lang="en-US" sz="1425" dirty="0"/>
          </a:p>
        </p:txBody>
      </p:sp>
      <p:sp>
        <p:nvSpPr>
          <p:cNvPr id="13" name="Text 11"/>
          <p:cNvSpPr/>
          <p:nvPr/>
        </p:nvSpPr>
        <p:spPr>
          <a:xfrm>
            <a:off x="1724025" y="4121051"/>
            <a:ext cx="6778562" cy="3818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90000"/>
              </a:lnSpc>
              <a:buNone/>
            </a:pPr>
            <a:r>
              <a:rPr lang="en-US" sz="1425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para </a:t>
            </a:r>
            <a:r>
              <a:rPr lang="en-US" sz="1425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cada combo Y de p elementos de X*:</a:t>
            </a:r>
            <a:endParaRPr lang="en-US" sz="1425" dirty="0"/>
          </a:p>
        </p:txBody>
      </p:sp>
      <p:sp>
        <p:nvSpPr>
          <p:cNvPr id="14" name="Text 12"/>
          <p:cNvSpPr/>
          <p:nvPr/>
        </p:nvSpPr>
        <p:spPr>
          <a:xfrm>
            <a:off x="2028825" y="4464844"/>
            <a:ext cx="6473761" cy="3818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90000"/>
              </a:lnSpc>
              <a:buNone/>
            </a:pPr>
            <a:r>
              <a:rPr lang="en-US" sz="1425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 </a:t>
            </a:r>
            <a:r>
              <a:rPr lang="en-US" sz="1425" dirty="0">
                <a:solidFill>
                  <a:srgbClr val="FB923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nao_coberto</a:t>
            </a:r>
            <a:r>
              <a:rPr lang="en-US" sz="1425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[sp_index[Y]]:</a:t>
            </a:r>
            <a:endParaRPr lang="en-US" sz="1425" dirty="0"/>
          </a:p>
        </p:txBody>
      </p:sp>
      <p:sp>
        <p:nvSpPr>
          <p:cNvPr id="15" name="Text 13"/>
          <p:cNvSpPr/>
          <p:nvPr/>
        </p:nvSpPr>
        <p:spPr>
          <a:xfrm>
            <a:off x="2333625" y="4808637"/>
            <a:ext cx="6168962" cy="3818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90000"/>
              </a:lnSpc>
              <a:buNone/>
            </a:pPr>
            <a:r>
              <a:rPr lang="en-US" sz="1425" dirty="0">
                <a:solidFill>
                  <a:srgbClr val="FB923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nao_coberto</a:t>
            </a:r>
            <a:r>
              <a:rPr lang="en-US" sz="1425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[sp_index[Y]] </a:t>
            </a:r>
            <a:r>
              <a:rPr lang="en-US" sz="1425" dirty="0">
                <a:solidFill>
                  <a:srgbClr val="38BD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← </a:t>
            </a:r>
            <a:r>
              <a:rPr lang="en-US" sz="1425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False</a:t>
            </a:r>
            <a:endParaRPr lang="en-US" sz="1425" dirty="0"/>
          </a:p>
        </p:txBody>
      </p:sp>
      <p:sp>
        <p:nvSpPr>
          <p:cNvPr id="16" name="Text 14"/>
          <p:cNvSpPr/>
          <p:nvPr/>
        </p:nvSpPr>
        <p:spPr>
          <a:xfrm>
            <a:off x="2333625" y="5152430"/>
            <a:ext cx="6168962" cy="3818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90000"/>
              </a:lnSpc>
              <a:buNone/>
            </a:pPr>
            <a:r>
              <a:rPr lang="en-US" sz="1425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para </a:t>
            </a:r>
            <a:r>
              <a:rPr lang="en-US" sz="1425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cada X que contém Y: </a:t>
            </a:r>
            <a:r>
              <a:rPr lang="en-US" sz="1200" dirty="0">
                <a:solidFill>
                  <a:srgbClr val="4755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C(25-p,15-p) exts.</a:t>
            </a:r>
            <a:endParaRPr lang="en-US" sz="1425" dirty="0"/>
          </a:p>
        </p:txBody>
      </p:sp>
      <p:sp>
        <p:nvSpPr>
          <p:cNvPr id="17" name="Text 15"/>
          <p:cNvSpPr/>
          <p:nvPr/>
        </p:nvSpPr>
        <p:spPr>
          <a:xfrm>
            <a:off x="2638425" y="5496223"/>
            <a:ext cx="5864162" cy="3818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90000"/>
              </a:lnSpc>
              <a:buNone/>
            </a:pPr>
            <a:r>
              <a:rPr lang="en-US" sz="1425" dirty="0">
                <a:solidFill>
                  <a:srgbClr val="A3E63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count</a:t>
            </a:r>
            <a:r>
              <a:rPr lang="en-US" sz="1425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[s15_index[X]] </a:t>
            </a:r>
            <a:r>
              <a:rPr lang="en-US" sz="1425" dirty="0">
                <a:solidFill>
                  <a:srgbClr val="38BD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-= </a:t>
            </a:r>
            <a:r>
              <a:rPr lang="en-US" sz="1425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</a:t>
            </a:r>
            <a:endParaRPr lang="en-US" sz="1425" dirty="0"/>
          </a:p>
        </p:txBody>
      </p:sp>
      <p:sp>
        <p:nvSpPr>
          <p:cNvPr id="18" name="Text 16"/>
          <p:cNvSpPr/>
          <p:nvPr/>
        </p:nvSpPr>
        <p:spPr>
          <a:xfrm>
            <a:off x="1419225" y="5840016"/>
            <a:ext cx="7083362" cy="3818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90000"/>
              </a:lnSpc>
              <a:buNone/>
            </a:pPr>
            <a:r>
              <a:rPr lang="en-US" sz="1425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retornar </a:t>
            </a:r>
            <a:r>
              <a:rPr lang="en-US" sz="1425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SB</a:t>
            </a:r>
            <a:endParaRPr lang="en-US" sz="1425" dirty="0"/>
          </a:p>
        </p:txBody>
      </p:sp>
      <p:sp>
        <p:nvSpPr>
          <p:cNvPr id="19" name="Shape 17"/>
          <p:cNvSpPr/>
          <p:nvPr/>
        </p:nvSpPr>
        <p:spPr>
          <a:xfrm>
            <a:off x="8915400" y="1552575"/>
            <a:ext cx="8229600" cy="1557338"/>
          </a:xfrm>
          <a:prstGeom prst="roundRect">
            <a:avLst>
              <a:gd name="adj" fmla="val 3670"/>
            </a:avLst>
          </a:prstGeom>
          <a:solidFill>
            <a:srgbClr val="38BDF8">
              <a:alpha val="6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0" name="Shape 18"/>
          <p:cNvSpPr/>
          <p:nvPr/>
        </p:nvSpPr>
        <p:spPr>
          <a:xfrm>
            <a:off x="8915400" y="3100388"/>
            <a:ext cx="8229600" cy="9525"/>
          </a:xfrm>
          <a:prstGeom prst="rect">
            <a:avLst/>
          </a:prstGeom>
          <a:solidFill>
            <a:srgbClr val="38BDF8">
              <a:alpha val="18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Shape 19"/>
          <p:cNvSpPr/>
          <p:nvPr/>
        </p:nvSpPr>
        <p:spPr>
          <a:xfrm>
            <a:off x="8915400" y="1552575"/>
            <a:ext cx="8229600" cy="9525"/>
          </a:xfrm>
          <a:prstGeom prst="rect">
            <a:avLst/>
          </a:prstGeom>
          <a:solidFill>
            <a:srgbClr val="38BDF8">
              <a:alpha val="18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Shape 20"/>
          <p:cNvSpPr/>
          <p:nvPr/>
        </p:nvSpPr>
        <p:spPr>
          <a:xfrm>
            <a:off x="8915400" y="1552575"/>
            <a:ext cx="28575" cy="1557338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3" name="Shape 21"/>
          <p:cNvSpPr/>
          <p:nvPr/>
        </p:nvSpPr>
        <p:spPr>
          <a:xfrm>
            <a:off x="17135475" y="1552575"/>
            <a:ext cx="9525" cy="1557338"/>
          </a:xfrm>
          <a:prstGeom prst="rect">
            <a:avLst/>
          </a:prstGeom>
          <a:solidFill>
            <a:srgbClr val="38BDF8">
              <a:alpha val="18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4" name="Text 22"/>
          <p:cNvSpPr/>
          <p:nvPr/>
        </p:nvSpPr>
        <p:spPr>
          <a:xfrm>
            <a:off x="9134475" y="1733550"/>
            <a:ext cx="859155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b="1" kern="0" spc="84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GARANTIA DE APROXIMAÇÃO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134475" y="2000250"/>
            <a:ext cx="8044815" cy="378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1425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|SB</a:t>
            </a:r>
            <a:r>
              <a:rPr lang="en-US" sz="1187" baseline="-4000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greedy</a:t>
            </a:r>
            <a:r>
              <a:rPr lang="en-US" sz="1425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| ≤ H(|S</a:t>
            </a:r>
            <a:r>
              <a:rPr lang="en-US" sz="1187" baseline="-4000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</a:t>
            </a:r>
            <a:r>
              <a:rPr lang="en-US" sz="1425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|) · |OPT|</a:t>
            </a:r>
            <a:endParaRPr lang="en-US" sz="1425" dirty="0"/>
          </a:p>
        </p:txBody>
      </p:sp>
      <p:sp>
        <p:nvSpPr>
          <p:cNvPr id="26" name="Text 24"/>
          <p:cNvSpPr/>
          <p:nvPr/>
        </p:nvSpPr>
        <p:spPr>
          <a:xfrm>
            <a:off x="9134475" y="2397472"/>
            <a:ext cx="8591550" cy="321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H(m) = ln(m)+0,577 </a:t>
            </a:r>
            <a:r>
              <a:rPr lang="en-US" sz="1425" b="1" dirty="0">
                <a:solidFill>
                  <a:srgbClr val="FBB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≈ 15,4× </a:t>
            </a:r>
            <a:r>
              <a:rPr lang="en-US" sz="1425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para |S</a:t>
            </a:r>
            <a:r>
              <a:rPr lang="en-US" sz="1187" baseline="-400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</a:t>
            </a:r>
            <a:r>
              <a:rPr lang="en-US" sz="1425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|=4,5M</a:t>
            </a:r>
            <a:endParaRPr lang="en-US" sz="1425" dirty="0"/>
          </a:p>
        </p:txBody>
      </p:sp>
      <p:sp>
        <p:nvSpPr>
          <p:cNvPr id="27" name="Text 25"/>
          <p:cNvSpPr/>
          <p:nvPr/>
        </p:nvSpPr>
        <p:spPr>
          <a:xfrm>
            <a:off x="9134475" y="2738438"/>
            <a:ext cx="859155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Melhor razão polinomial possível (Feige 1998; Dinur &amp; Steurer 2014)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915400" y="3262313"/>
            <a:ext cx="8229600" cy="1634282"/>
          </a:xfrm>
          <a:prstGeom prst="roundRect">
            <a:avLst>
              <a:gd name="adj" fmla="val 3497"/>
            </a:avLst>
          </a:prstGeom>
          <a:solidFill>
            <a:srgbClr val="131720"/>
          </a:solidFill>
          <a:ln w="9525">
            <a:solidFill>
              <a:srgbClr val="1E264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9" name="Text 27"/>
          <p:cNvSpPr/>
          <p:nvPr/>
        </p:nvSpPr>
        <p:spPr>
          <a:xfrm>
            <a:off x="9115425" y="3443288"/>
            <a:ext cx="861250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b="1" kern="0" spc="84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COMPLEXIDADE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9115425" y="3729038"/>
            <a:ext cx="8064437" cy="3466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80000"/>
              </a:lnSpc>
              <a:buNone/>
            </a:pPr>
            <a:r>
              <a:rPr lang="en-US" sz="1350" dirty="0">
                <a:solidFill>
                  <a:srgbClr val="38BD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Tempo: </a:t>
            </a:r>
            <a:r>
              <a:rPr lang="en-US" sz="135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O(K·C(15,p)·C(25-p,15-p))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9115425" y="4037558"/>
            <a:ext cx="8064437" cy="377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80000"/>
              </a:lnSpc>
              <a:buNone/>
            </a:pPr>
            <a:r>
              <a:rPr lang="en-US" sz="1350" dirty="0">
                <a:solidFill>
                  <a:srgbClr val="38BD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Espaço: </a:t>
            </a:r>
            <a:r>
              <a:rPr lang="en-US" sz="135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O(N</a:t>
            </a:r>
            <a:r>
              <a:rPr lang="en-US" sz="1125" baseline="-4000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15 </a:t>
            </a:r>
            <a:r>
              <a:rPr lang="en-US" sz="135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+ N</a:t>
            </a:r>
            <a:r>
              <a:rPr lang="en-US" sz="1125" baseline="-4000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</a:t>
            </a:r>
            <a:r>
              <a:rPr lang="en-US" sz="135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9115425" y="4376589"/>
            <a:ext cx="8064437" cy="377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80000"/>
              </a:lnSpc>
              <a:buNone/>
            </a:pPr>
            <a:r>
              <a:rPr lang="en-US" sz="1350" dirty="0">
                <a:solidFill>
                  <a:srgbClr val="38BD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Ω: </a:t>
            </a:r>
            <a:r>
              <a:rPr lang="en-US" sz="135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Ω(N</a:t>
            </a:r>
            <a:r>
              <a:rPr lang="en-US" sz="1125" baseline="-4000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15 </a:t>
            </a:r>
            <a:r>
              <a:rPr lang="en-US" sz="135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+ N</a:t>
            </a:r>
            <a:r>
              <a:rPr lang="en-US" sz="1125" baseline="-4000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</a:t>
            </a:r>
            <a:r>
              <a:rPr lang="en-US" sz="135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</a:t>
            </a:r>
            <a:endParaRPr lang="en-US" sz="1350" dirty="0"/>
          </a:p>
        </p:txBody>
      </p:sp>
      <p:sp>
        <p:nvSpPr>
          <p:cNvPr id="33" name="Shape 31"/>
          <p:cNvSpPr/>
          <p:nvPr/>
        </p:nvSpPr>
        <p:spPr>
          <a:xfrm>
            <a:off x="8915400" y="5048994"/>
            <a:ext cx="8229600" cy="1266825"/>
          </a:xfrm>
          <a:prstGeom prst="roundRect">
            <a:avLst>
              <a:gd name="adj" fmla="val 4511"/>
            </a:avLst>
          </a:prstGeom>
          <a:solidFill>
            <a:srgbClr val="131720"/>
          </a:solidFill>
          <a:ln w="9525">
            <a:solidFill>
              <a:srgbClr val="1E264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4" name="Text 32"/>
          <p:cNvSpPr/>
          <p:nvPr/>
        </p:nvSpPr>
        <p:spPr>
          <a:xfrm>
            <a:off x="9115425" y="5229969"/>
            <a:ext cx="861250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b="1" kern="0" spc="84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SELEÇÃO AUTOMÁTICA DE ESTRATÉGIA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9115425" y="5544294"/>
            <a:ext cx="790575" cy="247650"/>
          </a:xfrm>
          <a:prstGeom prst="roundRect">
            <a:avLst>
              <a:gd name="adj" fmla="val 11538"/>
            </a:avLst>
          </a:prstGeom>
          <a:solidFill>
            <a:srgbClr val="38BDF8">
              <a:alpha val="1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6" name="Text 34"/>
          <p:cNvSpPr/>
          <p:nvPr/>
        </p:nvSpPr>
        <p:spPr>
          <a:xfrm>
            <a:off x="9210675" y="5572869"/>
            <a:ext cx="67627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38BD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p=14,13</a:t>
            </a:r>
            <a:endParaRPr lang="en-US" sz="1125" dirty="0"/>
          </a:p>
        </p:txBody>
      </p:sp>
      <p:sp>
        <p:nvSpPr>
          <p:cNvPr id="37" name="Text 35"/>
          <p:cNvSpPr/>
          <p:nvPr/>
        </p:nvSpPr>
        <p:spPr>
          <a:xfrm>
            <a:off x="10020300" y="5515719"/>
            <a:ext cx="359460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Heap lazy — ≤ 6.930 atualizações/iter</a:t>
            </a:r>
            <a:endParaRPr lang="en-US" sz="1425" dirty="0"/>
          </a:p>
        </p:txBody>
      </p:sp>
      <p:sp>
        <p:nvSpPr>
          <p:cNvPr id="38" name="Shape 36"/>
          <p:cNvSpPr/>
          <p:nvPr/>
        </p:nvSpPr>
        <p:spPr>
          <a:xfrm>
            <a:off x="9115425" y="5887194"/>
            <a:ext cx="790575" cy="247650"/>
          </a:xfrm>
          <a:prstGeom prst="roundRect">
            <a:avLst>
              <a:gd name="adj" fmla="val 11538"/>
            </a:avLst>
          </a:prstGeom>
          <a:solidFill>
            <a:srgbClr val="A3E635">
              <a:alpha val="8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9" name="Text 37"/>
          <p:cNvSpPr/>
          <p:nvPr/>
        </p:nvSpPr>
        <p:spPr>
          <a:xfrm>
            <a:off x="9210675" y="5915769"/>
            <a:ext cx="67627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A3E63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p=12,11</a:t>
            </a:r>
            <a:endParaRPr lang="en-US" sz="1125" dirty="0"/>
          </a:p>
        </p:txBody>
      </p:sp>
      <p:sp>
        <p:nvSpPr>
          <p:cNvPr id="40" name="Text 38"/>
          <p:cNvSpPr/>
          <p:nvPr/>
        </p:nvSpPr>
        <p:spPr>
          <a:xfrm>
            <a:off x="10020300" y="5887194"/>
            <a:ext cx="4298722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425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NumPy argmax — &gt; 130.000 atualizações/iter (p=12); p=11: greedy c/ atualização paralelizada</a:t>
            </a:r>
            <a:endParaRPr lang="en-US" sz="1425" dirty="0"/>
          </a:p>
        </p:txBody>
      </p:sp>
      <p:sp>
        <p:nvSpPr>
          <p:cNvPr id="41" name="Shape 39"/>
          <p:cNvSpPr/>
          <p:nvPr/>
        </p:nvSpPr>
        <p:spPr>
          <a:xfrm>
            <a:off x="1143000" y="9496425"/>
            <a:ext cx="16002000" cy="9525"/>
          </a:xfrm>
          <a:prstGeom prst="rect">
            <a:avLst/>
          </a:prstGeom>
          <a:solidFill>
            <a:srgbClr val="161C2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2" name="TextBox 41"/>
          <p:cNvSpPr txBox="1"/>
          <p:nvPr/>
        </p:nvSpPr>
        <p:spPr>
          <a:xfrm>
            <a:off x="9893808" y="9665208"/>
            <a:ext cx="128016" cy="164592"/>
          </a:xfrm>
          <a:prstGeom prst="rect">
            <a:avLst/>
          </a:prstGeom>
          <a:noFill/>
        </p:spPr>
        <p:txBody>
          <a:bodyPr wrap="none" lIns="36576" tIns="18288" rIns="36576" bIns="18288" anchor="ctr">
            <a:spAutoFit/>
          </a:bodyPr>
          <a:lstStyle/>
          <a:p>
            <a:pPr algn="ctr"/>
            <a:r>
              <a:rPr sz="800" b="0">
                <a:solidFill>
                  <a:srgbClr val="475569"/>
                </a:solidFill>
                <a:latin typeface="Inter"/>
              </a:rPr>
              <a:t>●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058400" y="9665208"/>
            <a:ext cx="128016" cy="164592"/>
          </a:xfrm>
          <a:prstGeom prst="rect">
            <a:avLst/>
          </a:prstGeom>
          <a:noFill/>
        </p:spPr>
        <p:txBody>
          <a:bodyPr wrap="none" lIns="36576" tIns="18288" rIns="36576" bIns="18288" anchor="ctr">
            <a:spAutoFit/>
          </a:bodyPr>
          <a:lstStyle/>
          <a:p>
            <a:pPr algn="ctr"/>
            <a:r>
              <a:rPr sz="800" b="0">
                <a:solidFill>
                  <a:srgbClr val="475569"/>
                </a:solidFill>
                <a:latin typeface="Inter"/>
              </a:rPr>
              <a:t>●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222992" y="9665208"/>
            <a:ext cx="128016" cy="164592"/>
          </a:xfrm>
          <a:prstGeom prst="rect">
            <a:avLst/>
          </a:prstGeom>
          <a:noFill/>
        </p:spPr>
        <p:txBody>
          <a:bodyPr wrap="none" lIns="36576" tIns="18288" rIns="36576" bIns="18288" anchor="ctr">
            <a:spAutoFit/>
          </a:bodyPr>
          <a:lstStyle/>
          <a:p>
            <a:pPr algn="ctr"/>
            <a:r>
              <a:rPr sz="800" b="0">
                <a:solidFill>
                  <a:srgbClr val="475569"/>
                </a:solidFill>
                <a:latin typeface="Inter"/>
              </a:rPr>
              <a:t>●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387584" y="9665208"/>
            <a:ext cx="128016" cy="164592"/>
          </a:xfrm>
          <a:prstGeom prst="rect">
            <a:avLst/>
          </a:prstGeom>
          <a:noFill/>
        </p:spPr>
        <p:txBody>
          <a:bodyPr wrap="none" lIns="36576" tIns="18288" rIns="36576" bIns="18288" anchor="ctr">
            <a:spAutoFit/>
          </a:bodyPr>
          <a:lstStyle/>
          <a:p>
            <a:pPr algn="ctr"/>
            <a:r>
              <a:rPr sz="800" b="0">
                <a:solidFill>
                  <a:srgbClr val="475569"/>
                </a:solidFill>
                <a:latin typeface="Inter"/>
              </a:rPr>
              <a:t>●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552176" y="9665208"/>
            <a:ext cx="128016" cy="164592"/>
          </a:xfrm>
          <a:prstGeom prst="rect">
            <a:avLst/>
          </a:prstGeom>
          <a:noFill/>
        </p:spPr>
        <p:txBody>
          <a:bodyPr wrap="none" lIns="36576" tIns="18288" rIns="36576" bIns="18288" anchor="ctr">
            <a:spAutoFit/>
          </a:bodyPr>
          <a:lstStyle/>
          <a:p>
            <a:pPr algn="ctr"/>
            <a:r>
              <a:rPr sz="800" b="0">
                <a:solidFill>
                  <a:srgbClr val="38BDF8"/>
                </a:solidFill>
                <a:latin typeface="Inter"/>
              </a:rPr>
              <a:t>●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716768" y="9665208"/>
            <a:ext cx="128016" cy="164592"/>
          </a:xfrm>
          <a:prstGeom prst="rect">
            <a:avLst/>
          </a:prstGeom>
          <a:noFill/>
        </p:spPr>
        <p:txBody>
          <a:bodyPr wrap="none" lIns="36576" tIns="18288" rIns="36576" bIns="18288" anchor="ctr">
            <a:spAutoFit/>
          </a:bodyPr>
          <a:lstStyle/>
          <a:p>
            <a:pPr algn="ctr"/>
            <a:r>
              <a:rPr sz="800" b="0">
                <a:solidFill>
                  <a:srgbClr val="475569"/>
                </a:solidFill>
                <a:latin typeface="Inter"/>
              </a:rPr>
              <a:t>●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881360" y="9665208"/>
            <a:ext cx="128016" cy="164592"/>
          </a:xfrm>
          <a:prstGeom prst="rect">
            <a:avLst/>
          </a:prstGeom>
          <a:noFill/>
        </p:spPr>
        <p:txBody>
          <a:bodyPr wrap="none" lIns="36576" tIns="18288" rIns="36576" bIns="18288" anchor="ctr">
            <a:spAutoFit/>
          </a:bodyPr>
          <a:lstStyle/>
          <a:p>
            <a:pPr algn="ctr"/>
            <a:r>
              <a:rPr sz="800" b="0">
                <a:solidFill>
                  <a:srgbClr val="475569"/>
                </a:solidFill>
                <a:latin typeface="Inter"/>
              </a:rPr>
              <a:t>●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045952" y="9665208"/>
            <a:ext cx="128016" cy="164592"/>
          </a:xfrm>
          <a:prstGeom prst="rect">
            <a:avLst/>
          </a:prstGeom>
          <a:noFill/>
        </p:spPr>
        <p:txBody>
          <a:bodyPr wrap="none" lIns="36576" tIns="18288" rIns="36576" bIns="18288" anchor="ctr">
            <a:spAutoFit/>
          </a:bodyPr>
          <a:lstStyle/>
          <a:p>
            <a:pPr algn="ctr"/>
            <a:r>
              <a:rPr sz="800" b="0">
                <a:solidFill>
                  <a:srgbClr val="475569"/>
                </a:solidFill>
                <a:latin typeface="Inter"/>
              </a:rPr>
              <a:t>●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210544" y="9665208"/>
            <a:ext cx="128016" cy="164592"/>
          </a:xfrm>
          <a:prstGeom prst="rect">
            <a:avLst/>
          </a:prstGeom>
          <a:noFill/>
        </p:spPr>
        <p:txBody>
          <a:bodyPr wrap="none" lIns="36576" tIns="18288" rIns="36576" bIns="18288" anchor="ctr">
            <a:spAutoFit/>
          </a:bodyPr>
          <a:lstStyle/>
          <a:p>
            <a:pPr algn="ctr"/>
            <a:r>
              <a:rPr sz="800" b="0">
                <a:solidFill>
                  <a:srgbClr val="475569"/>
                </a:solidFill>
                <a:latin typeface="Inter"/>
              </a:rPr>
              <a:t>●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375136" y="9665208"/>
            <a:ext cx="128016" cy="164592"/>
          </a:xfrm>
          <a:prstGeom prst="rect">
            <a:avLst/>
          </a:prstGeom>
          <a:noFill/>
        </p:spPr>
        <p:txBody>
          <a:bodyPr wrap="none" lIns="36576" tIns="18288" rIns="36576" bIns="18288" anchor="ctr">
            <a:spAutoFit/>
          </a:bodyPr>
          <a:lstStyle/>
          <a:p>
            <a:pPr algn="ctr"/>
            <a:r>
              <a:rPr sz="800" b="0">
                <a:solidFill>
                  <a:srgbClr val="475569"/>
                </a:solidFill>
                <a:latin typeface="Inter"/>
              </a:rPr>
              <a:t>●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539728" y="9665208"/>
            <a:ext cx="128016" cy="164592"/>
          </a:xfrm>
          <a:prstGeom prst="rect">
            <a:avLst/>
          </a:prstGeom>
          <a:noFill/>
        </p:spPr>
        <p:txBody>
          <a:bodyPr wrap="none" lIns="36576" tIns="18288" rIns="36576" bIns="18288" anchor="ctr">
            <a:spAutoFit/>
          </a:bodyPr>
          <a:lstStyle/>
          <a:p>
            <a:pPr algn="ctr"/>
            <a:r>
              <a:rPr sz="800" b="0">
                <a:solidFill>
                  <a:srgbClr val="475569"/>
                </a:solidFill>
                <a:latin typeface="Inter"/>
              </a:rPr>
              <a:t>●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6504920" y="9637776"/>
            <a:ext cx="749808" cy="219456"/>
          </a:xfrm>
          <a:prstGeom prst="rect">
            <a:avLst/>
          </a:prstGeom>
          <a:noFill/>
        </p:spPr>
        <p:txBody>
          <a:bodyPr wrap="none" lIns="36576" tIns="18288" rIns="36576" bIns="18288" anchor="ctr">
            <a:spAutoFit/>
          </a:bodyPr>
          <a:lstStyle/>
          <a:p>
            <a:pPr algn="r"/>
            <a:r>
              <a:rPr sz="1050" b="0">
                <a:solidFill>
                  <a:srgbClr val="94A3B8"/>
                </a:solidFill>
                <a:latin typeface="JetBrains Mono"/>
              </a:rPr>
              <a:t>05 de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800100"/>
            <a:ext cx="35063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38BDF8">
                    <a:alpha val="6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06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1607939" y="823913"/>
            <a:ext cx="9525" cy="247650"/>
          </a:xfrm>
          <a:prstGeom prst="rect">
            <a:avLst/>
          </a:prstGeom>
          <a:solidFill>
            <a:srgbClr val="1E264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1807964" y="647700"/>
            <a:ext cx="10988769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900" b="1" kern="0" spc="-78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Análise de Complexidade: Tempo e Espaço</a:t>
            </a:r>
            <a:endParaRPr lang="en-US" sz="3900" dirty="0"/>
          </a:p>
        </p:txBody>
      </p:sp>
      <p:sp>
        <p:nvSpPr>
          <p:cNvPr id="5" name="Shape 3"/>
          <p:cNvSpPr/>
          <p:nvPr/>
        </p:nvSpPr>
        <p:spPr>
          <a:xfrm>
            <a:off x="1143000" y="1438275"/>
            <a:ext cx="16002000" cy="451396"/>
          </a:xfrm>
          <a:prstGeom prst="roundRect">
            <a:avLst>
              <a:gd name="adj" fmla="val 10551"/>
            </a:avLst>
          </a:prstGeom>
          <a:solidFill>
            <a:srgbClr val="38BDF8">
              <a:alpha val="4000"/>
            </a:srgbClr>
          </a:solidFill>
          <a:ln w="9525">
            <a:solidFill>
              <a:srgbClr val="38BDF8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1343025" y="1568648"/>
            <a:ext cx="768846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Notação:</a:t>
            </a:r>
            <a:endParaRPr lang="en-US" sz="1275" dirty="0"/>
          </a:p>
        </p:txBody>
      </p:sp>
      <p:sp>
        <p:nvSpPr>
          <p:cNvPr id="7" name="Text 5"/>
          <p:cNvSpPr/>
          <p:nvPr/>
        </p:nvSpPr>
        <p:spPr>
          <a:xfrm>
            <a:off x="2302371" y="1543050"/>
            <a:ext cx="1567532" cy="2799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38BD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</a:t>
            </a:r>
            <a:r>
              <a:rPr lang="en-US" sz="1063" baseline="-40000" dirty="0">
                <a:solidFill>
                  <a:srgbClr val="38BD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15 </a:t>
            </a:r>
            <a:r>
              <a:rPr lang="en-US" sz="1275" dirty="0">
                <a:solidFill>
                  <a:srgbClr val="38BD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= 3.268.760</a:t>
            </a:r>
            <a:endParaRPr lang="en-US" sz="1275" dirty="0"/>
          </a:p>
        </p:txBody>
      </p:sp>
      <p:sp>
        <p:nvSpPr>
          <p:cNvPr id="8" name="Text 6"/>
          <p:cNvSpPr/>
          <p:nvPr/>
        </p:nvSpPr>
        <p:spPr>
          <a:xfrm>
            <a:off x="3994100" y="1543050"/>
            <a:ext cx="1225897" cy="2799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38BD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</a:t>
            </a:r>
            <a:r>
              <a:rPr lang="en-US" sz="1063" baseline="-40000" dirty="0">
                <a:solidFill>
                  <a:srgbClr val="38BD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 </a:t>
            </a:r>
            <a:r>
              <a:rPr lang="en-US" sz="1275" dirty="0">
                <a:solidFill>
                  <a:srgbClr val="38BD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= C(25,p)</a:t>
            </a:r>
            <a:endParaRPr lang="en-US" sz="1275" dirty="0"/>
          </a:p>
        </p:txBody>
      </p:sp>
      <p:sp>
        <p:nvSpPr>
          <p:cNvPr id="9" name="Text 7"/>
          <p:cNvSpPr/>
          <p:nvPr/>
        </p:nvSpPr>
        <p:spPr>
          <a:xfrm>
            <a:off x="5410498" y="1559123"/>
            <a:ext cx="2565023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 = C(15,p)·C(25−p,15−p)</a:t>
            </a:r>
            <a:endParaRPr lang="en-US" sz="1275" dirty="0"/>
          </a:p>
        </p:txBody>
      </p:sp>
      <p:sp>
        <p:nvSpPr>
          <p:cNvPr id="10" name="Text 8"/>
          <p:cNvSpPr/>
          <p:nvPr/>
        </p:nvSpPr>
        <p:spPr>
          <a:xfrm>
            <a:off x="8009037" y="1568648"/>
            <a:ext cx="211449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(atualizações por iteração)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198001" y="1543050"/>
            <a:ext cx="1389251" cy="2799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A3E63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K = |SB</a:t>
            </a:r>
            <a:r>
              <a:rPr lang="en-US" sz="1063" baseline="-40000" dirty="0">
                <a:solidFill>
                  <a:srgbClr val="A3E63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greedy</a:t>
            </a:r>
            <a:r>
              <a:rPr lang="en-US" sz="1275" dirty="0">
                <a:solidFill>
                  <a:srgbClr val="A3E63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|</a:t>
            </a:r>
            <a:endParaRPr lang="en-US" sz="1275" dirty="0"/>
          </a:p>
        </p:txBody>
      </p:sp>
      <p:sp>
        <p:nvSpPr>
          <p:cNvPr id="12" name="Text 10"/>
          <p:cNvSpPr/>
          <p:nvPr/>
        </p:nvSpPr>
        <p:spPr>
          <a:xfrm>
            <a:off x="1143000" y="2042071"/>
            <a:ext cx="4819650" cy="2589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kern="0" spc="6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PROGRAMA 1 — GERAÇÃO DE S</a:t>
            </a:r>
            <a:r>
              <a:rPr lang="en-US" sz="1000" b="1" kern="0" spc="60" baseline="-400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143000" y="2358182"/>
            <a:ext cx="4381500" cy="38100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Shape 12"/>
          <p:cNvSpPr/>
          <p:nvPr/>
        </p:nvSpPr>
        <p:spPr>
          <a:xfrm>
            <a:off x="1143000" y="2720132"/>
            <a:ext cx="4381500" cy="19050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1276350" y="2453432"/>
            <a:ext cx="1054596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7DD3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Métrica</a:t>
            </a:r>
            <a:endParaRPr lang="en-US" sz="1125" dirty="0"/>
          </a:p>
        </p:txBody>
      </p:sp>
      <p:sp>
        <p:nvSpPr>
          <p:cNvPr id="16" name="Text 14"/>
          <p:cNvSpPr/>
          <p:nvPr/>
        </p:nvSpPr>
        <p:spPr>
          <a:xfrm>
            <a:off x="2483346" y="2453432"/>
            <a:ext cx="106873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125" b="1" dirty="0">
                <a:solidFill>
                  <a:srgbClr val="7DD3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Complexidade</a:t>
            </a:r>
            <a:endParaRPr lang="en-US" sz="1125" dirty="0"/>
          </a:p>
        </p:txBody>
      </p:sp>
      <p:sp>
        <p:nvSpPr>
          <p:cNvPr id="17" name="Text 15"/>
          <p:cNvSpPr/>
          <p:nvPr/>
        </p:nvSpPr>
        <p:spPr>
          <a:xfrm>
            <a:off x="3780681" y="2453432"/>
            <a:ext cx="1686669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7DD3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Justificativa</a:t>
            </a:r>
            <a:endParaRPr lang="en-US" sz="1125" dirty="0"/>
          </a:p>
        </p:txBody>
      </p:sp>
      <p:sp>
        <p:nvSpPr>
          <p:cNvPr id="18" name="Shape 16"/>
          <p:cNvSpPr/>
          <p:nvPr/>
        </p:nvSpPr>
        <p:spPr>
          <a:xfrm>
            <a:off x="1143000" y="2739182"/>
            <a:ext cx="4381500" cy="566738"/>
          </a:xfrm>
          <a:prstGeom prst="rect">
            <a:avLst/>
          </a:prstGeom>
          <a:solidFill>
            <a:srgbClr val="1A1F2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Shape 17"/>
          <p:cNvSpPr/>
          <p:nvPr/>
        </p:nvSpPr>
        <p:spPr>
          <a:xfrm>
            <a:off x="1143000" y="3296394"/>
            <a:ext cx="4381500" cy="9525"/>
          </a:xfrm>
          <a:prstGeom prst="rect">
            <a:avLst/>
          </a:prstGeom>
          <a:solidFill>
            <a:srgbClr val="1E264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1276350" y="2834432"/>
            <a:ext cx="1054596" cy="4143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Tempo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2483346" y="2834432"/>
            <a:ext cx="1068735" cy="4143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350" dirty="0">
                <a:solidFill>
                  <a:srgbClr val="38BD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Θ(C(n,p))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3780681" y="2834432"/>
            <a:ext cx="1686669" cy="4143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Enumera cada combinação 1×</a:t>
            </a:r>
            <a:endParaRPr lang="en-US" sz="1125" dirty="0"/>
          </a:p>
        </p:txBody>
      </p:sp>
      <p:sp>
        <p:nvSpPr>
          <p:cNvPr id="23" name="Shape 21"/>
          <p:cNvSpPr/>
          <p:nvPr/>
        </p:nvSpPr>
        <p:spPr>
          <a:xfrm>
            <a:off x="1143000" y="3305919"/>
            <a:ext cx="4381500" cy="600075"/>
          </a:xfrm>
          <a:prstGeom prst="rect">
            <a:avLst/>
          </a:prstGeom>
          <a:solidFill>
            <a:srgbClr val="14182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4" name="Shape 22"/>
          <p:cNvSpPr/>
          <p:nvPr/>
        </p:nvSpPr>
        <p:spPr>
          <a:xfrm>
            <a:off x="1143000" y="3896469"/>
            <a:ext cx="4381500" cy="9525"/>
          </a:xfrm>
          <a:prstGeom prst="rect">
            <a:avLst/>
          </a:prstGeom>
          <a:solidFill>
            <a:srgbClr val="1E264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5" name="Text 23"/>
          <p:cNvSpPr/>
          <p:nvPr/>
        </p:nvSpPr>
        <p:spPr>
          <a:xfrm>
            <a:off x="1276350" y="3401169"/>
            <a:ext cx="1054596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Espaço (lazy)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2483346" y="3401169"/>
            <a:ext cx="1068735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350" dirty="0">
                <a:solidFill>
                  <a:srgbClr val="38BD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Θ(p)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3780681" y="3401169"/>
            <a:ext cx="1686669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Pilha do iterador</a:t>
            </a:r>
            <a:endParaRPr lang="en-US" sz="1125" dirty="0"/>
          </a:p>
        </p:txBody>
      </p:sp>
      <p:sp>
        <p:nvSpPr>
          <p:cNvPr id="28" name="Shape 26"/>
          <p:cNvSpPr/>
          <p:nvPr/>
        </p:nvSpPr>
        <p:spPr>
          <a:xfrm>
            <a:off x="1143000" y="3905994"/>
            <a:ext cx="4381500" cy="595313"/>
          </a:xfrm>
          <a:prstGeom prst="rect">
            <a:avLst/>
          </a:prstGeom>
          <a:solidFill>
            <a:srgbClr val="1A1F2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9" name="Text 27"/>
          <p:cNvSpPr/>
          <p:nvPr/>
        </p:nvSpPr>
        <p:spPr>
          <a:xfrm>
            <a:off x="1276350" y="4001244"/>
            <a:ext cx="1054596" cy="442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Espaço (array)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2483346" y="4001244"/>
            <a:ext cx="1068735" cy="442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350" dirty="0">
                <a:solidFill>
                  <a:srgbClr val="38BD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Θ(C(n,p))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3780681" y="4001244"/>
            <a:ext cx="1686669" cy="442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Armazena todos bitmasks</a:t>
            </a:r>
            <a:endParaRPr lang="en-US" sz="1125" dirty="0"/>
          </a:p>
        </p:txBody>
      </p:sp>
      <p:sp>
        <p:nvSpPr>
          <p:cNvPr id="32" name="Text 30"/>
          <p:cNvSpPr/>
          <p:nvPr/>
        </p:nvSpPr>
        <p:spPr>
          <a:xfrm>
            <a:off x="5753100" y="2042071"/>
            <a:ext cx="1253109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b="1" kern="0" spc="6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PROGRAMAS 2–5 — GREEDY SET COVER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753100" y="2327821"/>
            <a:ext cx="11391900" cy="36195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4" name="Shape 32"/>
          <p:cNvSpPr/>
          <p:nvPr/>
        </p:nvSpPr>
        <p:spPr>
          <a:xfrm>
            <a:off x="5753100" y="2670721"/>
            <a:ext cx="11391900" cy="19050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5" name="Text 33"/>
          <p:cNvSpPr/>
          <p:nvPr/>
        </p:nvSpPr>
        <p:spPr>
          <a:xfrm>
            <a:off x="5886450" y="2413546"/>
            <a:ext cx="3641658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7DD3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Métrica</a:t>
            </a:r>
            <a:endParaRPr lang="en-US" sz="1125" dirty="0"/>
          </a:p>
        </p:txBody>
      </p:sp>
      <p:sp>
        <p:nvSpPr>
          <p:cNvPr id="36" name="Text 34"/>
          <p:cNvSpPr/>
          <p:nvPr/>
        </p:nvSpPr>
        <p:spPr>
          <a:xfrm>
            <a:off x="9626465" y="2413546"/>
            <a:ext cx="3476101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125" b="1" dirty="0">
                <a:solidFill>
                  <a:srgbClr val="7DD3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Heap lazy (p=14,13)</a:t>
            </a:r>
            <a:endParaRPr lang="en-US" sz="1125" dirty="0"/>
          </a:p>
        </p:txBody>
      </p:sp>
      <p:sp>
        <p:nvSpPr>
          <p:cNvPr id="37" name="Text 35"/>
          <p:cNvSpPr/>
          <p:nvPr/>
        </p:nvSpPr>
        <p:spPr>
          <a:xfrm>
            <a:off x="13255306" y="2413546"/>
            <a:ext cx="3815798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125" b="1" dirty="0">
                <a:solidFill>
                  <a:srgbClr val="7DD3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NumPy argmax (p=12) / Paralelo (p=11)</a:t>
            </a:r>
            <a:endParaRPr lang="en-US" sz="1125" dirty="0"/>
          </a:p>
        </p:txBody>
      </p:sp>
      <p:sp>
        <p:nvSpPr>
          <p:cNvPr id="38" name="Shape 36"/>
          <p:cNvSpPr/>
          <p:nvPr/>
        </p:nvSpPr>
        <p:spPr>
          <a:xfrm>
            <a:off x="5753100" y="2689771"/>
            <a:ext cx="11391900" cy="416123"/>
          </a:xfrm>
          <a:prstGeom prst="rect">
            <a:avLst/>
          </a:prstGeom>
          <a:solidFill>
            <a:srgbClr val="1A1F2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9" name="Shape 37"/>
          <p:cNvSpPr/>
          <p:nvPr/>
        </p:nvSpPr>
        <p:spPr>
          <a:xfrm>
            <a:off x="5753100" y="3096369"/>
            <a:ext cx="11391900" cy="9525"/>
          </a:xfrm>
          <a:prstGeom prst="rect">
            <a:avLst/>
          </a:prstGeom>
          <a:solidFill>
            <a:srgbClr val="1E264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0" name="Text 38"/>
          <p:cNvSpPr/>
          <p:nvPr/>
        </p:nvSpPr>
        <p:spPr>
          <a:xfrm>
            <a:off x="5886450" y="2775496"/>
            <a:ext cx="3641658" cy="2827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Pré-processamento</a:t>
            </a:r>
            <a:endParaRPr lang="en-US" sz="1350" dirty="0"/>
          </a:p>
        </p:txBody>
      </p:sp>
      <p:sp>
        <p:nvSpPr>
          <p:cNvPr id="41" name="Text 39"/>
          <p:cNvSpPr/>
          <p:nvPr/>
        </p:nvSpPr>
        <p:spPr>
          <a:xfrm>
            <a:off x="9626465" y="2775496"/>
            <a:ext cx="3476101" cy="2827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38BD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O(N</a:t>
            </a:r>
            <a:r>
              <a:rPr lang="en-US" sz="1000" baseline="-40000" dirty="0">
                <a:solidFill>
                  <a:srgbClr val="38BD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15 </a:t>
            </a:r>
            <a:r>
              <a:rPr lang="en-US" sz="1200" dirty="0">
                <a:solidFill>
                  <a:srgbClr val="38BD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+ N</a:t>
            </a:r>
            <a:r>
              <a:rPr lang="en-US" sz="1000" baseline="-40000" dirty="0">
                <a:solidFill>
                  <a:srgbClr val="38BD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</a:t>
            </a:r>
            <a:r>
              <a:rPr lang="en-US" sz="1200" dirty="0">
                <a:solidFill>
                  <a:srgbClr val="38BD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13255306" y="2775496"/>
            <a:ext cx="3815798" cy="2827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38BD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O(N</a:t>
            </a:r>
            <a:r>
              <a:rPr lang="en-US" sz="1000" baseline="-40000" dirty="0">
                <a:solidFill>
                  <a:srgbClr val="38BD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15 </a:t>
            </a:r>
            <a:r>
              <a:rPr lang="en-US" sz="1200" dirty="0">
                <a:solidFill>
                  <a:srgbClr val="38BD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+ N</a:t>
            </a:r>
            <a:r>
              <a:rPr lang="en-US" sz="1000" baseline="-40000" dirty="0">
                <a:solidFill>
                  <a:srgbClr val="38BD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</a:t>
            </a:r>
            <a:r>
              <a:rPr lang="en-US" sz="1200" dirty="0">
                <a:solidFill>
                  <a:srgbClr val="38BD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5753100" y="3105894"/>
            <a:ext cx="11391900" cy="411361"/>
          </a:xfrm>
          <a:prstGeom prst="rect">
            <a:avLst/>
          </a:prstGeom>
          <a:solidFill>
            <a:srgbClr val="14182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4" name="Shape 42"/>
          <p:cNvSpPr/>
          <p:nvPr/>
        </p:nvSpPr>
        <p:spPr>
          <a:xfrm>
            <a:off x="5753100" y="3507730"/>
            <a:ext cx="11391900" cy="9525"/>
          </a:xfrm>
          <a:prstGeom prst="rect">
            <a:avLst/>
          </a:prstGeom>
          <a:solidFill>
            <a:srgbClr val="1E264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5" name="Text 43"/>
          <p:cNvSpPr/>
          <p:nvPr/>
        </p:nvSpPr>
        <p:spPr>
          <a:xfrm>
            <a:off x="5886450" y="3191619"/>
            <a:ext cx="3641658" cy="2780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Argmax por iter</a:t>
            </a:r>
            <a:endParaRPr lang="en-US" sz="1350" dirty="0"/>
          </a:p>
        </p:txBody>
      </p:sp>
      <p:sp>
        <p:nvSpPr>
          <p:cNvPr id="46" name="Text 44"/>
          <p:cNvSpPr/>
          <p:nvPr/>
        </p:nvSpPr>
        <p:spPr>
          <a:xfrm>
            <a:off x="9626465" y="3191619"/>
            <a:ext cx="3476101" cy="2780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34D3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O(log N</a:t>
            </a:r>
            <a:r>
              <a:rPr lang="en-US" sz="1000" baseline="-40000" dirty="0">
                <a:solidFill>
                  <a:srgbClr val="34D3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15</a:t>
            </a:r>
            <a:r>
              <a:rPr lang="en-US" sz="1200" dirty="0">
                <a:solidFill>
                  <a:srgbClr val="34D3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 amort.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13255306" y="3191619"/>
            <a:ext cx="3815798" cy="2780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O(N</a:t>
            </a:r>
            <a:r>
              <a:rPr lang="en-US" sz="1000" baseline="-40000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15</a:t>
            </a:r>
            <a:r>
              <a:rPr lang="en-US" sz="1200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5753100" y="3517255"/>
            <a:ext cx="11391900" cy="381000"/>
          </a:xfrm>
          <a:prstGeom prst="rect">
            <a:avLst/>
          </a:prstGeom>
          <a:solidFill>
            <a:srgbClr val="1A1F2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9" name="Shape 47"/>
          <p:cNvSpPr/>
          <p:nvPr/>
        </p:nvSpPr>
        <p:spPr>
          <a:xfrm>
            <a:off x="5753100" y="3888730"/>
            <a:ext cx="11391900" cy="9525"/>
          </a:xfrm>
          <a:prstGeom prst="rect">
            <a:avLst/>
          </a:prstGeom>
          <a:solidFill>
            <a:srgbClr val="1E264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0" name="Text 48"/>
          <p:cNvSpPr/>
          <p:nvPr/>
        </p:nvSpPr>
        <p:spPr>
          <a:xfrm>
            <a:off x="5886450" y="3602980"/>
            <a:ext cx="3641658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Atualizações/iter</a:t>
            </a:r>
            <a:endParaRPr lang="en-US" sz="1350" dirty="0"/>
          </a:p>
        </p:txBody>
      </p:sp>
      <p:sp>
        <p:nvSpPr>
          <p:cNvPr id="51" name="Text 49"/>
          <p:cNvSpPr/>
          <p:nvPr/>
        </p:nvSpPr>
        <p:spPr>
          <a:xfrm>
            <a:off x="9626465" y="3602980"/>
            <a:ext cx="3476101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O(A)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13255306" y="3602980"/>
            <a:ext cx="3815798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O(A)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5753100" y="3898255"/>
            <a:ext cx="11391900" cy="400050"/>
          </a:xfrm>
          <a:prstGeom prst="rect">
            <a:avLst/>
          </a:prstGeom>
          <a:solidFill>
            <a:srgbClr val="14182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4" name="Shape 52"/>
          <p:cNvSpPr/>
          <p:nvPr/>
        </p:nvSpPr>
        <p:spPr>
          <a:xfrm>
            <a:off x="5753100" y="4288780"/>
            <a:ext cx="11391900" cy="9525"/>
          </a:xfrm>
          <a:prstGeom prst="rect">
            <a:avLst/>
          </a:prstGeom>
          <a:solidFill>
            <a:srgbClr val="1E264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5" name="Text 53"/>
          <p:cNvSpPr/>
          <p:nvPr/>
        </p:nvSpPr>
        <p:spPr>
          <a:xfrm>
            <a:off x="5886450" y="3983980"/>
            <a:ext cx="3641658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Tempo total</a:t>
            </a:r>
            <a:endParaRPr lang="en-US" sz="1350" dirty="0"/>
          </a:p>
        </p:txBody>
      </p:sp>
      <p:sp>
        <p:nvSpPr>
          <p:cNvPr id="56" name="Text 54"/>
          <p:cNvSpPr/>
          <p:nvPr/>
        </p:nvSpPr>
        <p:spPr>
          <a:xfrm>
            <a:off x="9626465" y="3983980"/>
            <a:ext cx="3476101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125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O(K·A·log N</a:t>
            </a:r>
            <a:r>
              <a:rPr lang="en-US" sz="938" baseline="-40000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15</a:t>
            </a:r>
            <a:r>
              <a:rPr lang="en-US" sz="1125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</a:t>
            </a:r>
            <a:endParaRPr lang="en-US" sz="1125" dirty="0"/>
          </a:p>
        </p:txBody>
      </p:sp>
      <p:sp>
        <p:nvSpPr>
          <p:cNvPr id="57" name="Text 55"/>
          <p:cNvSpPr/>
          <p:nvPr/>
        </p:nvSpPr>
        <p:spPr>
          <a:xfrm>
            <a:off x="13255306" y="3983980"/>
            <a:ext cx="3815798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125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O(K·(A + N</a:t>
            </a:r>
            <a:r>
              <a:rPr lang="en-US" sz="938" baseline="-40000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15</a:t>
            </a:r>
            <a:r>
              <a:rPr lang="en-US" sz="1125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))</a:t>
            </a:r>
            <a:endParaRPr lang="en-US" sz="1125" dirty="0"/>
          </a:p>
        </p:txBody>
      </p:sp>
      <p:sp>
        <p:nvSpPr>
          <p:cNvPr id="58" name="Shape 56"/>
          <p:cNvSpPr/>
          <p:nvPr/>
        </p:nvSpPr>
        <p:spPr>
          <a:xfrm>
            <a:off x="5753100" y="4298305"/>
            <a:ext cx="11391900" cy="411361"/>
          </a:xfrm>
          <a:prstGeom prst="rect">
            <a:avLst/>
          </a:prstGeom>
          <a:solidFill>
            <a:srgbClr val="1A1F2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9" name="Shape 57"/>
          <p:cNvSpPr/>
          <p:nvPr/>
        </p:nvSpPr>
        <p:spPr>
          <a:xfrm>
            <a:off x="5753100" y="4700141"/>
            <a:ext cx="11391900" cy="9525"/>
          </a:xfrm>
          <a:prstGeom prst="rect">
            <a:avLst/>
          </a:prstGeom>
          <a:solidFill>
            <a:srgbClr val="1E264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0" name="Text 58"/>
          <p:cNvSpPr/>
          <p:nvPr/>
        </p:nvSpPr>
        <p:spPr>
          <a:xfrm>
            <a:off x="5886450" y="4384030"/>
            <a:ext cx="3641658" cy="2780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Espaço</a:t>
            </a:r>
            <a:endParaRPr lang="en-US" sz="1350" dirty="0"/>
          </a:p>
        </p:txBody>
      </p:sp>
      <p:sp>
        <p:nvSpPr>
          <p:cNvPr id="61" name="Text 59"/>
          <p:cNvSpPr/>
          <p:nvPr/>
        </p:nvSpPr>
        <p:spPr>
          <a:xfrm>
            <a:off x="9626465" y="4384030"/>
            <a:ext cx="3476101" cy="2780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38BD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O(N</a:t>
            </a:r>
            <a:r>
              <a:rPr lang="en-US" sz="1000" baseline="-40000" dirty="0">
                <a:solidFill>
                  <a:srgbClr val="38BD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15 </a:t>
            </a:r>
            <a:r>
              <a:rPr lang="en-US" sz="1200" dirty="0">
                <a:solidFill>
                  <a:srgbClr val="38BD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+ N</a:t>
            </a:r>
            <a:r>
              <a:rPr lang="en-US" sz="1000" baseline="-40000" dirty="0">
                <a:solidFill>
                  <a:srgbClr val="38BD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</a:t>
            </a:r>
            <a:r>
              <a:rPr lang="en-US" sz="1200" dirty="0">
                <a:solidFill>
                  <a:srgbClr val="38BD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</a:t>
            </a:r>
            <a:endParaRPr lang="en-US" sz="1200" dirty="0"/>
          </a:p>
        </p:txBody>
      </p:sp>
      <p:sp>
        <p:nvSpPr>
          <p:cNvPr id="62" name="Text 60"/>
          <p:cNvSpPr/>
          <p:nvPr/>
        </p:nvSpPr>
        <p:spPr>
          <a:xfrm>
            <a:off x="13255306" y="4384030"/>
            <a:ext cx="3815798" cy="2780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38BD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O(N</a:t>
            </a:r>
            <a:r>
              <a:rPr lang="en-US" sz="1000" baseline="-40000" dirty="0">
                <a:solidFill>
                  <a:srgbClr val="38BD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15 </a:t>
            </a:r>
            <a:r>
              <a:rPr lang="en-US" sz="1200" dirty="0">
                <a:solidFill>
                  <a:srgbClr val="38BD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+ N</a:t>
            </a:r>
            <a:r>
              <a:rPr lang="en-US" sz="1000" baseline="-40000" dirty="0">
                <a:solidFill>
                  <a:srgbClr val="38BD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</a:t>
            </a:r>
            <a:r>
              <a:rPr lang="en-US" sz="1200" dirty="0">
                <a:solidFill>
                  <a:srgbClr val="38BD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</a:t>
            </a:r>
            <a:endParaRPr lang="en-US" sz="1200" dirty="0"/>
          </a:p>
        </p:txBody>
      </p:sp>
      <p:sp>
        <p:nvSpPr>
          <p:cNvPr id="63" name="Shape 61"/>
          <p:cNvSpPr/>
          <p:nvPr/>
        </p:nvSpPr>
        <p:spPr>
          <a:xfrm>
            <a:off x="5753100" y="4709666"/>
            <a:ext cx="11391900" cy="406598"/>
          </a:xfrm>
          <a:prstGeom prst="rect">
            <a:avLst/>
          </a:prstGeom>
          <a:solidFill>
            <a:srgbClr val="14182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4" name="Text 62"/>
          <p:cNvSpPr/>
          <p:nvPr/>
        </p:nvSpPr>
        <p:spPr>
          <a:xfrm>
            <a:off x="5886450" y="4795391"/>
            <a:ext cx="3641658" cy="2732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Ω (melhor caso)</a:t>
            </a:r>
            <a:endParaRPr lang="en-US" sz="1350" dirty="0"/>
          </a:p>
        </p:txBody>
      </p:sp>
      <p:sp>
        <p:nvSpPr>
          <p:cNvPr id="65" name="Text 63"/>
          <p:cNvSpPr/>
          <p:nvPr/>
        </p:nvSpPr>
        <p:spPr>
          <a:xfrm>
            <a:off x="9626465" y="4795391"/>
            <a:ext cx="3476101" cy="2732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Ω(N</a:t>
            </a:r>
            <a:r>
              <a:rPr lang="en-US" sz="1000" baseline="-400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15 </a:t>
            </a:r>
            <a:r>
              <a:rPr lang="en-US" sz="12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+ N</a:t>
            </a:r>
            <a:r>
              <a:rPr lang="en-US" sz="1000" baseline="-400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</a:t>
            </a:r>
            <a:r>
              <a:rPr lang="en-US" sz="12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</a:t>
            </a:r>
            <a:endParaRPr lang="en-US" sz="1200" dirty="0"/>
          </a:p>
        </p:txBody>
      </p:sp>
      <p:sp>
        <p:nvSpPr>
          <p:cNvPr id="66" name="Text 64"/>
          <p:cNvSpPr/>
          <p:nvPr/>
        </p:nvSpPr>
        <p:spPr>
          <a:xfrm>
            <a:off x="13255306" y="4795391"/>
            <a:ext cx="3815798" cy="2732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Ω(N</a:t>
            </a:r>
            <a:r>
              <a:rPr lang="en-US" sz="1000" baseline="-400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15 </a:t>
            </a:r>
            <a:r>
              <a:rPr lang="en-US" sz="12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+ N</a:t>
            </a:r>
            <a:r>
              <a:rPr lang="en-US" sz="1000" baseline="-400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</a:t>
            </a:r>
            <a:r>
              <a:rPr lang="en-US" sz="12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</a:t>
            </a:r>
            <a:endParaRPr lang="en-US" sz="1200" dirty="0"/>
          </a:p>
        </p:txBody>
      </p:sp>
      <p:sp>
        <p:nvSpPr>
          <p:cNvPr id="67" name="Text 65"/>
          <p:cNvSpPr/>
          <p:nvPr/>
        </p:nvSpPr>
        <p:spPr>
          <a:xfrm>
            <a:off x="1143000" y="5268664"/>
            <a:ext cx="176022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b="1" kern="0" spc="6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VALORES CONCRETOS DE A = C(15,P)·C(25−P,15−P) POR ITERAÇÃO:</a:t>
            </a:r>
            <a:endParaRPr lang="en-US" sz="1200" dirty="0"/>
          </a:p>
        </p:txBody>
      </p:sp>
      <p:sp>
        <p:nvSpPr>
          <p:cNvPr id="68" name="Shape 66"/>
          <p:cNvSpPr/>
          <p:nvPr/>
        </p:nvSpPr>
        <p:spPr>
          <a:xfrm>
            <a:off x="1143000" y="5535364"/>
            <a:ext cx="16002000" cy="36195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9" name="Shape 67"/>
          <p:cNvSpPr/>
          <p:nvPr/>
        </p:nvSpPr>
        <p:spPr>
          <a:xfrm>
            <a:off x="1143000" y="5878264"/>
            <a:ext cx="16002000" cy="19050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0" name="Text 68"/>
          <p:cNvSpPr/>
          <p:nvPr/>
        </p:nvSpPr>
        <p:spPr>
          <a:xfrm>
            <a:off x="1257300" y="5621089"/>
            <a:ext cx="1231404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125" b="1" dirty="0">
                <a:solidFill>
                  <a:srgbClr val="7DD3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</a:t>
            </a:r>
            <a:endParaRPr lang="en-US" sz="1125" dirty="0"/>
          </a:p>
        </p:txBody>
      </p:sp>
      <p:sp>
        <p:nvSpPr>
          <p:cNvPr id="71" name="Text 69"/>
          <p:cNvSpPr/>
          <p:nvPr/>
        </p:nvSpPr>
        <p:spPr>
          <a:xfrm>
            <a:off x="2679204" y="5621089"/>
            <a:ext cx="214208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125" b="1" dirty="0">
                <a:solidFill>
                  <a:srgbClr val="7DD3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C(15,p)</a:t>
            </a:r>
            <a:endParaRPr lang="en-US" sz="1125" dirty="0"/>
          </a:p>
        </p:txBody>
      </p:sp>
      <p:sp>
        <p:nvSpPr>
          <p:cNvPr id="72" name="Text 70"/>
          <p:cNvSpPr/>
          <p:nvPr/>
        </p:nvSpPr>
        <p:spPr>
          <a:xfrm>
            <a:off x="5026798" y="5621089"/>
            <a:ext cx="3104129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125" b="1" dirty="0">
                <a:solidFill>
                  <a:srgbClr val="7DD3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C(25-p,15-p)</a:t>
            </a:r>
            <a:endParaRPr lang="en-US" sz="1125" dirty="0"/>
          </a:p>
        </p:txBody>
      </p:sp>
      <p:sp>
        <p:nvSpPr>
          <p:cNvPr id="73" name="Text 71"/>
          <p:cNvSpPr/>
          <p:nvPr/>
        </p:nvSpPr>
        <p:spPr>
          <a:xfrm>
            <a:off x="8259245" y="5621089"/>
            <a:ext cx="5754411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125" b="1" dirty="0">
                <a:solidFill>
                  <a:srgbClr val="7DD3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= produto (updates/iter)</a:t>
            </a:r>
            <a:endParaRPr lang="en-US" sz="1125" dirty="0"/>
          </a:p>
        </p:txBody>
      </p:sp>
      <p:sp>
        <p:nvSpPr>
          <p:cNvPr id="74" name="Text 72"/>
          <p:cNvSpPr/>
          <p:nvPr/>
        </p:nvSpPr>
        <p:spPr>
          <a:xfrm>
            <a:off x="14229088" y="5621089"/>
            <a:ext cx="2763512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125" b="1" dirty="0">
                <a:solidFill>
                  <a:srgbClr val="7DD3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 obtido</a:t>
            </a:r>
            <a:endParaRPr lang="en-US" sz="1125" dirty="0"/>
          </a:p>
        </p:txBody>
      </p:sp>
      <p:sp>
        <p:nvSpPr>
          <p:cNvPr id="75" name="Shape 73"/>
          <p:cNvSpPr/>
          <p:nvPr/>
        </p:nvSpPr>
        <p:spPr>
          <a:xfrm>
            <a:off x="1143000" y="5897314"/>
            <a:ext cx="16002000" cy="423863"/>
          </a:xfrm>
          <a:prstGeom prst="rect">
            <a:avLst/>
          </a:prstGeom>
          <a:solidFill>
            <a:srgbClr val="1A1F2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6" name="Shape 74"/>
          <p:cNvSpPr/>
          <p:nvPr/>
        </p:nvSpPr>
        <p:spPr>
          <a:xfrm>
            <a:off x="1143000" y="6311652"/>
            <a:ext cx="16002000" cy="9525"/>
          </a:xfrm>
          <a:prstGeom prst="rect">
            <a:avLst/>
          </a:prstGeom>
          <a:solidFill>
            <a:srgbClr val="1E264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7" name="Text 75"/>
          <p:cNvSpPr/>
          <p:nvPr/>
        </p:nvSpPr>
        <p:spPr>
          <a:xfrm>
            <a:off x="1257300" y="5983039"/>
            <a:ext cx="1231404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425" b="1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14</a:t>
            </a:r>
            <a:endParaRPr lang="en-US" sz="1425" dirty="0"/>
          </a:p>
        </p:txBody>
      </p:sp>
      <p:sp>
        <p:nvSpPr>
          <p:cNvPr id="78" name="Text 76"/>
          <p:cNvSpPr/>
          <p:nvPr/>
        </p:nvSpPr>
        <p:spPr>
          <a:xfrm>
            <a:off x="2679204" y="5983039"/>
            <a:ext cx="2142083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425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15</a:t>
            </a:r>
            <a:endParaRPr lang="en-US" sz="1425" dirty="0"/>
          </a:p>
        </p:txBody>
      </p:sp>
      <p:sp>
        <p:nvSpPr>
          <p:cNvPr id="79" name="Text 77"/>
          <p:cNvSpPr/>
          <p:nvPr/>
        </p:nvSpPr>
        <p:spPr>
          <a:xfrm>
            <a:off x="5026798" y="5983039"/>
            <a:ext cx="3104129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425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11</a:t>
            </a:r>
            <a:endParaRPr lang="en-US" sz="1425" dirty="0"/>
          </a:p>
        </p:txBody>
      </p:sp>
      <p:sp>
        <p:nvSpPr>
          <p:cNvPr id="80" name="Text 78"/>
          <p:cNvSpPr/>
          <p:nvPr/>
        </p:nvSpPr>
        <p:spPr>
          <a:xfrm>
            <a:off x="8259245" y="5983039"/>
            <a:ext cx="5754411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425" b="1" dirty="0">
                <a:solidFill>
                  <a:srgbClr val="38BD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165</a:t>
            </a:r>
            <a:endParaRPr lang="en-US" sz="1425" dirty="0"/>
          </a:p>
        </p:txBody>
      </p:sp>
      <p:sp>
        <p:nvSpPr>
          <p:cNvPr id="81" name="Text 79"/>
          <p:cNvSpPr/>
          <p:nvPr/>
        </p:nvSpPr>
        <p:spPr>
          <a:xfrm>
            <a:off x="14229088" y="5983039"/>
            <a:ext cx="2763512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425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532.555</a:t>
            </a:r>
            <a:endParaRPr lang="en-US" sz="1425" dirty="0"/>
          </a:p>
        </p:txBody>
      </p:sp>
      <p:sp>
        <p:nvSpPr>
          <p:cNvPr id="82" name="Shape 80"/>
          <p:cNvSpPr/>
          <p:nvPr/>
        </p:nvSpPr>
        <p:spPr>
          <a:xfrm>
            <a:off x="1143000" y="6321177"/>
            <a:ext cx="16002000" cy="419100"/>
          </a:xfrm>
          <a:prstGeom prst="rect">
            <a:avLst/>
          </a:prstGeom>
          <a:solidFill>
            <a:srgbClr val="14182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3" name="Shape 81"/>
          <p:cNvSpPr/>
          <p:nvPr/>
        </p:nvSpPr>
        <p:spPr>
          <a:xfrm>
            <a:off x="1143000" y="6730752"/>
            <a:ext cx="16002000" cy="9525"/>
          </a:xfrm>
          <a:prstGeom prst="rect">
            <a:avLst/>
          </a:prstGeom>
          <a:solidFill>
            <a:srgbClr val="1E264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4" name="Text 82"/>
          <p:cNvSpPr/>
          <p:nvPr/>
        </p:nvSpPr>
        <p:spPr>
          <a:xfrm>
            <a:off x="1257300" y="6406902"/>
            <a:ext cx="1231404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425" b="1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13</a:t>
            </a:r>
            <a:endParaRPr lang="en-US" sz="1425" dirty="0"/>
          </a:p>
        </p:txBody>
      </p:sp>
      <p:sp>
        <p:nvSpPr>
          <p:cNvPr id="85" name="Text 83"/>
          <p:cNvSpPr/>
          <p:nvPr/>
        </p:nvSpPr>
        <p:spPr>
          <a:xfrm>
            <a:off x="2679204" y="6406902"/>
            <a:ext cx="2142083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425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105</a:t>
            </a:r>
            <a:endParaRPr lang="en-US" sz="1425" dirty="0"/>
          </a:p>
        </p:txBody>
      </p:sp>
      <p:sp>
        <p:nvSpPr>
          <p:cNvPr id="86" name="Text 84"/>
          <p:cNvSpPr/>
          <p:nvPr/>
        </p:nvSpPr>
        <p:spPr>
          <a:xfrm>
            <a:off x="5026798" y="6406902"/>
            <a:ext cx="3104129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425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66</a:t>
            </a:r>
            <a:endParaRPr lang="en-US" sz="1425" dirty="0"/>
          </a:p>
        </p:txBody>
      </p:sp>
      <p:sp>
        <p:nvSpPr>
          <p:cNvPr id="87" name="Text 85"/>
          <p:cNvSpPr/>
          <p:nvPr/>
        </p:nvSpPr>
        <p:spPr>
          <a:xfrm>
            <a:off x="8259245" y="6406902"/>
            <a:ext cx="575441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425" b="1" dirty="0">
                <a:solidFill>
                  <a:srgbClr val="38BD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6.930</a:t>
            </a:r>
            <a:endParaRPr lang="en-US" sz="1425" dirty="0"/>
          </a:p>
        </p:txBody>
      </p:sp>
      <p:sp>
        <p:nvSpPr>
          <p:cNvPr id="88" name="Text 86"/>
          <p:cNvSpPr/>
          <p:nvPr/>
        </p:nvSpPr>
        <p:spPr>
          <a:xfrm>
            <a:off x="14229088" y="6406902"/>
            <a:ext cx="2763512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425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128.827</a:t>
            </a:r>
            <a:endParaRPr lang="en-US" sz="1425" dirty="0"/>
          </a:p>
        </p:txBody>
      </p:sp>
      <p:sp>
        <p:nvSpPr>
          <p:cNvPr id="89" name="Shape 87"/>
          <p:cNvSpPr/>
          <p:nvPr/>
        </p:nvSpPr>
        <p:spPr>
          <a:xfrm>
            <a:off x="1143000" y="6740277"/>
            <a:ext cx="16002000" cy="419100"/>
          </a:xfrm>
          <a:prstGeom prst="rect">
            <a:avLst/>
          </a:prstGeom>
          <a:solidFill>
            <a:srgbClr val="1A1F2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0" name="Shape 88"/>
          <p:cNvSpPr/>
          <p:nvPr/>
        </p:nvSpPr>
        <p:spPr>
          <a:xfrm>
            <a:off x="1143000" y="7149852"/>
            <a:ext cx="16002000" cy="9525"/>
          </a:xfrm>
          <a:prstGeom prst="rect">
            <a:avLst/>
          </a:prstGeom>
          <a:solidFill>
            <a:srgbClr val="1E264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1" name="Text 89"/>
          <p:cNvSpPr/>
          <p:nvPr/>
        </p:nvSpPr>
        <p:spPr>
          <a:xfrm>
            <a:off x="1257300" y="6826002"/>
            <a:ext cx="1231404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425" b="1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12</a:t>
            </a:r>
            <a:endParaRPr lang="en-US" sz="1425" dirty="0"/>
          </a:p>
        </p:txBody>
      </p:sp>
      <p:sp>
        <p:nvSpPr>
          <p:cNvPr id="92" name="Text 90"/>
          <p:cNvSpPr/>
          <p:nvPr/>
        </p:nvSpPr>
        <p:spPr>
          <a:xfrm>
            <a:off x="2679204" y="6826002"/>
            <a:ext cx="2142083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425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455</a:t>
            </a:r>
            <a:endParaRPr lang="en-US" sz="1425" dirty="0"/>
          </a:p>
        </p:txBody>
      </p:sp>
      <p:sp>
        <p:nvSpPr>
          <p:cNvPr id="93" name="Text 91"/>
          <p:cNvSpPr/>
          <p:nvPr/>
        </p:nvSpPr>
        <p:spPr>
          <a:xfrm>
            <a:off x="5026798" y="6826002"/>
            <a:ext cx="3104129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425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286</a:t>
            </a:r>
            <a:endParaRPr lang="en-US" sz="1425" dirty="0"/>
          </a:p>
        </p:txBody>
      </p:sp>
      <p:sp>
        <p:nvSpPr>
          <p:cNvPr id="94" name="Text 92"/>
          <p:cNvSpPr/>
          <p:nvPr/>
        </p:nvSpPr>
        <p:spPr>
          <a:xfrm>
            <a:off x="8259245" y="6826002"/>
            <a:ext cx="575441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425" b="1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130.130</a:t>
            </a:r>
            <a:endParaRPr lang="en-US" sz="1425" dirty="0"/>
          </a:p>
        </p:txBody>
      </p:sp>
      <p:sp>
        <p:nvSpPr>
          <p:cNvPr id="95" name="Text 93"/>
          <p:cNvSpPr/>
          <p:nvPr/>
        </p:nvSpPr>
        <p:spPr>
          <a:xfrm>
            <a:off x="14229088" y="6826002"/>
            <a:ext cx="2763512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425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38.100</a:t>
            </a:r>
            <a:endParaRPr lang="en-US" sz="1425" dirty="0"/>
          </a:p>
        </p:txBody>
      </p:sp>
      <p:sp>
        <p:nvSpPr>
          <p:cNvPr id="96" name="Shape 94"/>
          <p:cNvSpPr/>
          <p:nvPr/>
        </p:nvSpPr>
        <p:spPr>
          <a:xfrm>
            <a:off x="1143000" y="7159377"/>
            <a:ext cx="16002000" cy="414338"/>
          </a:xfrm>
          <a:prstGeom prst="rect">
            <a:avLst/>
          </a:prstGeom>
          <a:solidFill>
            <a:srgbClr val="14182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7" name="Text 95"/>
          <p:cNvSpPr/>
          <p:nvPr/>
        </p:nvSpPr>
        <p:spPr>
          <a:xfrm>
            <a:off x="1257300" y="7245102"/>
            <a:ext cx="1231404" cy="2809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425" b="1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11</a:t>
            </a:r>
            <a:endParaRPr lang="en-US" sz="1425" dirty="0"/>
          </a:p>
        </p:txBody>
      </p:sp>
      <p:sp>
        <p:nvSpPr>
          <p:cNvPr id="98" name="Text 96"/>
          <p:cNvSpPr/>
          <p:nvPr/>
        </p:nvSpPr>
        <p:spPr>
          <a:xfrm>
            <a:off x="2679204" y="7245102"/>
            <a:ext cx="2142083" cy="2809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425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1.365</a:t>
            </a:r>
            <a:endParaRPr lang="en-US" sz="1425" dirty="0"/>
          </a:p>
        </p:txBody>
      </p:sp>
      <p:sp>
        <p:nvSpPr>
          <p:cNvPr id="99" name="Text 97"/>
          <p:cNvSpPr/>
          <p:nvPr/>
        </p:nvSpPr>
        <p:spPr>
          <a:xfrm>
            <a:off x="5026798" y="7245102"/>
            <a:ext cx="3104129" cy="2809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425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1.001</a:t>
            </a:r>
            <a:endParaRPr lang="en-US" sz="1425" dirty="0"/>
          </a:p>
        </p:txBody>
      </p:sp>
      <p:sp>
        <p:nvSpPr>
          <p:cNvPr id="100" name="Text 98"/>
          <p:cNvSpPr/>
          <p:nvPr/>
        </p:nvSpPr>
        <p:spPr>
          <a:xfrm>
            <a:off x="8259245" y="7245102"/>
            <a:ext cx="5754411" cy="2809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425" b="1" dirty="0">
                <a:solidFill>
                  <a:srgbClr val="FB923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1.366.365</a:t>
            </a:r>
            <a:endParaRPr lang="en-US" sz="1425" dirty="0"/>
          </a:p>
        </p:txBody>
      </p:sp>
      <p:sp>
        <p:nvSpPr>
          <p:cNvPr id="101" name="Text 99"/>
          <p:cNvSpPr/>
          <p:nvPr/>
        </p:nvSpPr>
        <p:spPr>
          <a:xfrm>
            <a:off x="14229088" y="7245102"/>
            <a:ext cx="2763512" cy="2809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425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12.733</a:t>
            </a:r>
            <a:endParaRPr lang="en-US" sz="1425" dirty="0"/>
          </a:p>
        </p:txBody>
      </p:sp>
      <p:sp>
        <p:nvSpPr>
          <p:cNvPr id="102" name="Shape 100"/>
          <p:cNvSpPr/>
          <p:nvPr/>
        </p:nvSpPr>
        <p:spPr>
          <a:xfrm>
            <a:off x="1143000" y="9496425"/>
            <a:ext cx="16002000" cy="9525"/>
          </a:xfrm>
          <a:prstGeom prst="rect">
            <a:avLst/>
          </a:prstGeom>
          <a:solidFill>
            <a:srgbClr val="161C2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3" name="TextBox 102"/>
          <p:cNvSpPr txBox="1"/>
          <p:nvPr/>
        </p:nvSpPr>
        <p:spPr>
          <a:xfrm>
            <a:off x="9893808" y="9665208"/>
            <a:ext cx="128016" cy="164592"/>
          </a:xfrm>
          <a:prstGeom prst="rect">
            <a:avLst/>
          </a:prstGeom>
          <a:noFill/>
        </p:spPr>
        <p:txBody>
          <a:bodyPr wrap="none" lIns="36576" tIns="18288" rIns="36576" bIns="18288" anchor="ctr">
            <a:spAutoFit/>
          </a:bodyPr>
          <a:lstStyle/>
          <a:p>
            <a:pPr algn="ctr"/>
            <a:r>
              <a:rPr sz="800" b="0">
                <a:solidFill>
                  <a:srgbClr val="475569"/>
                </a:solidFill>
                <a:latin typeface="Inter"/>
              </a:rPr>
              <a:t>●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10058400" y="9665208"/>
            <a:ext cx="128016" cy="164592"/>
          </a:xfrm>
          <a:prstGeom prst="rect">
            <a:avLst/>
          </a:prstGeom>
          <a:noFill/>
        </p:spPr>
        <p:txBody>
          <a:bodyPr wrap="none" lIns="36576" tIns="18288" rIns="36576" bIns="18288" anchor="ctr">
            <a:spAutoFit/>
          </a:bodyPr>
          <a:lstStyle/>
          <a:p>
            <a:pPr algn="ctr"/>
            <a:r>
              <a:rPr sz="800" b="0">
                <a:solidFill>
                  <a:srgbClr val="475569"/>
                </a:solidFill>
                <a:latin typeface="Inter"/>
              </a:rPr>
              <a:t>●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0222992" y="9665208"/>
            <a:ext cx="128016" cy="164592"/>
          </a:xfrm>
          <a:prstGeom prst="rect">
            <a:avLst/>
          </a:prstGeom>
          <a:noFill/>
        </p:spPr>
        <p:txBody>
          <a:bodyPr wrap="none" lIns="36576" tIns="18288" rIns="36576" bIns="18288" anchor="ctr">
            <a:spAutoFit/>
          </a:bodyPr>
          <a:lstStyle/>
          <a:p>
            <a:pPr algn="ctr"/>
            <a:r>
              <a:rPr sz="800" b="0">
                <a:solidFill>
                  <a:srgbClr val="475569"/>
                </a:solidFill>
                <a:latin typeface="Inter"/>
              </a:rPr>
              <a:t>●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0387584" y="9665208"/>
            <a:ext cx="128016" cy="164592"/>
          </a:xfrm>
          <a:prstGeom prst="rect">
            <a:avLst/>
          </a:prstGeom>
          <a:noFill/>
        </p:spPr>
        <p:txBody>
          <a:bodyPr wrap="none" lIns="36576" tIns="18288" rIns="36576" bIns="18288" anchor="ctr">
            <a:spAutoFit/>
          </a:bodyPr>
          <a:lstStyle/>
          <a:p>
            <a:pPr algn="ctr"/>
            <a:r>
              <a:rPr sz="800" b="0">
                <a:solidFill>
                  <a:srgbClr val="475569"/>
                </a:solidFill>
                <a:latin typeface="Inter"/>
              </a:rPr>
              <a:t>●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10552176" y="9665208"/>
            <a:ext cx="128016" cy="164592"/>
          </a:xfrm>
          <a:prstGeom prst="rect">
            <a:avLst/>
          </a:prstGeom>
          <a:noFill/>
        </p:spPr>
        <p:txBody>
          <a:bodyPr wrap="none" lIns="36576" tIns="18288" rIns="36576" bIns="18288" anchor="ctr">
            <a:spAutoFit/>
          </a:bodyPr>
          <a:lstStyle/>
          <a:p>
            <a:pPr algn="ctr"/>
            <a:r>
              <a:rPr sz="800" b="0">
                <a:solidFill>
                  <a:srgbClr val="475569"/>
                </a:solidFill>
                <a:latin typeface="Inter"/>
              </a:rPr>
              <a:t>●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10716768" y="9665208"/>
            <a:ext cx="128016" cy="164592"/>
          </a:xfrm>
          <a:prstGeom prst="rect">
            <a:avLst/>
          </a:prstGeom>
          <a:noFill/>
        </p:spPr>
        <p:txBody>
          <a:bodyPr wrap="none" lIns="36576" tIns="18288" rIns="36576" bIns="18288" anchor="ctr">
            <a:spAutoFit/>
          </a:bodyPr>
          <a:lstStyle/>
          <a:p>
            <a:pPr algn="ctr"/>
            <a:r>
              <a:rPr sz="800" b="0">
                <a:solidFill>
                  <a:srgbClr val="38BDF8"/>
                </a:solidFill>
                <a:latin typeface="Inter"/>
              </a:rPr>
              <a:t>●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0881360" y="9665208"/>
            <a:ext cx="128016" cy="164592"/>
          </a:xfrm>
          <a:prstGeom prst="rect">
            <a:avLst/>
          </a:prstGeom>
          <a:noFill/>
        </p:spPr>
        <p:txBody>
          <a:bodyPr wrap="none" lIns="36576" tIns="18288" rIns="36576" bIns="18288" anchor="ctr">
            <a:spAutoFit/>
          </a:bodyPr>
          <a:lstStyle/>
          <a:p>
            <a:pPr algn="ctr"/>
            <a:r>
              <a:rPr sz="800" b="0">
                <a:solidFill>
                  <a:srgbClr val="475569"/>
                </a:solidFill>
                <a:latin typeface="Inter"/>
              </a:rPr>
              <a:t>●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1045952" y="9665208"/>
            <a:ext cx="128016" cy="164592"/>
          </a:xfrm>
          <a:prstGeom prst="rect">
            <a:avLst/>
          </a:prstGeom>
          <a:noFill/>
        </p:spPr>
        <p:txBody>
          <a:bodyPr wrap="none" lIns="36576" tIns="18288" rIns="36576" bIns="18288" anchor="ctr">
            <a:spAutoFit/>
          </a:bodyPr>
          <a:lstStyle/>
          <a:p>
            <a:pPr algn="ctr"/>
            <a:r>
              <a:rPr sz="800" b="0">
                <a:solidFill>
                  <a:srgbClr val="475569"/>
                </a:solidFill>
                <a:latin typeface="Inter"/>
              </a:rPr>
              <a:t>●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11210544" y="9665208"/>
            <a:ext cx="128016" cy="164592"/>
          </a:xfrm>
          <a:prstGeom prst="rect">
            <a:avLst/>
          </a:prstGeom>
          <a:noFill/>
        </p:spPr>
        <p:txBody>
          <a:bodyPr wrap="none" lIns="36576" tIns="18288" rIns="36576" bIns="18288" anchor="ctr">
            <a:spAutoFit/>
          </a:bodyPr>
          <a:lstStyle/>
          <a:p>
            <a:pPr algn="ctr"/>
            <a:r>
              <a:rPr sz="800" b="0">
                <a:solidFill>
                  <a:srgbClr val="475569"/>
                </a:solidFill>
                <a:latin typeface="Inter"/>
              </a:rPr>
              <a:t>●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11375136" y="9665208"/>
            <a:ext cx="128016" cy="164592"/>
          </a:xfrm>
          <a:prstGeom prst="rect">
            <a:avLst/>
          </a:prstGeom>
          <a:noFill/>
        </p:spPr>
        <p:txBody>
          <a:bodyPr wrap="none" lIns="36576" tIns="18288" rIns="36576" bIns="18288" anchor="ctr">
            <a:spAutoFit/>
          </a:bodyPr>
          <a:lstStyle/>
          <a:p>
            <a:pPr algn="ctr"/>
            <a:r>
              <a:rPr sz="800" b="0">
                <a:solidFill>
                  <a:srgbClr val="475569"/>
                </a:solidFill>
                <a:latin typeface="Inter"/>
              </a:rPr>
              <a:t>●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11539728" y="9665208"/>
            <a:ext cx="128016" cy="164592"/>
          </a:xfrm>
          <a:prstGeom prst="rect">
            <a:avLst/>
          </a:prstGeom>
          <a:noFill/>
        </p:spPr>
        <p:txBody>
          <a:bodyPr wrap="none" lIns="36576" tIns="18288" rIns="36576" bIns="18288" anchor="ctr">
            <a:spAutoFit/>
          </a:bodyPr>
          <a:lstStyle/>
          <a:p>
            <a:pPr algn="ctr"/>
            <a:r>
              <a:rPr sz="800" b="0">
                <a:solidFill>
                  <a:srgbClr val="475569"/>
                </a:solidFill>
                <a:latin typeface="Inter"/>
              </a:rPr>
              <a:t>●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16504920" y="9637776"/>
            <a:ext cx="749808" cy="219456"/>
          </a:xfrm>
          <a:prstGeom prst="rect">
            <a:avLst/>
          </a:prstGeom>
          <a:noFill/>
        </p:spPr>
        <p:txBody>
          <a:bodyPr wrap="none" lIns="36576" tIns="18288" rIns="36576" bIns="18288" anchor="ctr">
            <a:spAutoFit/>
          </a:bodyPr>
          <a:lstStyle/>
          <a:p>
            <a:pPr algn="r"/>
            <a:r>
              <a:rPr sz="1050" b="0">
                <a:solidFill>
                  <a:srgbClr val="94A3B8"/>
                </a:solidFill>
                <a:latin typeface="JetBrains Mono"/>
              </a:rPr>
              <a:t>06 de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Shape 0">
            <a:extLst>
              <a:ext uri="{FF2B5EF4-FFF2-40B4-BE49-F238E27FC236}">
                <a16:creationId xmlns:a16="http://schemas.microsoft.com/office/drawing/2014/main" id="{5E7AFBEF-9BE8-1857-37C9-6324C0CF535E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38BDF8">
                  <a:alpha val="18000"/>
                </a:srgbClr>
              </a:gs>
              <a:gs pos="42000">
                <a:srgbClr val="38BDF8">
                  <a:alpha val="0"/>
                </a:srgbClr>
              </a:gs>
            </a:gsLst>
            <a:path path="circle">
              <a:fillToRect l="50000" t="100000" r="50000"/>
            </a:path>
          </a:gradFill>
          <a:ln/>
        </p:spPr>
        <p:txBody>
          <a:bodyPr/>
          <a:lstStyle/>
          <a:p>
            <a:endParaRPr lang="pt-BR"/>
          </a:p>
        </p:txBody>
      </p:sp>
      <p:sp>
        <p:nvSpPr>
          <p:cNvPr id="2" name="Text 0"/>
          <p:cNvSpPr/>
          <p:nvPr/>
        </p:nvSpPr>
        <p:spPr>
          <a:xfrm>
            <a:off x="1143000" y="800100"/>
            <a:ext cx="35063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38BDF8">
                    <a:alpha val="6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07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1607939" y="823913"/>
            <a:ext cx="9525" cy="247650"/>
          </a:xfrm>
          <a:prstGeom prst="rect">
            <a:avLst/>
          </a:prstGeom>
          <a:solidFill>
            <a:srgbClr val="1E264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1807964" y="647700"/>
            <a:ext cx="10117827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900" b="1" kern="0" spc="-78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Gargalos, Escalabilidade e Comparação</a:t>
            </a:r>
            <a:endParaRPr lang="en-US" sz="3900" dirty="0"/>
          </a:p>
        </p:txBody>
      </p:sp>
      <p:sp>
        <p:nvSpPr>
          <p:cNvPr id="5" name="Text 3"/>
          <p:cNvSpPr/>
          <p:nvPr/>
        </p:nvSpPr>
        <p:spPr>
          <a:xfrm>
            <a:off x="1143000" y="1514475"/>
            <a:ext cx="71247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75" b="1" kern="0" spc="64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GARGALOS PRINCIPAIS</a:t>
            </a:r>
            <a:endParaRPr lang="en-US" sz="1275" dirty="0"/>
          </a:p>
        </p:txBody>
      </p:sp>
      <p:sp>
        <p:nvSpPr>
          <p:cNvPr id="6" name="Shape 4"/>
          <p:cNvSpPr/>
          <p:nvPr/>
        </p:nvSpPr>
        <p:spPr>
          <a:xfrm>
            <a:off x="1143000" y="1895475"/>
            <a:ext cx="312539" cy="228600"/>
          </a:xfrm>
          <a:prstGeom prst="roundRect">
            <a:avLst>
              <a:gd name="adj" fmla="val 12500"/>
            </a:avLst>
          </a:prstGeom>
          <a:solidFill>
            <a:srgbClr val="F87171">
              <a:alpha val="1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1219200" y="1924050"/>
            <a:ext cx="236339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F871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G1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569839" y="1876425"/>
            <a:ext cx="6231666" cy="5628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425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Atualizações de </a:t>
            </a:r>
            <a:r>
              <a:rPr lang="en-US" sz="1425" dirty="0">
                <a:solidFill>
                  <a:srgbClr val="A3E63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count[] </a:t>
            </a:r>
            <a:r>
              <a:rPr lang="en-US" sz="1425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cresce como A — para p=11: </a:t>
            </a:r>
            <a:r>
              <a:rPr lang="en-US" sz="1425" b="1" dirty="0">
                <a:solidFill>
                  <a:srgbClr val="FB92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1,37M ops/iter </a:t>
            </a:r>
            <a:r>
              <a:rPr lang="en-US" sz="1425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(dominante)</a:t>
            </a:r>
            <a:endParaRPr lang="en-US" sz="1425" dirty="0"/>
          </a:p>
        </p:txBody>
      </p:sp>
      <p:sp>
        <p:nvSpPr>
          <p:cNvPr id="9" name="Shape 7"/>
          <p:cNvSpPr/>
          <p:nvPr/>
        </p:nvSpPr>
        <p:spPr>
          <a:xfrm>
            <a:off x="1143000" y="2515493"/>
            <a:ext cx="312539" cy="228600"/>
          </a:xfrm>
          <a:prstGeom prst="roundRect">
            <a:avLst>
              <a:gd name="adj" fmla="val 12500"/>
            </a:avLst>
          </a:prstGeom>
          <a:solidFill>
            <a:srgbClr val="F87171">
              <a:alpha val="1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1219200" y="2544068"/>
            <a:ext cx="236339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F871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G2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569839" y="2496443"/>
            <a:ext cx="6231666" cy="5628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425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Heap lazy acumula entradas obsoletas — uso de memória extra proporcional a K</a:t>
            </a:r>
            <a:endParaRPr lang="en-US" sz="1425" dirty="0"/>
          </a:p>
        </p:txBody>
      </p:sp>
      <p:sp>
        <p:nvSpPr>
          <p:cNvPr id="12" name="Shape 10"/>
          <p:cNvSpPr/>
          <p:nvPr/>
        </p:nvSpPr>
        <p:spPr>
          <a:xfrm>
            <a:off x="1143000" y="3135511"/>
            <a:ext cx="312539" cy="228600"/>
          </a:xfrm>
          <a:prstGeom prst="roundRect">
            <a:avLst>
              <a:gd name="adj" fmla="val 12500"/>
            </a:avLst>
          </a:prstGeom>
          <a:solidFill>
            <a:srgbClr val="F87171">
              <a:alpha val="1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1219200" y="3164086"/>
            <a:ext cx="236339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F871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G3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569839" y="3116461"/>
            <a:ext cx="5976586" cy="3403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425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Construção de índices: O(N</a:t>
            </a:r>
            <a:r>
              <a:rPr lang="en-US" sz="1187" baseline="-400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</a:t>
            </a:r>
            <a:r>
              <a:rPr lang="en-US" sz="1425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+N</a:t>
            </a:r>
            <a:r>
              <a:rPr lang="en-US" sz="1187" baseline="-400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</a:t>
            </a:r>
            <a:r>
              <a:rPr lang="en-US" sz="1425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) — executada 1× mas leva 14–30s</a:t>
            </a:r>
            <a:endParaRPr lang="en-US" sz="1425" dirty="0"/>
          </a:p>
        </p:txBody>
      </p:sp>
      <p:sp>
        <p:nvSpPr>
          <p:cNvPr id="15" name="Shape 13"/>
          <p:cNvSpPr/>
          <p:nvPr/>
        </p:nvSpPr>
        <p:spPr>
          <a:xfrm>
            <a:off x="1143000" y="3533031"/>
            <a:ext cx="312539" cy="228600"/>
          </a:xfrm>
          <a:prstGeom prst="roundRect">
            <a:avLst>
              <a:gd name="adj" fmla="val 12500"/>
            </a:avLst>
          </a:prstGeom>
          <a:solidFill>
            <a:srgbClr val="F87171">
              <a:alpha val="1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1219200" y="3561606"/>
            <a:ext cx="236339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F871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G4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569839" y="3513981"/>
            <a:ext cx="6231666" cy="6027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425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NumPy argmax percorre 3,3M elementos/iter — O(N15) por iteração (p=12); p=11 paraleliza a atualização de count[]</a:t>
            </a:r>
            <a:endParaRPr lang="en-US" sz="1425" dirty="0"/>
          </a:p>
        </p:txBody>
      </p:sp>
      <p:sp>
        <p:nvSpPr>
          <p:cNvPr id="18" name="Shape 16"/>
          <p:cNvSpPr/>
          <p:nvPr/>
        </p:nvSpPr>
        <p:spPr>
          <a:xfrm>
            <a:off x="1143000" y="4269135"/>
            <a:ext cx="6477000" cy="1786830"/>
          </a:xfrm>
          <a:prstGeom prst="roundRect">
            <a:avLst>
              <a:gd name="adj" fmla="val 3198"/>
            </a:avLst>
          </a:prstGeom>
          <a:solidFill>
            <a:srgbClr val="34D399">
              <a:alpha val="4000"/>
            </a:srgbClr>
          </a:solidFill>
          <a:ln w="9525">
            <a:solidFill>
              <a:srgbClr val="34D399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1343025" y="4431060"/>
            <a:ext cx="668464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b="1" kern="0" spc="84" dirty="0">
                <a:solidFill>
                  <a:srgbClr val="34D3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ESCALABILIDADE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343025" y="4716810"/>
            <a:ext cx="204639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34D3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1547664" y="4716810"/>
            <a:ext cx="4733211" cy="3009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Memória escala linearmente: O(N</a:t>
            </a:r>
            <a:r>
              <a:rPr lang="en-US" sz="1125" baseline="-400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</a:t>
            </a:r>
            <a:r>
              <a:rPr lang="en-US" sz="13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+N</a:t>
            </a:r>
            <a:r>
              <a:rPr lang="en-US" sz="1125" baseline="-400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</a:t>
            </a:r>
            <a:r>
              <a:rPr lang="en-US" sz="13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) ≈ </a:t>
            </a:r>
            <a:r>
              <a:rPr lang="en-US" sz="1350" b="1" dirty="0">
                <a:solidFill>
                  <a:srgbClr val="34D3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30–60 MB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1343025" y="5055840"/>
            <a:ext cx="216396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F8717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✗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1559421" y="5074890"/>
            <a:ext cx="5819433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Tempo NÃO escala bem — C(n,k) cresce exponencialmente em n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1343025" y="5360640"/>
            <a:ext cx="216396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F8717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✗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1559421" y="5360640"/>
            <a:ext cx="4967808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n=30: C(30,15) = 155M → </a:t>
            </a:r>
            <a:r>
              <a:rPr lang="en-US" sz="1350" b="1" dirty="0">
                <a:solidFill>
                  <a:srgbClr val="F8717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inviável </a:t>
            </a:r>
            <a:r>
              <a:rPr lang="en-US" sz="13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 abordagem atual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1343025" y="5665440"/>
            <a:ext cx="22413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FBB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1567160" y="5665440"/>
            <a:ext cx="4670182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Limite prático: </a:t>
            </a:r>
            <a:r>
              <a:rPr lang="en-US" sz="1350" b="1" dirty="0">
                <a:solidFill>
                  <a:srgbClr val="FBB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 ≤ 26–27 </a:t>
            </a:r>
            <a:r>
              <a:rPr lang="en-US" sz="13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 hardware convencional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7962900" y="1514475"/>
            <a:ext cx="1010031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75" b="1" kern="0" spc="64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COMPARAÇÃO ENTRE ESTRATÉGIAS</a:t>
            </a:r>
            <a:endParaRPr lang="en-US" sz="1275" dirty="0"/>
          </a:p>
        </p:txBody>
      </p:sp>
      <p:sp>
        <p:nvSpPr>
          <p:cNvPr id="29" name="Shape 27"/>
          <p:cNvSpPr/>
          <p:nvPr/>
        </p:nvSpPr>
        <p:spPr>
          <a:xfrm>
            <a:off x="7967662" y="1819275"/>
            <a:ext cx="9172575" cy="40005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0" name="Shape 28"/>
          <p:cNvSpPr/>
          <p:nvPr/>
        </p:nvSpPr>
        <p:spPr>
          <a:xfrm>
            <a:off x="7967662" y="2200275"/>
            <a:ext cx="9172575" cy="19050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1" name="Text 29"/>
          <p:cNvSpPr/>
          <p:nvPr/>
        </p:nvSpPr>
        <p:spPr>
          <a:xfrm>
            <a:off x="8101013" y="1924050"/>
            <a:ext cx="243049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7DD3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Abordagem</a:t>
            </a:r>
            <a:endParaRPr lang="en-US" sz="1125" dirty="0"/>
          </a:p>
        </p:txBody>
      </p:sp>
      <p:sp>
        <p:nvSpPr>
          <p:cNvPr id="32" name="Text 30"/>
          <p:cNvSpPr/>
          <p:nvPr/>
        </p:nvSpPr>
        <p:spPr>
          <a:xfrm>
            <a:off x="10681543" y="1924050"/>
            <a:ext cx="188178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125" b="1" dirty="0">
                <a:solidFill>
                  <a:srgbClr val="7DD3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Tempo</a:t>
            </a:r>
            <a:endParaRPr lang="en-US" sz="1125" dirty="0"/>
          </a:p>
        </p:txBody>
      </p:sp>
      <p:sp>
        <p:nvSpPr>
          <p:cNvPr id="33" name="Text 31"/>
          <p:cNvSpPr/>
          <p:nvPr/>
        </p:nvSpPr>
        <p:spPr>
          <a:xfrm>
            <a:off x="12753826" y="1924050"/>
            <a:ext cx="1243608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125" b="1" dirty="0">
                <a:solidFill>
                  <a:srgbClr val="7DD3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Espaço</a:t>
            </a:r>
            <a:endParaRPr lang="en-US" sz="1125" dirty="0"/>
          </a:p>
        </p:txBody>
      </p:sp>
      <p:sp>
        <p:nvSpPr>
          <p:cNvPr id="34" name="Text 32"/>
          <p:cNvSpPr/>
          <p:nvPr/>
        </p:nvSpPr>
        <p:spPr>
          <a:xfrm>
            <a:off x="14187934" y="1924050"/>
            <a:ext cx="901154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125" b="1" dirty="0">
                <a:solidFill>
                  <a:srgbClr val="7DD3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Ótimo?</a:t>
            </a:r>
            <a:endParaRPr lang="en-US" sz="1125" dirty="0"/>
          </a:p>
        </p:txBody>
      </p:sp>
      <p:sp>
        <p:nvSpPr>
          <p:cNvPr id="35" name="Text 33"/>
          <p:cNvSpPr/>
          <p:nvPr/>
        </p:nvSpPr>
        <p:spPr>
          <a:xfrm>
            <a:off x="15279588" y="1924050"/>
            <a:ext cx="1765399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125" b="1" dirty="0">
                <a:solidFill>
                  <a:srgbClr val="7DD3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Gap</a:t>
            </a:r>
            <a:endParaRPr lang="en-US" sz="1125" dirty="0"/>
          </a:p>
        </p:txBody>
      </p:sp>
      <p:sp>
        <p:nvSpPr>
          <p:cNvPr id="36" name="Shape 34"/>
          <p:cNvSpPr/>
          <p:nvPr/>
        </p:nvSpPr>
        <p:spPr>
          <a:xfrm>
            <a:off x="7967662" y="2219325"/>
            <a:ext cx="9172575" cy="500063"/>
          </a:xfrm>
          <a:prstGeom prst="rect">
            <a:avLst/>
          </a:prstGeom>
          <a:solidFill>
            <a:srgbClr val="1A1F2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7" name="Shape 35"/>
          <p:cNvSpPr/>
          <p:nvPr/>
        </p:nvSpPr>
        <p:spPr>
          <a:xfrm>
            <a:off x="7967662" y="2709863"/>
            <a:ext cx="9172575" cy="9525"/>
          </a:xfrm>
          <a:prstGeom prst="rect">
            <a:avLst/>
          </a:prstGeom>
          <a:solidFill>
            <a:srgbClr val="1E264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8" name="Text 36"/>
          <p:cNvSpPr/>
          <p:nvPr/>
        </p:nvSpPr>
        <p:spPr>
          <a:xfrm>
            <a:off x="8101013" y="2333625"/>
            <a:ext cx="2430490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425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Força bruta</a:t>
            </a:r>
            <a:endParaRPr lang="en-US" sz="1425" dirty="0"/>
          </a:p>
        </p:txBody>
      </p:sp>
      <p:sp>
        <p:nvSpPr>
          <p:cNvPr id="39" name="Text 37"/>
          <p:cNvSpPr/>
          <p:nvPr/>
        </p:nvSpPr>
        <p:spPr>
          <a:xfrm>
            <a:off x="10681543" y="2333625"/>
            <a:ext cx="1881783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F871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Ω(2</a:t>
            </a:r>
            <a:r>
              <a:rPr lang="en-US" sz="1000" baseline="30000" dirty="0">
                <a:solidFill>
                  <a:srgbClr val="F871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N15</a:t>
            </a:r>
            <a:r>
              <a:rPr lang="en-US" sz="1200" dirty="0">
                <a:solidFill>
                  <a:srgbClr val="F871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12753826" y="2333625"/>
            <a:ext cx="1243608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O(N</a:t>
            </a:r>
            <a:r>
              <a:rPr lang="en-US" sz="1000" baseline="-400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15</a:t>
            </a:r>
            <a:r>
              <a:rPr lang="en-US" sz="12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14187934" y="2333625"/>
            <a:ext cx="901154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4D3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15279588" y="2333625"/>
            <a:ext cx="1765399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425" dirty="0">
                <a:solidFill>
                  <a:srgbClr val="34D3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1,00×</a:t>
            </a:r>
            <a:endParaRPr lang="en-US" sz="1425" dirty="0"/>
          </a:p>
        </p:txBody>
      </p:sp>
      <p:sp>
        <p:nvSpPr>
          <p:cNvPr id="43" name="Shape 41"/>
          <p:cNvSpPr/>
          <p:nvPr/>
        </p:nvSpPr>
        <p:spPr>
          <a:xfrm>
            <a:off x="7967662" y="2719388"/>
            <a:ext cx="9172575" cy="495300"/>
          </a:xfrm>
          <a:prstGeom prst="rect">
            <a:avLst/>
          </a:prstGeom>
          <a:solidFill>
            <a:srgbClr val="14182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4" name="Shape 42"/>
          <p:cNvSpPr/>
          <p:nvPr/>
        </p:nvSpPr>
        <p:spPr>
          <a:xfrm>
            <a:off x="7967662" y="3205163"/>
            <a:ext cx="9172575" cy="9525"/>
          </a:xfrm>
          <a:prstGeom prst="rect">
            <a:avLst/>
          </a:prstGeom>
          <a:solidFill>
            <a:srgbClr val="1E264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5" name="Text 43"/>
          <p:cNvSpPr/>
          <p:nvPr/>
        </p:nvSpPr>
        <p:spPr>
          <a:xfrm>
            <a:off x="8101013" y="2833688"/>
            <a:ext cx="243049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425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ILP direto</a:t>
            </a:r>
            <a:endParaRPr lang="en-US" sz="1425" dirty="0"/>
          </a:p>
        </p:txBody>
      </p:sp>
      <p:sp>
        <p:nvSpPr>
          <p:cNvPr id="46" name="Text 44"/>
          <p:cNvSpPr/>
          <p:nvPr/>
        </p:nvSpPr>
        <p:spPr>
          <a:xfrm>
            <a:off x="10681543" y="2833688"/>
            <a:ext cx="188178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F871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NP (exp.)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12753826" y="2833688"/>
            <a:ext cx="124360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125" dirty="0">
                <a:solidFill>
                  <a:srgbClr val="F871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O(N</a:t>
            </a:r>
            <a:r>
              <a:rPr lang="en-US" sz="938" baseline="-40000" dirty="0">
                <a:solidFill>
                  <a:srgbClr val="F871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15</a:t>
            </a:r>
            <a:r>
              <a:rPr lang="en-US" sz="1125" dirty="0">
                <a:solidFill>
                  <a:srgbClr val="F871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·N</a:t>
            </a:r>
            <a:r>
              <a:rPr lang="en-US" sz="938" baseline="-40000" dirty="0">
                <a:solidFill>
                  <a:srgbClr val="F871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</a:t>
            </a:r>
            <a:r>
              <a:rPr lang="en-US" sz="1125" dirty="0">
                <a:solidFill>
                  <a:srgbClr val="F871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</a:t>
            </a:r>
            <a:endParaRPr lang="en-US" sz="1125" dirty="0"/>
          </a:p>
        </p:txBody>
      </p:sp>
      <p:sp>
        <p:nvSpPr>
          <p:cNvPr id="48" name="Text 46"/>
          <p:cNvSpPr/>
          <p:nvPr/>
        </p:nvSpPr>
        <p:spPr>
          <a:xfrm>
            <a:off x="14187934" y="2833688"/>
            <a:ext cx="90115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4D3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500" dirty="0"/>
          </a:p>
        </p:txBody>
      </p:sp>
      <p:sp>
        <p:nvSpPr>
          <p:cNvPr id="49" name="Text 47"/>
          <p:cNvSpPr/>
          <p:nvPr/>
        </p:nvSpPr>
        <p:spPr>
          <a:xfrm>
            <a:off x="15279588" y="2833688"/>
            <a:ext cx="176539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425" dirty="0">
                <a:solidFill>
                  <a:srgbClr val="34D3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1,00×</a:t>
            </a:r>
            <a:endParaRPr lang="en-US" sz="1425" dirty="0"/>
          </a:p>
        </p:txBody>
      </p:sp>
      <p:sp>
        <p:nvSpPr>
          <p:cNvPr id="50" name="Shape 48"/>
          <p:cNvSpPr/>
          <p:nvPr/>
        </p:nvSpPr>
        <p:spPr>
          <a:xfrm>
            <a:off x="7967662" y="3214688"/>
            <a:ext cx="9172575" cy="481012"/>
          </a:xfrm>
          <a:prstGeom prst="rect">
            <a:avLst/>
          </a:prstGeom>
          <a:solidFill>
            <a:srgbClr val="38BDF8">
              <a:alpha val="5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1" name="Shape 49"/>
          <p:cNvSpPr/>
          <p:nvPr/>
        </p:nvSpPr>
        <p:spPr>
          <a:xfrm>
            <a:off x="7967662" y="3214688"/>
            <a:ext cx="9525" cy="481012"/>
          </a:xfrm>
          <a:prstGeom prst="rect">
            <a:avLst/>
          </a:prstGeom>
          <a:solidFill>
            <a:srgbClr val="38BDF8">
              <a:alpha val="12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2" name="Shape 50"/>
          <p:cNvSpPr/>
          <p:nvPr/>
        </p:nvSpPr>
        <p:spPr>
          <a:xfrm>
            <a:off x="17130713" y="3214688"/>
            <a:ext cx="9525" cy="481012"/>
          </a:xfrm>
          <a:prstGeom prst="rect">
            <a:avLst/>
          </a:prstGeom>
          <a:solidFill>
            <a:srgbClr val="38BDF8">
              <a:alpha val="12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3" name="Text 51"/>
          <p:cNvSpPr/>
          <p:nvPr/>
        </p:nvSpPr>
        <p:spPr>
          <a:xfrm>
            <a:off x="8101013" y="3328988"/>
            <a:ext cx="2430490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425" b="1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Greedy heap ★</a:t>
            </a:r>
            <a:endParaRPr lang="en-US" sz="1425" dirty="0"/>
          </a:p>
        </p:txBody>
      </p:sp>
      <p:sp>
        <p:nvSpPr>
          <p:cNvPr id="54" name="Text 52"/>
          <p:cNvSpPr/>
          <p:nvPr/>
        </p:nvSpPr>
        <p:spPr>
          <a:xfrm>
            <a:off x="10681543" y="3328988"/>
            <a:ext cx="1881783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125" dirty="0">
                <a:solidFill>
                  <a:srgbClr val="34D3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O(K·A·log N</a:t>
            </a:r>
            <a:r>
              <a:rPr lang="en-US" sz="938" baseline="-40000" dirty="0">
                <a:solidFill>
                  <a:srgbClr val="34D3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15</a:t>
            </a:r>
            <a:r>
              <a:rPr lang="en-US" sz="1125" dirty="0">
                <a:solidFill>
                  <a:srgbClr val="34D3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</a:t>
            </a:r>
            <a:endParaRPr lang="en-US" sz="1125" dirty="0"/>
          </a:p>
        </p:txBody>
      </p:sp>
      <p:sp>
        <p:nvSpPr>
          <p:cNvPr id="55" name="Text 53"/>
          <p:cNvSpPr/>
          <p:nvPr/>
        </p:nvSpPr>
        <p:spPr>
          <a:xfrm>
            <a:off x="12753826" y="3328988"/>
            <a:ext cx="1243608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125" dirty="0">
                <a:solidFill>
                  <a:srgbClr val="34D3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O(N</a:t>
            </a:r>
            <a:r>
              <a:rPr lang="en-US" sz="938" baseline="-40000" dirty="0">
                <a:solidFill>
                  <a:srgbClr val="34D3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15</a:t>
            </a:r>
            <a:r>
              <a:rPr lang="en-US" sz="1125" dirty="0">
                <a:solidFill>
                  <a:srgbClr val="34D3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+N</a:t>
            </a:r>
            <a:r>
              <a:rPr lang="en-US" sz="938" baseline="-40000" dirty="0">
                <a:solidFill>
                  <a:srgbClr val="34D3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</a:t>
            </a:r>
            <a:r>
              <a:rPr lang="en-US" sz="1125" dirty="0">
                <a:solidFill>
                  <a:srgbClr val="34D3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</a:t>
            </a:r>
            <a:endParaRPr lang="en-US" sz="1125" dirty="0"/>
          </a:p>
        </p:txBody>
      </p:sp>
      <p:sp>
        <p:nvSpPr>
          <p:cNvPr id="56" name="Text 54"/>
          <p:cNvSpPr/>
          <p:nvPr/>
        </p:nvSpPr>
        <p:spPr>
          <a:xfrm>
            <a:off x="14187934" y="3328988"/>
            <a:ext cx="901154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275" b="1" dirty="0">
                <a:solidFill>
                  <a:srgbClr val="FBB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ln n</a:t>
            </a:r>
            <a:endParaRPr lang="en-US" sz="1275" dirty="0"/>
          </a:p>
        </p:txBody>
      </p:sp>
      <p:sp>
        <p:nvSpPr>
          <p:cNvPr id="57" name="Text 55"/>
          <p:cNvSpPr/>
          <p:nvPr/>
        </p:nvSpPr>
        <p:spPr>
          <a:xfrm>
            <a:off x="15279588" y="3328988"/>
            <a:ext cx="1765399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425" b="1" dirty="0">
                <a:solidFill>
                  <a:srgbClr val="34D3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1,79–2,19×</a:t>
            </a:r>
            <a:endParaRPr lang="en-US" sz="1425" dirty="0"/>
          </a:p>
        </p:txBody>
      </p:sp>
      <p:sp>
        <p:nvSpPr>
          <p:cNvPr id="58" name="Shape 56"/>
          <p:cNvSpPr/>
          <p:nvPr/>
        </p:nvSpPr>
        <p:spPr>
          <a:xfrm>
            <a:off x="7967662" y="3695700"/>
            <a:ext cx="9172575" cy="476250"/>
          </a:xfrm>
          <a:prstGeom prst="rect">
            <a:avLst/>
          </a:prstGeom>
          <a:solidFill>
            <a:srgbClr val="38BDF8">
              <a:alpha val="3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9" name="Shape 57"/>
          <p:cNvSpPr/>
          <p:nvPr/>
        </p:nvSpPr>
        <p:spPr>
          <a:xfrm>
            <a:off x="7967662" y="3695700"/>
            <a:ext cx="9525" cy="476250"/>
          </a:xfrm>
          <a:prstGeom prst="rect">
            <a:avLst/>
          </a:prstGeom>
          <a:solidFill>
            <a:srgbClr val="38BDF8">
              <a:alpha val="12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0" name="Shape 58"/>
          <p:cNvSpPr/>
          <p:nvPr/>
        </p:nvSpPr>
        <p:spPr>
          <a:xfrm>
            <a:off x="17130713" y="3695700"/>
            <a:ext cx="9525" cy="476250"/>
          </a:xfrm>
          <a:prstGeom prst="rect">
            <a:avLst/>
          </a:prstGeom>
          <a:solidFill>
            <a:srgbClr val="38BDF8">
              <a:alpha val="12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1" name="Text 59"/>
          <p:cNvSpPr/>
          <p:nvPr/>
        </p:nvSpPr>
        <p:spPr>
          <a:xfrm>
            <a:off x="8101013" y="3810000"/>
            <a:ext cx="243049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425" b="1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Greedy argmax/paralelo ★</a:t>
            </a:r>
            <a:endParaRPr lang="en-US" sz="1425" dirty="0"/>
          </a:p>
        </p:txBody>
      </p:sp>
      <p:sp>
        <p:nvSpPr>
          <p:cNvPr id="62" name="Text 60"/>
          <p:cNvSpPr/>
          <p:nvPr/>
        </p:nvSpPr>
        <p:spPr>
          <a:xfrm>
            <a:off x="10681543" y="3810000"/>
            <a:ext cx="1881783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125" dirty="0">
                <a:solidFill>
                  <a:srgbClr val="34D3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O(K·(A+N</a:t>
            </a:r>
            <a:r>
              <a:rPr lang="en-US" sz="938" baseline="-40000" dirty="0">
                <a:solidFill>
                  <a:srgbClr val="34D3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15</a:t>
            </a:r>
            <a:r>
              <a:rPr lang="en-US" sz="1125" dirty="0">
                <a:solidFill>
                  <a:srgbClr val="34D3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))</a:t>
            </a:r>
            <a:endParaRPr lang="en-US" sz="1125" dirty="0"/>
          </a:p>
        </p:txBody>
      </p:sp>
      <p:sp>
        <p:nvSpPr>
          <p:cNvPr id="63" name="Text 61"/>
          <p:cNvSpPr/>
          <p:nvPr/>
        </p:nvSpPr>
        <p:spPr>
          <a:xfrm>
            <a:off x="12753826" y="3810000"/>
            <a:ext cx="124360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125" dirty="0">
                <a:solidFill>
                  <a:srgbClr val="34D3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O(N</a:t>
            </a:r>
            <a:r>
              <a:rPr lang="en-US" sz="938" baseline="-40000" dirty="0">
                <a:solidFill>
                  <a:srgbClr val="34D3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15</a:t>
            </a:r>
            <a:r>
              <a:rPr lang="en-US" sz="1125" dirty="0">
                <a:solidFill>
                  <a:srgbClr val="34D3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+N</a:t>
            </a:r>
            <a:r>
              <a:rPr lang="en-US" sz="938" baseline="-40000" dirty="0">
                <a:solidFill>
                  <a:srgbClr val="34D3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</a:t>
            </a:r>
            <a:r>
              <a:rPr lang="en-US" sz="1125" dirty="0">
                <a:solidFill>
                  <a:srgbClr val="34D3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</a:t>
            </a:r>
            <a:endParaRPr lang="en-US" sz="1125" dirty="0"/>
          </a:p>
        </p:txBody>
      </p:sp>
      <p:sp>
        <p:nvSpPr>
          <p:cNvPr id="64" name="Text 62"/>
          <p:cNvSpPr/>
          <p:nvPr/>
        </p:nvSpPr>
        <p:spPr>
          <a:xfrm>
            <a:off x="14187934" y="3810000"/>
            <a:ext cx="901154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275" b="1" dirty="0">
                <a:solidFill>
                  <a:srgbClr val="FBB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ln n</a:t>
            </a:r>
            <a:endParaRPr lang="en-US" sz="1275" dirty="0"/>
          </a:p>
        </p:txBody>
      </p:sp>
      <p:sp>
        <p:nvSpPr>
          <p:cNvPr id="65" name="Text 63"/>
          <p:cNvSpPr/>
          <p:nvPr/>
        </p:nvSpPr>
        <p:spPr>
          <a:xfrm>
            <a:off x="15279588" y="3810000"/>
            <a:ext cx="1765399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425" b="1" dirty="0">
                <a:solidFill>
                  <a:srgbClr val="A3E63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2,89–3,78×</a:t>
            </a:r>
            <a:endParaRPr lang="en-US" sz="1425" dirty="0"/>
          </a:p>
        </p:txBody>
      </p:sp>
      <p:sp>
        <p:nvSpPr>
          <p:cNvPr id="66" name="Shape 64"/>
          <p:cNvSpPr/>
          <p:nvPr/>
        </p:nvSpPr>
        <p:spPr>
          <a:xfrm>
            <a:off x="7967662" y="4171950"/>
            <a:ext cx="9172575" cy="447675"/>
          </a:xfrm>
          <a:prstGeom prst="rect">
            <a:avLst/>
          </a:prstGeom>
          <a:solidFill>
            <a:srgbClr val="14182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7" name="Text 65"/>
          <p:cNvSpPr/>
          <p:nvPr/>
        </p:nvSpPr>
        <p:spPr>
          <a:xfrm>
            <a:off x="8101013" y="4286250"/>
            <a:ext cx="243049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425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Randômico</a:t>
            </a:r>
            <a:endParaRPr lang="en-US" sz="1425" dirty="0"/>
          </a:p>
        </p:txBody>
      </p:sp>
      <p:sp>
        <p:nvSpPr>
          <p:cNvPr id="68" name="Text 66"/>
          <p:cNvSpPr/>
          <p:nvPr/>
        </p:nvSpPr>
        <p:spPr>
          <a:xfrm>
            <a:off x="10681543" y="4286250"/>
            <a:ext cx="1881783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125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O(T·N</a:t>
            </a:r>
            <a:r>
              <a:rPr lang="en-US" sz="938" baseline="-400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15</a:t>
            </a:r>
            <a:r>
              <a:rPr lang="en-US" sz="1125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·N</a:t>
            </a:r>
            <a:r>
              <a:rPr lang="en-US" sz="938" baseline="-400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</a:t>
            </a:r>
            <a:r>
              <a:rPr lang="en-US" sz="1125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</a:t>
            </a:r>
            <a:endParaRPr lang="en-US" sz="1125" dirty="0"/>
          </a:p>
        </p:txBody>
      </p:sp>
      <p:sp>
        <p:nvSpPr>
          <p:cNvPr id="69" name="Text 67"/>
          <p:cNvSpPr/>
          <p:nvPr/>
        </p:nvSpPr>
        <p:spPr>
          <a:xfrm>
            <a:off x="12753826" y="4286250"/>
            <a:ext cx="1243608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125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O(N</a:t>
            </a:r>
            <a:r>
              <a:rPr lang="en-US" sz="938" baseline="-400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15</a:t>
            </a:r>
            <a:r>
              <a:rPr lang="en-US" sz="1125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+N</a:t>
            </a:r>
            <a:r>
              <a:rPr lang="en-US" sz="938" baseline="-400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</a:t>
            </a:r>
            <a:r>
              <a:rPr lang="en-US" sz="1125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</a:t>
            </a:r>
            <a:endParaRPr lang="en-US" sz="1125" dirty="0"/>
          </a:p>
        </p:txBody>
      </p:sp>
      <p:sp>
        <p:nvSpPr>
          <p:cNvPr id="70" name="Text 68"/>
          <p:cNvSpPr/>
          <p:nvPr/>
        </p:nvSpPr>
        <p:spPr>
          <a:xfrm>
            <a:off x="14187934" y="4286250"/>
            <a:ext cx="901154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275" b="1" dirty="0">
                <a:solidFill>
                  <a:srgbClr val="F8717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</a:t>
            </a:r>
            <a:endParaRPr lang="en-US" sz="1275" dirty="0"/>
          </a:p>
        </p:txBody>
      </p:sp>
      <p:sp>
        <p:nvSpPr>
          <p:cNvPr id="71" name="Text 69"/>
          <p:cNvSpPr/>
          <p:nvPr/>
        </p:nvSpPr>
        <p:spPr>
          <a:xfrm>
            <a:off x="15279588" y="4286250"/>
            <a:ext cx="1765399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425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</a:t>
            </a:r>
            <a:endParaRPr lang="en-US" sz="1425" dirty="0"/>
          </a:p>
        </p:txBody>
      </p:sp>
      <p:sp>
        <p:nvSpPr>
          <p:cNvPr id="72" name="Shape 70"/>
          <p:cNvSpPr/>
          <p:nvPr/>
        </p:nvSpPr>
        <p:spPr>
          <a:xfrm>
            <a:off x="1143000" y="9496425"/>
            <a:ext cx="16002000" cy="9525"/>
          </a:xfrm>
          <a:prstGeom prst="rect">
            <a:avLst/>
          </a:prstGeom>
          <a:solidFill>
            <a:srgbClr val="161C2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6" name="TextBox 85"/>
          <p:cNvSpPr txBox="1"/>
          <p:nvPr/>
        </p:nvSpPr>
        <p:spPr>
          <a:xfrm>
            <a:off x="9893808" y="9665208"/>
            <a:ext cx="128016" cy="164592"/>
          </a:xfrm>
          <a:prstGeom prst="rect">
            <a:avLst/>
          </a:prstGeom>
          <a:noFill/>
        </p:spPr>
        <p:txBody>
          <a:bodyPr wrap="none" lIns="36576" tIns="18288" rIns="36576" bIns="18288" anchor="ctr">
            <a:spAutoFit/>
          </a:bodyPr>
          <a:lstStyle/>
          <a:p>
            <a:pPr algn="ctr"/>
            <a:r>
              <a:rPr sz="800" b="0">
                <a:solidFill>
                  <a:srgbClr val="475569"/>
                </a:solidFill>
                <a:latin typeface="Inter"/>
              </a:rPr>
              <a:t>●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0058400" y="9665208"/>
            <a:ext cx="128016" cy="164592"/>
          </a:xfrm>
          <a:prstGeom prst="rect">
            <a:avLst/>
          </a:prstGeom>
          <a:noFill/>
        </p:spPr>
        <p:txBody>
          <a:bodyPr wrap="none" lIns="36576" tIns="18288" rIns="36576" bIns="18288" anchor="ctr">
            <a:spAutoFit/>
          </a:bodyPr>
          <a:lstStyle/>
          <a:p>
            <a:pPr algn="ctr"/>
            <a:r>
              <a:rPr sz="800" b="0">
                <a:solidFill>
                  <a:srgbClr val="475569"/>
                </a:solidFill>
                <a:latin typeface="Inter"/>
              </a:rPr>
              <a:t>●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0222992" y="9665208"/>
            <a:ext cx="128016" cy="164592"/>
          </a:xfrm>
          <a:prstGeom prst="rect">
            <a:avLst/>
          </a:prstGeom>
          <a:noFill/>
        </p:spPr>
        <p:txBody>
          <a:bodyPr wrap="none" lIns="36576" tIns="18288" rIns="36576" bIns="18288" anchor="ctr">
            <a:spAutoFit/>
          </a:bodyPr>
          <a:lstStyle/>
          <a:p>
            <a:pPr algn="ctr"/>
            <a:r>
              <a:rPr sz="800" b="0">
                <a:solidFill>
                  <a:srgbClr val="475569"/>
                </a:solidFill>
                <a:latin typeface="Inter"/>
              </a:rPr>
              <a:t>●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387584" y="9665208"/>
            <a:ext cx="128016" cy="164592"/>
          </a:xfrm>
          <a:prstGeom prst="rect">
            <a:avLst/>
          </a:prstGeom>
          <a:noFill/>
        </p:spPr>
        <p:txBody>
          <a:bodyPr wrap="none" lIns="36576" tIns="18288" rIns="36576" bIns="18288" anchor="ctr">
            <a:spAutoFit/>
          </a:bodyPr>
          <a:lstStyle/>
          <a:p>
            <a:pPr algn="ctr"/>
            <a:r>
              <a:rPr sz="800" b="0">
                <a:solidFill>
                  <a:srgbClr val="475569"/>
                </a:solidFill>
                <a:latin typeface="Inter"/>
              </a:rPr>
              <a:t>●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0552176" y="9665208"/>
            <a:ext cx="128016" cy="164592"/>
          </a:xfrm>
          <a:prstGeom prst="rect">
            <a:avLst/>
          </a:prstGeom>
          <a:noFill/>
        </p:spPr>
        <p:txBody>
          <a:bodyPr wrap="none" lIns="36576" tIns="18288" rIns="36576" bIns="18288" anchor="ctr">
            <a:spAutoFit/>
          </a:bodyPr>
          <a:lstStyle/>
          <a:p>
            <a:pPr algn="ctr"/>
            <a:r>
              <a:rPr sz="800" b="0">
                <a:solidFill>
                  <a:srgbClr val="475569"/>
                </a:solidFill>
                <a:latin typeface="Inter"/>
              </a:rPr>
              <a:t>●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0716768" y="9665208"/>
            <a:ext cx="128016" cy="164592"/>
          </a:xfrm>
          <a:prstGeom prst="rect">
            <a:avLst/>
          </a:prstGeom>
          <a:noFill/>
        </p:spPr>
        <p:txBody>
          <a:bodyPr wrap="none" lIns="36576" tIns="18288" rIns="36576" bIns="18288" anchor="ctr">
            <a:spAutoFit/>
          </a:bodyPr>
          <a:lstStyle/>
          <a:p>
            <a:pPr algn="ctr"/>
            <a:r>
              <a:rPr sz="800" b="0">
                <a:solidFill>
                  <a:srgbClr val="475569"/>
                </a:solidFill>
                <a:latin typeface="Inter"/>
              </a:rPr>
              <a:t>●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0881360" y="9665208"/>
            <a:ext cx="128016" cy="164592"/>
          </a:xfrm>
          <a:prstGeom prst="rect">
            <a:avLst/>
          </a:prstGeom>
          <a:noFill/>
        </p:spPr>
        <p:txBody>
          <a:bodyPr wrap="none" lIns="36576" tIns="18288" rIns="36576" bIns="18288" anchor="ctr">
            <a:spAutoFit/>
          </a:bodyPr>
          <a:lstStyle/>
          <a:p>
            <a:pPr algn="ctr"/>
            <a:r>
              <a:rPr sz="800" b="0">
                <a:solidFill>
                  <a:srgbClr val="38BDF8"/>
                </a:solidFill>
                <a:latin typeface="Inter"/>
              </a:rPr>
              <a:t>●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1045952" y="9665208"/>
            <a:ext cx="128016" cy="164592"/>
          </a:xfrm>
          <a:prstGeom prst="rect">
            <a:avLst/>
          </a:prstGeom>
          <a:noFill/>
        </p:spPr>
        <p:txBody>
          <a:bodyPr wrap="none" lIns="36576" tIns="18288" rIns="36576" bIns="18288" anchor="ctr">
            <a:spAutoFit/>
          </a:bodyPr>
          <a:lstStyle/>
          <a:p>
            <a:pPr algn="ctr"/>
            <a:r>
              <a:rPr sz="800" b="0">
                <a:solidFill>
                  <a:srgbClr val="475569"/>
                </a:solidFill>
                <a:latin typeface="Inter"/>
              </a:rPr>
              <a:t>●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1210544" y="9665208"/>
            <a:ext cx="128016" cy="164592"/>
          </a:xfrm>
          <a:prstGeom prst="rect">
            <a:avLst/>
          </a:prstGeom>
          <a:noFill/>
        </p:spPr>
        <p:txBody>
          <a:bodyPr wrap="none" lIns="36576" tIns="18288" rIns="36576" bIns="18288" anchor="ctr">
            <a:spAutoFit/>
          </a:bodyPr>
          <a:lstStyle/>
          <a:p>
            <a:pPr algn="ctr"/>
            <a:r>
              <a:rPr sz="800" b="0">
                <a:solidFill>
                  <a:srgbClr val="475569"/>
                </a:solidFill>
                <a:latin typeface="Inter"/>
              </a:rPr>
              <a:t>●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1375136" y="9665208"/>
            <a:ext cx="128016" cy="164592"/>
          </a:xfrm>
          <a:prstGeom prst="rect">
            <a:avLst/>
          </a:prstGeom>
          <a:noFill/>
        </p:spPr>
        <p:txBody>
          <a:bodyPr wrap="none" lIns="36576" tIns="18288" rIns="36576" bIns="18288" anchor="ctr">
            <a:spAutoFit/>
          </a:bodyPr>
          <a:lstStyle/>
          <a:p>
            <a:pPr algn="ctr"/>
            <a:r>
              <a:rPr sz="800" b="0">
                <a:solidFill>
                  <a:srgbClr val="475569"/>
                </a:solidFill>
                <a:latin typeface="Inter"/>
              </a:rPr>
              <a:t>●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1539728" y="9665208"/>
            <a:ext cx="128016" cy="164592"/>
          </a:xfrm>
          <a:prstGeom prst="rect">
            <a:avLst/>
          </a:prstGeom>
          <a:noFill/>
        </p:spPr>
        <p:txBody>
          <a:bodyPr wrap="none" lIns="36576" tIns="18288" rIns="36576" bIns="18288" anchor="ctr">
            <a:spAutoFit/>
          </a:bodyPr>
          <a:lstStyle/>
          <a:p>
            <a:pPr algn="ctr"/>
            <a:r>
              <a:rPr sz="800" b="0">
                <a:solidFill>
                  <a:srgbClr val="475569"/>
                </a:solidFill>
                <a:latin typeface="Inter"/>
              </a:rPr>
              <a:t>●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6504920" y="9637776"/>
            <a:ext cx="749808" cy="219456"/>
          </a:xfrm>
          <a:prstGeom prst="rect">
            <a:avLst/>
          </a:prstGeom>
          <a:noFill/>
        </p:spPr>
        <p:txBody>
          <a:bodyPr wrap="none" lIns="36576" tIns="18288" rIns="36576" bIns="18288" anchor="ctr">
            <a:spAutoFit/>
          </a:bodyPr>
          <a:lstStyle/>
          <a:p>
            <a:pPr algn="r"/>
            <a:r>
              <a:rPr sz="1050" b="0">
                <a:solidFill>
                  <a:srgbClr val="94A3B8"/>
                </a:solidFill>
                <a:latin typeface="JetBrains Mono"/>
              </a:rPr>
              <a:t>07 de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0B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38BDF8">
                  <a:alpha val="18000"/>
                </a:srgbClr>
              </a:gs>
              <a:gs pos="42000">
                <a:srgbClr val="38BDF8">
                  <a:alpha val="0"/>
                </a:srgbClr>
              </a:gs>
            </a:gsLst>
            <a:path path="circle">
              <a:fillToRect l="50000" t="100000" r="50000"/>
            </a:path>
          </a:gra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1143000" y="685800"/>
            <a:ext cx="35063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38BDF8">
                    <a:alpha val="6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08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607939" y="709613"/>
            <a:ext cx="9525" cy="247650"/>
          </a:xfrm>
          <a:prstGeom prst="rect">
            <a:avLst/>
          </a:prstGeom>
          <a:solidFill>
            <a:srgbClr val="1E264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1807964" y="533400"/>
            <a:ext cx="5003006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900" b="1" kern="0" spc="-78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Resultados Obtidos</a:t>
            </a:r>
            <a:endParaRPr lang="en-US" sz="3900" dirty="0"/>
          </a:p>
        </p:txBody>
      </p:sp>
      <p:sp>
        <p:nvSpPr>
          <p:cNvPr id="6" name="Shape 4"/>
          <p:cNvSpPr/>
          <p:nvPr/>
        </p:nvSpPr>
        <p:spPr>
          <a:xfrm>
            <a:off x="14503301" y="661988"/>
            <a:ext cx="2641699" cy="342900"/>
          </a:xfrm>
          <a:prstGeom prst="roundRect">
            <a:avLst>
              <a:gd name="adj" fmla="val 11111"/>
            </a:avLst>
          </a:prstGeom>
          <a:solidFill>
            <a:srgbClr val="38BDF8">
              <a:alpha val="8000"/>
            </a:srgbClr>
          </a:solidFill>
          <a:ln w="9525">
            <a:solidFill>
              <a:srgbClr val="38BDF8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14665226" y="728663"/>
            <a:ext cx="239710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38BDF8"/>
                </a:solidFill>
                <a:highlight>
                  <a:srgbClr val="EFFAFE"/>
                </a:highlight>
                <a:latin typeface="Inter" pitchFamily="34" charset="0"/>
                <a:ea typeface="Inter" pitchFamily="34" charset="-122"/>
                <a:cs typeface="Inter" pitchFamily="34" charset="-120"/>
              </a:rPr>
              <a:t>Greedy sobre S</a:t>
            </a:r>
            <a:r>
              <a:rPr lang="en-US" sz="938" b="1" baseline="-40000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</a:t>
            </a:r>
            <a:r>
              <a:rPr lang="en-US" sz="1125" b="1" dirty="0">
                <a:solidFill>
                  <a:srgbClr val="38BDF8"/>
                </a:solidFill>
                <a:highlight>
                  <a:srgbClr val="EFFAFE"/>
                </a:highlight>
                <a:latin typeface="Inter" pitchFamily="34" charset="0"/>
                <a:ea typeface="Inter" pitchFamily="34" charset="-122"/>
                <a:cs typeface="Inter" pitchFamily="34" charset="-120"/>
              </a:rPr>
              <a:t>, p ∈ {14,13,12,11}</a:t>
            </a:r>
            <a:endParaRPr lang="en-US" sz="1125" dirty="0"/>
          </a:p>
        </p:txBody>
      </p:sp>
      <p:sp>
        <p:nvSpPr>
          <p:cNvPr id="8" name="Text 6"/>
          <p:cNvSpPr/>
          <p:nvPr/>
        </p:nvSpPr>
        <p:spPr>
          <a:xfrm>
            <a:off x="1143000" y="1228725"/>
            <a:ext cx="1760220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4755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Garantia teórica: ≤ 15,4× · |OPT| → resultado real: 1,79×–3,78× → </a:t>
            </a:r>
            <a:r>
              <a:rPr lang="en-US" sz="1275" dirty="0">
                <a:solidFill>
                  <a:srgbClr val="34D3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4–9× melhor que o pior caso teórico</a:t>
            </a:r>
            <a:endParaRPr lang="en-US" sz="1275" dirty="0"/>
          </a:p>
        </p:txBody>
      </p:sp>
      <p:sp>
        <p:nvSpPr>
          <p:cNvPr id="9" name="Shape 7"/>
          <p:cNvSpPr/>
          <p:nvPr/>
        </p:nvSpPr>
        <p:spPr>
          <a:xfrm>
            <a:off x="1143000" y="1590675"/>
            <a:ext cx="16002000" cy="2746921"/>
          </a:xfrm>
          <a:prstGeom prst="roundRect">
            <a:avLst>
              <a:gd name="adj" fmla="val 2081"/>
            </a:avLst>
          </a:prstGeom>
          <a:ln w="19050">
            <a:solidFill>
              <a:srgbClr val="38BDF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1152525" y="1600200"/>
            <a:ext cx="15982950" cy="508546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>
            <a:off x="1152525" y="2089696"/>
            <a:ext cx="15982950" cy="19050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1266825" y="1733550"/>
            <a:ext cx="739378" cy="2799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275" b="1" dirty="0">
                <a:solidFill>
                  <a:srgbClr val="7DD3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</a:t>
            </a:r>
            <a:endParaRPr lang="en-US" sz="1275" dirty="0"/>
          </a:p>
        </p:txBody>
      </p:sp>
      <p:sp>
        <p:nvSpPr>
          <p:cNvPr id="13" name="Text 11"/>
          <p:cNvSpPr/>
          <p:nvPr/>
        </p:nvSpPr>
        <p:spPr>
          <a:xfrm>
            <a:off x="2196703" y="1733550"/>
            <a:ext cx="2140744" cy="2799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275" b="1" dirty="0">
                <a:solidFill>
                  <a:srgbClr val="7DD3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|S</a:t>
            </a:r>
            <a:r>
              <a:rPr lang="en-US" sz="1063" b="1" baseline="-40000" dirty="0">
                <a:solidFill>
                  <a:srgbClr val="7DD3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</a:t>
            </a:r>
            <a:r>
              <a:rPr lang="en-US" sz="1275" b="1" dirty="0">
                <a:solidFill>
                  <a:srgbClr val="7DD3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|</a:t>
            </a:r>
            <a:endParaRPr lang="en-US" sz="1275" dirty="0"/>
          </a:p>
        </p:txBody>
      </p:sp>
      <p:sp>
        <p:nvSpPr>
          <p:cNvPr id="14" name="Text 12"/>
          <p:cNvSpPr/>
          <p:nvPr/>
        </p:nvSpPr>
        <p:spPr>
          <a:xfrm>
            <a:off x="4566047" y="1733550"/>
            <a:ext cx="1730127" cy="2799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275" b="1" dirty="0">
                <a:solidFill>
                  <a:srgbClr val="7DD3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LB-LP</a:t>
            </a:r>
            <a:endParaRPr lang="en-US" sz="1275" dirty="0"/>
          </a:p>
        </p:txBody>
      </p:sp>
      <p:sp>
        <p:nvSpPr>
          <p:cNvPr id="15" name="Text 13"/>
          <p:cNvSpPr/>
          <p:nvPr/>
        </p:nvSpPr>
        <p:spPr>
          <a:xfrm>
            <a:off x="6524774" y="1733550"/>
            <a:ext cx="2265759" cy="2799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275" b="1" dirty="0">
                <a:solidFill>
                  <a:srgbClr val="7DD3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LB-Schönheim</a:t>
            </a:r>
            <a:endParaRPr lang="en-US" sz="1275" dirty="0"/>
          </a:p>
        </p:txBody>
      </p:sp>
      <p:sp>
        <p:nvSpPr>
          <p:cNvPr id="16" name="Text 14"/>
          <p:cNvSpPr/>
          <p:nvPr/>
        </p:nvSpPr>
        <p:spPr>
          <a:xfrm>
            <a:off x="9019133" y="1733550"/>
            <a:ext cx="1798588" cy="2799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275" b="1" dirty="0">
                <a:solidFill>
                  <a:srgbClr val="7DD3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|SB</a:t>
            </a:r>
            <a:r>
              <a:rPr lang="en-US" sz="1063" b="1" baseline="-40000" dirty="0">
                <a:solidFill>
                  <a:srgbClr val="7DD3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greedy</a:t>
            </a:r>
            <a:r>
              <a:rPr lang="en-US" sz="1275" b="1" dirty="0">
                <a:solidFill>
                  <a:srgbClr val="7DD3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|</a:t>
            </a:r>
            <a:endParaRPr lang="en-US" sz="1275" dirty="0"/>
          </a:p>
        </p:txBody>
      </p:sp>
      <p:sp>
        <p:nvSpPr>
          <p:cNvPr id="17" name="Text 15"/>
          <p:cNvSpPr/>
          <p:nvPr/>
        </p:nvSpPr>
        <p:spPr>
          <a:xfrm>
            <a:off x="11084421" y="1733550"/>
            <a:ext cx="2266057" cy="2799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275" b="1" dirty="0">
                <a:solidFill>
                  <a:srgbClr val="7DD3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Gap vs LB-Sch</a:t>
            </a:r>
            <a:endParaRPr lang="en-US" sz="1275" dirty="0"/>
          </a:p>
        </p:txBody>
      </p:sp>
      <p:sp>
        <p:nvSpPr>
          <p:cNvPr id="18" name="Text 16"/>
          <p:cNvSpPr/>
          <p:nvPr/>
        </p:nvSpPr>
        <p:spPr>
          <a:xfrm>
            <a:off x="13579078" y="1733550"/>
            <a:ext cx="1730127" cy="2799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275" b="1" dirty="0">
                <a:solidFill>
                  <a:srgbClr val="7DD3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Tempo</a:t>
            </a:r>
            <a:endParaRPr lang="en-US" sz="1275" dirty="0"/>
          </a:p>
        </p:txBody>
      </p:sp>
      <p:sp>
        <p:nvSpPr>
          <p:cNvPr id="19" name="Text 17"/>
          <p:cNvSpPr/>
          <p:nvPr/>
        </p:nvSpPr>
        <p:spPr>
          <a:xfrm>
            <a:off x="15537805" y="1733550"/>
            <a:ext cx="1483370" cy="2799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275" b="1" dirty="0">
                <a:solidFill>
                  <a:srgbClr val="7DD3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% de S</a:t>
            </a:r>
            <a:r>
              <a:rPr lang="en-US" sz="1063" b="1" baseline="-40000" dirty="0">
                <a:solidFill>
                  <a:srgbClr val="7DD3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</a:t>
            </a:r>
            <a:endParaRPr lang="en-US" sz="1275" dirty="0"/>
          </a:p>
        </p:txBody>
      </p:sp>
      <p:sp>
        <p:nvSpPr>
          <p:cNvPr id="20" name="Shape 18"/>
          <p:cNvSpPr/>
          <p:nvPr/>
        </p:nvSpPr>
        <p:spPr>
          <a:xfrm>
            <a:off x="1152525" y="2108746"/>
            <a:ext cx="15982950" cy="557213"/>
          </a:xfrm>
          <a:prstGeom prst="rect">
            <a:avLst/>
          </a:prstGeom>
          <a:solidFill>
            <a:srgbClr val="1A1F2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Shape 19"/>
          <p:cNvSpPr/>
          <p:nvPr/>
        </p:nvSpPr>
        <p:spPr>
          <a:xfrm>
            <a:off x="1152525" y="2656433"/>
            <a:ext cx="15982950" cy="9525"/>
          </a:xfrm>
          <a:prstGeom prst="rect">
            <a:avLst/>
          </a:prstGeom>
          <a:solidFill>
            <a:srgbClr val="1E264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1266825" y="2242096"/>
            <a:ext cx="739378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14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2196703" y="2242096"/>
            <a:ext cx="2140744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575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4.457.400</a:t>
            </a:r>
            <a:endParaRPr lang="en-US" sz="1575" dirty="0"/>
          </a:p>
        </p:txBody>
      </p:sp>
      <p:sp>
        <p:nvSpPr>
          <p:cNvPr id="24" name="Text 22"/>
          <p:cNvSpPr/>
          <p:nvPr/>
        </p:nvSpPr>
        <p:spPr>
          <a:xfrm>
            <a:off x="4566047" y="2242096"/>
            <a:ext cx="1730127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575" dirty="0">
                <a:solidFill>
                  <a:srgbClr val="A3E63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297.160</a:t>
            </a:r>
            <a:endParaRPr lang="en-US" sz="1575" dirty="0"/>
          </a:p>
        </p:txBody>
      </p:sp>
      <p:sp>
        <p:nvSpPr>
          <p:cNvPr id="25" name="Text 23"/>
          <p:cNvSpPr/>
          <p:nvPr/>
        </p:nvSpPr>
        <p:spPr>
          <a:xfrm>
            <a:off x="6524774" y="2242096"/>
            <a:ext cx="2265759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575" b="1" dirty="0">
                <a:solidFill>
                  <a:srgbClr val="38BD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297.172</a:t>
            </a:r>
            <a:endParaRPr lang="en-US" sz="1575" dirty="0"/>
          </a:p>
        </p:txBody>
      </p:sp>
      <p:sp>
        <p:nvSpPr>
          <p:cNvPr id="26" name="Text 24"/>
          <p:cNvSpPr/>
          <p:nvPr/>
        </p:nvSpPr>
        <p:spPr>
          <a:xfrm>
            <a:off x="9019133" y="2242096"/>
            <a:ext cx="1798588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650" b="1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532.555</a:t>
            </a:r>
            <a:endParaRPr lang="en-US" sz="1650" dirty="0"/>
          </a:p>
        </p:txBody>
      </p:sp>
      <p:sp>
        <p:nvSpPr>
          <p:cNvPr id="27" name="Text 25"/>
          <p:cNvSpPr/>
          <p:nvPr/>
        </p:nvSpPr>
        <p:spPr>
          <a:xfrm>
            <a:off x="11084421" y="2242096"/>
            <a:ext cx="2266057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34D3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1,79×</a:t>
            </a:r>
            <a:endParaRPr lang="en-US" sz="1650" dirty="0"/>
          </a:p>
        </p:txBody>
      </p:sp>
      <p:sp>
        <p:nvSpPr>
          <p:cNvPr id="28" name="Text 26"/>
          <p:cNvSpPr/>
          <p:nvPr/>
        </p:nvSpPr>
        <p:spPr>
          <a:xfrm>
            <a:off x="13579078" y="2242096"/>
            <a:ext cx="1730127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575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~18 min</a:t>
            </a:r>
            <a:endParaRPr lang="en-US" sz="1575" dirty="0"/>
          </a:p>
        </p:txBody>
      </p:sp>
      <p:sp>
        <p:nvSpPr>
          <p:cNvPr id="29" name="Text 27"/>
          <p:cNvSpPr/>
          <p:nvPr/>
        </p:nvSpPr>
        <p:spPr>
          <a:xfrm>
            <a:off x="15537805" y="2242096"/>
            <a:ext cx="148337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575" b="1" dirty="0">
                <a:solidFill>
                  <a:srgbClr val="38BD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16,3%</a:t>
            </a:r>
            <a:endParaRPr lang="en-US" sz="1575" dirty="0"/>
          </a:p>
        </p:txBody>
      </p:sp>
      <p:sp>
        <p:nvSpPr>
          <p:cNvPr id="30" name="Shape 28"/>
          <p:cNvSpPr/>
          <p:nvPr/>
        </p:nvSpPr>
        <p:spPr>
          <a:xfrm>
            <a:off x="1152525" y="2665958"/>
            <a:ext cx="15982950" cy="552450"/>
          </a:xfrm>
          <a:prstGeom prst="rect">
            <a:avLst/>
          </a:prstGeom>
          <a:solidFill>
            <a:srgbClr val="14182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1" name="Shape 29"/>
          <p:cNvSpPr/>
          <p:nvPr/>
        </p:nvSpPr>
        <p:spPr>
          <a:xfrm>
            <a:off x="1152525" y="3208883"/>
            <a:ext cx="15982950" cy="9525"/>
          </a:xfrm>
          <a:prstGeom prst="rect">
            <a:avLst/>
          </a:prstGeom>
          <a:solidFill>
            <a:srgbClr val="1E264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2" name="Text 30"/>
          <p:cNvSpPr/>
          <p:nvPr/>
        </p:nvSpPr>
        <p:spPr>
          <a:xfrm>
            <a:off x="1266825" y="2799308"/>
            <a:ext cx="739378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13</a:t>
            </a:r>
            <a:endParaRPr lang="en-US" sz="1650" dirty="0"/>
          </a:p>
        </p:txBody>
      </p:sp>
      <p:sp>
        <p:nvSpPr>
          <p:cNvPr id="33" name="Text 31"/>
          <p:cNvSpPr/>
          <p:nvPr/>
        </p:nvSpPr>
        <p:spPr>
          <a:xfrm>
            <a:off x="2196703" y="2799308"/>
            <a:ext cx="2140744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575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5.200.300</a:t>
            </a:r>
            <a:endParaRPr lang="en-US" sz="1575" dirty="0"/>
          </a:p>
        </p:txBody>
      </p:sp>
      <p:sp>
        <p:nvSpPr>
          <p:cNvPr id="34" name="Text 32"/>
          <p:cNvSpPr/>
          <p:nvPr/>
        </p:nvSpPr>
        <p:spPr>
          <a:xfrm>
            <a:off x="4566047" y="2799308"/>
            <a:ext cx="1730127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575" dirty="0">
                <a:solidFill>
                  <a:srgbClr val="A3E63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49.527</a:t>
            </a:r>
            <a:endParaRPr lang="en-US" sz="1575" dirty="0"/>
          </a:p>
        </p:txBody>
      </p:sp>
      <p:sp>
        <p:nvSpPr>
          <p:cNvPr id="35" name="Text 33"/>
          <p:cNvSpPr/>
          <p:nvPr/>
        </p:nvSpPr>
        <p:spPr>
          <a:xfrm>
            <a:off x="6524774" y="2799308"/>
            <a:ext cx="2265759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575" b="1" dirty="0">
                <a:solidFill>
                  <a:srgbClr val="38BD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58.887</a:t>
            </a:r>
            <a:endParaRPr lang="en-US" sz="1575" dirty="0"/>
          </a:p>
        </p:txBody>
      </p:sp>
      <p:sp>
        <p:nvSpPr>
          <p:cNvPr id="36" name="Text 34"/>
          <p:cNvSpPr/>
          <p:nvPr/>
        </p:nvSpPr>
        <p:spPr>
          <a:xfrm>
            <a:off x="9019133" y="2799308"/>
            <a:ext cx="1798588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650" b="1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128.827</a:t>
            </a:r>
            <a:endParaRPr lang="en-US" sz="1650" dirty="0"/>
          </a:p>
        </p:txBody>
      </p:sp>
      <p:sp>
        <p:nvSpPr>
          <p:cNvPr id="37" name="Text 35"/>
          <p:cNvSpPr/>
          <p:nvPr/>
        </p:nvSpPr>
        <p:spPr>
          <a:xfrm>
            <a:off x="11084421" y="2799308"/>
            <a:ext cx="2266057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A3E6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2,19×</a:t>
            </a:r>
            <a:endParaRPr lang="en-US" sz="1650" dirty="0"/>
          </a:p>
        </p:txBody>
      </p:sp>
      <p:sp>
        <p:nvSpPr>
          <p:cNvPr id="38" name="Text 36"/>
          <p:cNvSpPr/>
          <p:nvPr/>
        </p:nvSpPr>
        <p:spPr>
          <a:xfrm>
            <a:off x="13579078" y="2799308"/>
            <a:ext cx="1730127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575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~3 h</a:t>
            </a:r>
            <a:endParaRPr lang="en-US" sz="1575" dirty="0"/>
          </a:p>
        </p:txBody>
      </p:sp>
      <p:sp>
        <p:nvSpPr>
          <p:cNvPr id="39" name="Text 37"/>
          <p:cNvSpPr/>
          <p:nvPr/>
        </p:nvSpPr>
        <p:spPr>
          <a:xfrm>
            <a:off x="15537805" y="2799308"/>
            <a:ext cx="148337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575" b="1" dirty="0">
                <a:solidFill>
                  <a:srgbClr val="38BD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3,9%</a:t>
            </a:r>
            <a:endParaRPr lang="en-US" sz="1575" dirty="0"/>
          </a:p>
        </p:txBody>
      </p:sp>
      <p:sp>
        <p:nvSpPr>
          <p:cNvPr id="40" name="Shape 38"/>
          <p:cNvSpPr/>
          <p:nvPr/>
        </p:nvSpPr>
        <p:spPr>
          <a:xfrm>
            <a:off x="1152525" y="3218408"/>
            <a:ext cx="15982950" cy="552450"/>
          </a:xfrm>
          <a:prstGeom prst="rect">
            <a:avLst/>
          </a:prstGeom>
          <a:solidFill>
            <a:srgbClr val="1A1F2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1" name="Shape 39"/>
          <p:cNvSpPr/>
          <p:nvPr/>
        </p:nvSpPr>
        <p:spPr>
          <a:xfrm>
            <a:off x="1152525" y="3761333"/>
            <a:ext cx="15982950" cy="9525"/>
          </a:xfrm>
          <a:prstGeom prst="rect">
            <a:avLst/>
          </a:prstGeom>
          <a:solidFill>
            <a:srgbClr val="1E264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2" name="Text 40"/>
          <p:cNvSpPr/>
          <p:nvPr/>
        </p:nvSpPr>
        <p:spPr>
          <a:xfrm>
            <a:off x="1266825" y="3351758"/>
            <a:ext cx="739378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12</a:t>
            </a:r>
            <a:endParaRPr lang="en-US" sz="1650" dirty="0"/>
          </a:p>
        </p:txBody>
      </p:sp>
      <p:sp>
        <p:nvSpPr>
          <p:cNvPr id="43" name="Text 41"/>
          <p:cNvSpPr/>
          <p:nvPr/>
        </p:nvSpPr>
        <p:spPr>
          <a:xfrm>
            <a:off x="2196703" y="3351758"/>
            <a:ext cx="2140744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575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5.200.300</a:t>
            </a:r>
            <a:endParaRPr lang="en-US" sz="1575" dirty="0"/>
          </a:p>
        </p:txBody>
      </p:sp>
      <p:sp>
        <p:nvSpPr>
          <p:cNvPr id="44" name="Text 42"/>
          <p:cNvSpPr/>
          <p:nvPr/>
        </p:nvSpPr>
        <p:spPr>
          <a:xfrm>
            <a:off x="4566047" y="3351758"/>
            <a:ext cx="1730127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575" dirty="0">
                <a:solidFill>
                  <a:srgbClr val="A3E63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11.430</a:t>
            </a:r>
            <a:endParaRPr lang="en-US" sz="1575" dirty="0"/>
          </a:p>
        </p:txBody>
      </p:sp>
      <p:sp>
        <p:nvSpPr>
          <p:cNvPr id="45" name="Text 43"/>
          <p:cNvSpPr/>
          <p:nvPr/>
        </p:nvSpPr>
        <p:spPr>
          <a:xfrm>
            <a:off x="6524774" y="3351758"/>
            <a:ext cx="2265759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575" b="1" dirty="0">
                <a:solidFill>
                  <a:srgbClr val="38BD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13.175</a:t>
            </a:r>
            <a:endParaRPr lang="en-US" sz="1575" dirty="0"/>
          </a:p>
        </p:txBody>
      </p:sp>
      <p:sp>
        <p:nvSpPr>
          <p:cNvPr id="46" name="Text 44"/>
          <p:cNvSpPr/>
          <p:nvPr/>
        </p:nvSpPr>
        <p:spPr>
          <a:xfrm>
            <a:off x="9019133" y="3351758"/>
            <a:ext cx="1798588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650" b="1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38.100</a:t>
            </a:r>
            <a:endParaRPr lang="en-US" sz="1650" dirty="0"/>
          </a:p>
        </p:txBody>
      </p:sp>
      <p:sp>
        <p:nvSpPr>
          <p:cNvPr id="47" name="Text 45"/>
          <p:cNvSpPr/>
          <p:nvPr/>
        </p:nvSpPr>
        <p:spPr>
          <a:xfrm>
            <a:off x="11084421" y="3351758"/>
            <a:ext cx="2266057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FBB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2,89×</a:t>
            </a:r>
            <a:endParaRPr lang="en-US" sz="1650" dirty="0"/>
          </a:p>
        </p:txBody>
      </p:sp>
      <p:sp>
        <p:nvSpPr>
          <p:cNvPr id="48" name="Text 46"/>
          <p:cNvSpPr/>
          <p:nvPr/>
        </p:nvSpPr>
        <p:spPr>
          <a:xfrm>
            <a:off x="13579078" y="3351758"/>
            <a:ext cx="1730127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575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~79 min</a:t>
            </a:r>
            <a:endParaRPr lang="en-US" sz="1575" dirty="0"/>
          </a:p>
        </p:txBody>
      </p:sp>
      <p:sp>
        <p:nvSpPr>
          <p:cNvPr id="49" name="Text 47"/>
          <p:cNvSpPr/>
          <p:nvPr/>
        </p:nvSpPr>
        <p:spPr>
          <a:xfrm>
            <a:off x="15537805" y="3351758"/>
            <a:ext cx="148337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575" b="1" dirty="0">
                <a:solidFill>
                  <a:srgbClr val="38BD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1,2%</a:t>
            </a:r>
            <a:endParaRPr lang="en-US" sz="1575" dirty="0"/>
          </a:p>
        </p:txBody>
      </p:sp>
      <p:sp>
        <p:nvSpPr>
          <p:cNvPr id="50" name="Shape 48"/>
          <p:cNvSpPr/>
          <p:nvPr/>
        </p:nvSpPr>
        <p:spPr>
          <a:xfrm>
            <a:off x="1152525" y="3770858"/>
            <a:ext cx="15982950" cy="557213"/>
          </a:xfrm>
          <a:prstGeom prst="rect">
            <a:avLst/>
          </a:prstGeom>
          <a:solidFill>
            <a:srgbClr val="14182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1" name="Text 49"/>
          <p:cNvSpPr/>
          <p:nvPr/>
        </p:nvSpPr>
        <p:spPr>
          <a:xfrm>
            <a:off x="1266825" y="3904208"/>
            <a:ext cx="739378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11</a:t>
            </a:r>
            <a:endParaRPr lang="en-US" sz="1650" dirty="0"/>
          </a:p>
        </p:txBody>
      </p:sp>
      <p:sp>
        <p:nvSpPr>
          <p:cNvPr id="52" name="Text 50"/>
          <p:cNvSpPr/>
          <p:nvPr/>
        </p:nvSpPr>
        <p:spPr>
          <a:xfrm>
            <a:off x="2196703" y="3904208"/>
            <a:ext cx="2140744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575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4.457.400</a:t>
            </a:r>
            <a:endParaRPr lang="en-US" sz="1575" dirty="0"/>
          </a:p>
        </p:txBody>
      </p:sp>
      <p:sp>
        <p:nvSpPr>
          <p:cNvPr id="53" name="Text 51"/>
          <p:cNvSpPr/>
          <p:nvPr/>
        </p:nvSpPr>
        <p:spPr>
          <a:xfrm>
            <a:off x="4566047" y="3904208"/>
            <a:ext cx="1730127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575" dirty="0">
                <a:solidFill>
                  <a:srgbClr val="A3E63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3.266</a:t>
            </a:r>
            <a:endParaRPr lang="en-US" sz="1575" dirty="0"/>
          </a:p>
        </p:txBody>
      </p:sp>
      <p:sp>
        <p:nvSpPr>
          <p:cNvPr id="54" name="Text 52"/>
          <p:cNvSpPr/>
          <p:nvPr/>
        </p:nvSpPr>
        <p:spPr>
          <a:xfrm>
            <a:off x="6524774" y="3904208"/>
            <a:ext cx="2265759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575" b="1" dirty="0">
                <a:solidFill>
                  <a:srgbClr val="38BD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3.370</a:t>
            </a:r>
            <a:endParaRPr lang="en-US" sz="1575" dirty="0"/>
          </a:p>
        </p:txBody>
      </p:sp>
      <p:sp>
        <p:nvSpPr>
          <p:cNvPr id="55" name="Text 53"/>
          <p:cNvSpPr/>
          <p:nvPr/>
        </p:nvSpPr>
        <p:spPr>
          <a:xfrm>
            <a:off x="9019133" y="3904208"/>
            <a:ext cx="1798588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650" b="1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12.733</a:t>
            </a:r>
            <a:endParaRPr lang="en-US" sz="1650" dirty="0"/>
          </a:p>
        </p:txBody>
      </p:sp>
      <p:sp>
        <p:nvSpPr>
          <p:cNvPr id="56" name="Text 54"/>
          <p:cNvSpPr/>
          <p:nvPr/>
        </p:nvSpPr>
        <p:spPr>
          <a:xfrm>
            <a:off x="11084421" y="3904208"/>
            <a:ext cx="2266057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FB92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3,78×</a:t>
            </a:r>
            <a:endParaRPr lang="en-US" sz="1650" dirty="0"/>
          </a:p>
        </p:txBody>
      </p:sp>
      <p:sp>
        <p:nvSpPr>
          <p:cNvPr id="57" name="Text 55"/>
          <p:cNvSpPr/>
          <p:nvPr/>
        </p:nvSpPr>
        <p:spPr>
          <a:xfrm>
            <a:off x="13579078" y="3904208"/>
            <a:ext cx="1730127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575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~3,4 h</a:t>
            </a:r>
            <a:endParaRPr lang="en-US" sz="1575" dirty="0"/>
          </a:p>
        </p:txBody>
      </p:sp>
      <p:sp>
        <p:nvSpPr>
          <p:cNvPr id="58" name="Text 56"/>
          <p:cNvSpPr/>
          <p:nvPr/>
        </p:nvSpPr>
        <p:spPr>
          <a:xfrm>
            <a:off x="15537805" y="3904208"/>
            <a:ext cx="148337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575" b="1" dirty="0">
                <a:solidFill>
                  <a:srgbClr val="38BD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0,4%</a:t>
            </a:r>
            <a:endParaRPr lang="en-US" sz="1575" dirty="0"/>
          </a:p>
        </p:txBody>
      </p:sp>
      <p:sp>
        <p:nvSpPr>
          <p:cNvPr id="59" name="Shape 57"/>
          <p:cNvSpPr/>
          <p:nvPr/>
        </p:nvSpPr>
        <p:spPr>
          <a:xfrm>
            <a:off x="1143000" y="4489996"/>
            <a:ext cx="10407700" cy="834330"/>
          </a:xfrm>
          <a:prstGeom prst="roundRect">
            <a:avLst>
              <a:gd name="adj" fmla="val 6850"/>
            </a:avLst>
          </a:prstGeom>
          <a:solidFill>
            <a:srgbClr val="34D399">
              <a:alpha val="5000"/>
            </a:srgbClr>
          </a:solidFill>
          <a:ln w="9525">
            <a:solidFill>
              <a:srgbClr val="34D399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0" name="Text 58"/>
          <p:cNvSpPr/>
          <p:nvPr/>
        </p:nvSpPr>
        <p:spPr>
          <a:xfrm>
            <a:off x="1343025" y="4632871"/>
            <a:ext cx="10319881" cy="586680"/>
          </a:xfrm>
          <a:prstGeom prst="rect">
            <a:avLst/>
          </a:prstGeom>
          <a:noFill/>
          <a:ln/>
        </p:spPr>
        <p:txBody>
          <a:bodyPr wrap="square" lIns="36576" tIns="18288" rIns="36576" bIns="18288" rtlCol="0" anchor="ctr">
            <a:normAutofit/>
          </a:bodyPr>
          <a:lstStyle/>
          <a:p>
            <a:pPr marL="0" indent="0" algn="l">
              <a:buNone/>
            </a:pPr>
            <a:r>
              <a:rPr sz="1350" b="1">
                <a:solidFill>
                  <a:srgbClr val="34D399"/>
                </a:solidFill>
                <a:latin typeface="Inter"/>
              </a:rPr>
              <a:t>Rödl, 1985 — LB-LP é assintoticamente apertado para instâncias uniformes C(n,k,t) quando n→∞. Auditoria exata: manter status pendente até o término da execução em audit_cobertura.py; resultados finais devem substituir esta nota.</a:t>
            </a:r>
            <a:endParaRPr lang="en-US" sz="1200" dirty="0"/>
          </a:p>
        </p:txBody>
      </p:sp>
      <p:sp>
        <p:nvSpPr>
          <p:cNvPr id="61" name="Shape 59"/>
          <p:cNvSpPr/>
          <p:nvPr/>
        </p:nvSpPr>
        <p:spPr>
          <a:xfrm>
            <a:off x="11741200" y="4489996"/>
            <a:ext cx="5403800" cy="834330"/>
          </a:xfrm>
          <a:prstGeom prst="roundRect">
            <a:avLst>
              <a:gd name="adj" fmla="val 6850"/>
            </a:avLst>
          </a:prstGeom>
          <a:solidFill>
            <a:srgbClr val="131720"/>
          </a:solidFill>
          <a:ln w="9525">
            <a:solidFill>
              <a:srgbClr val="1E2640"/>
            </a:solidFill>
            <a:prstDash val="solid"/>
          </a:ln>
        </p:spPr>
        <p:txBody>
          <a:bodyPr/>
          <a:lstStyle/>
          <a:p>
            <a:endParaRPr lang="pt-BR">
              <a:solidFill>
                <a:schemeClr val="bg1"/>
              </a:solidFill>
            </a:endParaRPr>
          </a:p>
        </p:txBody>
      </p:sp>
      <p:sp>
        <p:nvSpPr>
          <p:cNvPr id="62" name="Text 60"/>
          <p:cNvSpPr/>
          <p:nvPr/>
        </p:nvSpPr>
        <p:spPr>
          <a:xfrm>
            <a:off x="11941225" y="4678561"/>
            <a:ext cx="2825496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125" dirty="0">
                <a:solidFill>
                  <a:schemeClr val="bg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Intel Core i7-4770 @ 3,40 GHz 32 GB RAM · sem GPU · Windows 11</a:t>
            </a:r>
            <a:endParaRPr lang="en-US" sz="1125" dirty="0">
              <a:solidFill>
                <a:schemeClr val="bg1"/>
              </a:solidFill>
            </a:endParaRPr>
          </a:p>
        </p:txBody>
      </p:sp>
      <p:sp>
        <p:nvSpPr>
          <p:cNvPr id="63" name="Shape 61"/>
          <p:cNvSpPr/>
          <p:nvPr/>
        </p:nvSpPr>
        <p:spPr>
          <a:xfrm>
            <a:off x="1143000" y="9534525"/>
            <a:ext cx="16002000" cy="9525"/>
          </a:xfrm>
          <a:prstGeom prst="rect">
            <a:avLst/>
          </a:prstGeom>
          <a:solidFill>
            <a:srgbClr val="161C2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4" name="TextBox 63"/>
          <p:cNvSpPr txBox="1"/>
          <p:nvPr/>
        </p:nvSpPr>
        <p:spPr>
          <a:xfrm>
            <a:off x="9893808" y="9665208"/>
            <a:ext cx="128016" cy="164592"/>
          </a:xfrm>
          <a:prstGeom prst="rect">
            <a:avLst/>
          </a:prstGeom>
          <a:noFill/>
        </p:spPr>
        <p:txBody>
          <a:bodyPr wrap="none" lIns="36576" tIns="18288" rIns="36576" bIns="18288" anchor="ctr">
            <a:spAutoFit/>
          </a:bodyPr>
          <a:lstStyle/>
          <a:p>
            <a:pPr algn="ctr"/>
            <a:r>
              <a:rPr sz="800" b="0">
                <a:solidFill>
                  <a:srgbClr val="475569"/>
                </a:solidFill>
                <a:latin typeface="Inter"/>
              </a:rPr>
              <a:t>●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058400" y="9665208"/>
            <a:ext cx="128016" cy="164592"/>
          </a:xfrm>
          <a:prstGeom prst="rect">
            <a:avLst/>
          </a:prstGeom>
          <a:noFill/>
        </p:spPr>
        <p:txBody>
          <a:bodyPr wrap="none" lIns="36576" tIns="18288" rIns="36576" bIns="18288" anchor="ctr">
            <a:spAutoFit/>
          </a:bodyPr>
          <a:lstStyle/>
          <a:p>
            <a:pPr algn="ctr"/>
            <a:r>
              <a:rPr sz="800" b="0">
                <a:solidFill>
                  <a:srgbClr val="475569"/>
                </a:solidFill>
                <a:latin typeface="Inter"/>
              </a:rPr>
              <a:t>●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222992" y="9665208"/>
            <a:ext cx="128016" cy="164592"/>
          </a:xfrm>
          <a:prstGeom prst="rect">
            <a:avLst/>
          </a:prstGeom>
          <a:noFill/>
        </p:spPr>
        <p:txBody>
          <a:bodyPr wrap="none" lIns="36576" tIns="18288" rIns="36576" bIns="18288" anchor="ctr">
            <a:spAutoFit/>
          </a:bodyPr>
          <a:lstStyle/>
          <a:p>
            <a:pPr algn="ctr"/>
            <a:r>
              <a:rPr sz="800" b="0">
                <a:solidFill>
                  <a:srgbClr val="475569"/>
                </a:solidFill>
                <a:latin typeface="Inter"/>
              </a:rPr>
              <a:t>●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387584" y="9665208"/>
            <a:ext cx="128016" cy="164592"/>
          </a:xfrm>
          <a:prstGeom prst="rect">
            <a:avLst/>
          </a:prstGeom>
          <a:noFill/>
        </p:spPr>
        <p:txBody>
          <a:bodyPr wrap="none" lIns="36576" tIns="18288" rIns="36576" bIns="18288" anchor="ctr">
            <a:spAutoFit/>
          </a:bodyPr>
          <a:lstStyle/>
          <a:p>
            <a:pPr algn="ctr"/>
            <a:r>
              <a:rPr sz="800" b="0">
                <a:solidFill>
                  <a:srgbClr val="475569"/>
                </a:solidFill>
                <a:latin typeface="Inter"/>
              </a:rPr>
              <a:t>●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552176" y="9665208"/>
            <a:ext cx="128016" cy="164592"/>
          </a:xfrm>
          <a:prstGeom prst="rect">
            <a:avLst/>
          </a:prstGeom>
          <a:noFill/>
        </p:spPr>
        <p:txBody>
          <a:bodyPr wrap="none" lIns="36576" tIns="18288" rIns="36576" bIns="18288" anchor="ctr">
            <a:spAutoFit/>
          </a:bodyPr>
          <a:lstStyle/>
          <a:p>
            <a:pPr algn="ctr"/>
            <a:r>
              <a:rPr sz="800" b="0">
                <a:solidFill>
                  <a:srgbClr val="475569"/>
                </a:solidFill>
                <a:latin typeface="Inter"/>
              </a:rPr>
              <a:t>●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716768" y="9665208"/>
            <a:ext cx="128016" cy="164592"/>
          </a:xfrm>
          <a:prstGeom prst="rect">
            <a:avLst/>
          </a:prstGeom>
          <a:noFill/>
        </p:spPr>
        <p:txBody>
          <a:bodyPr wrap="none" lIns="36576" tIns="18288" rIns="36576" bIns="18288" anchor="ctr">
            <a:spAutoFit/>
          </a:bodyPr>
          <a:lstStyle/>
          <a:p>
            <a:pPr algn="ctr"/>
            <a:r>
              <a:rPr sz="800" b="0">
                <a:solidFill>
                  <a:srgbClr val="475569"/>
                </a:solidFill>
                <a:latin typeface="Inter"/>
              </a:rPr>
              <a:t>●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881360" y="9665208"/>
            <a:ext cx="128016" cy="164592"/>
          </a:xfrm>
          <a:prstGeom prst="rect">
            <a:avLst/>
          </a:prstGeom>
          <a:noFill/>
        </p:spPr>
        <p:txBody>
          <a:bodyPr wrap="none" lIns="36576" tIns="18288" rIns="36576" bIns="18288" anchor="ctr">
            <a:spAutoFit/>
          </a:bodyPr>
          <a:lstStyle/>
          <a:p>
            <a:pPr algn="ctr"/>
            <a:r>
              <a:rPr sz="800" b="0">
                <a:solidFill>
                  <a:srgbClr val="475569"/>
                </a:solidFill>
                <a:latin typeface="Inter"/>
              </a:rPr>
              <a:t>●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1045952" y="9665208"/>
            <a:ext cx="128016" cy="164592"/>
          </a:xfrm>
          <a:prstGeom prst="rect">
            <a:avLst/>
          </a:prstGeom>
          <a:noFill/>
        </p:spPr>
        <p:txBody>
          <a:bodyPr wrap="none" lIns="36576" tIns="18288" rIns="36576" bIns="18288" anchor="ctr">
            <a:spAutoFit/>
          </a:bodyPr>
          <a:lstStyle/>
          <a:p>
            <a:pPr algn="ctr"/>
            <a:r>
              <a:rPr sz="800" b="0">
                <a:solidFill>
                  <a:srgbClr val="38BDF8"/>
                </a:solidFill>
                <a:latin typeface="Inter"/>
              </a:rPr>
              <a:t>●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1210544" y="9665208"/>
            <a:ext cx="128016" cy="164592"/>
          </a:xfrm>
          <a:prstGeom prst="rect">
            <a:avLst/>
          </a:prstGeom>
          <a:noFill/>
        </p:spPr>
        <p:txBody>
          <a:bodyPr wrap="none" lIns="36576" tIns="18288" rIns="36576" bIns="18288" anchor="ctr">
            <a:spAutoFit/>
          </a:bodyPr>
          <a:lstStyle/>
          <a:p>
            <a:pPr algn="ctr"/>
            <a:r>
              <a:rPr sz="800" b="0">
                <a:solidFill>
                  <a:srgbClr val="475569"/>
                </a:solidFill>
                <a:latin typeface="Inter"/>
              </a:rPr>
              <a:t>●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1375136" y="9665208"/>
            <a:ext cx="128016" cy="164592"/>
          </a:xfrm>
          <a:prstGeom prst="rect">
            <a:avLst/>
          </a:prstGeom>
          <a:noFill/>
        </p:spPr>
        <p:txBody>
          <a:bodyPr wrap="none" lIns="36576" tIns="18288" rIns="36576" bIns="18288" anchor="ctr">
            <a:spAutoFit/>
          </a:bodyPr>
          <a:lstStyle/>
          <a:p>
            <a:pPr algn="ctr"/>
            <a:r>
              <a:rPr sz="800" b="0">
                <a:solidFill>
                  <a:srgbClr val="475569"/>
                </a:solidFill>
                <a:latin typeface="Inter"/>
              </a:rPr>
              <a:t>●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1539728" y="9665208"/>
            <a:ext cx="128016" cy="164592"/>
          </a:xfrm>
          <a:prstGeom prst="rect">
            <a:avLst/>
          </a:prstGeom>
          <a:noFill/>
        </p:spPr>
        <p:txBody>
          <a:bodyPr wrap="none" lIns="36576" tIns="18288" rIns="36576" bIns="18288" anchor="ctr">
            <a:spAutoFit/>
          </a:bodyPr>
          <a:lstStyle/>
          <a:p>
            <a:pPr algn="ctr"/>
            <a:r>
              <a:rPr sz="800" b="0">
                <a:solidFill>
                  <a:srgbClr val="475569"/>
                </a:solidFill>
                <a:latin typeface="Inter"/>
              </a:rPr>
              <a:t>●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6504920" y="9637776"/>
            <a:ext cx="749808" cy="219456"/>
          </a:xfrm>
          <a:prstGeom prst="rect">
            <a:avLst/>
          </a:prstGeom>
          <a:noFill/>
        </p:spPr>
        <p:txBody>
          <a:bodyPr wrap="none" lIns="36576" tIns="18288" rIns="36576" bIns="18288" anchor="ctr">
            <a:spAutoFit/>
          </a:bodyPr>
          <a:lstStyle/>
          <a:p>
            <a:pPr algn="r"/>
            <a:r>
              <a:rPr sz="1050" b="0">
                <a:solidFill>
                  <a:srgbClr val="94A3B8"/>
                </a:solidFill>
                <a:latin typeface="JetBrains Mono"/>
              </a:rPr>
              <a:t>08 de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43000" y="685800"/>
            <a:ext cx="347472" cy="32918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36576" rIns="54864" bIns="36576" rtlCol="0" anchor="ctr"/>
          <a:lstStyle/>
          <a:p>
            <a:pPr algn="ctr"/>
            <a:r>
              <a:rPr b="0" dirty="0">
                <a:solidFill>
                  <a:srgbClr val="38BDF8"/>
                </a:solidFill>
                <a:latin typeface="JetBrains Mono"/>
              </a:rPr>
              <a:t>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10512" y="530352"/>
            <a:ext cx="8046720" cy="621792"/>
          </a:xfrm>
          <a:prstGeom prst="rect">
            <a:avLst/>
          </a:prstGeom>
          <a:noFill/>
        </p:spPr>
        <p:txBody>
          <a:bodyPr wrap="none" lIns="54864" tIns="36576" rIns="54864" bIns="36576" anchor="ctr">
            <a:spAutoFit/>
          </a:bodyPr>
          <a:lstStyle/>
          <a:p>
            <a:pPr algn="l"/>
            <a:r>
              <a:rPr sz="3400" b="1">
                <a:solidFill>
                  <a:srgbClr val="E2E8F0"/>
                </a:solidFill>
                <a:latin typeface="Inter"/>
              </a:rPr>
              <a:t>Eixo Comparativo das Abordagens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0" y="713232"/>
            <a:ext cx="4572000" cy="256032"/>
          </a:xfrm>
          <a:prstGeom prst="rect">
            <a:avLst/>
          </a:prstGeom>
          <a:noFill/>
        </p:spPr>
        <p:txBody>
          <a:bodyPr wrap="none" lIns="36576" tIns="18288" rIns="36576" bIns="18288" anchor="ctr">
            <a:spAutoFit/>
          </a:bodyPr>
          <a:lstStyle/>
          <a:p>
            <a:pPr algn="r"/>
            <a:r>
              <a:rPr sz="1500" b="1">
                <a:solidFill>
                  <a:srgbClr val="E2E8F0"/>
                </a:solidFill>
                <a:latin typeface="Inter"/>
              </a:rPr>
              <a:t>EXPERIMENTOS ALGORÍTMICOS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" y="1225296"/>
            <a:ext cx="15133320" cy="18288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43000" y="1417320"/>
            <a:ext cx="15087600" cy="347472"/>
          </a:xfrm>
          <a:prstGeom prst="rect">
            <a:avLst/>
          </a:prstGeom>
          <a:noFill/>
        </p:spPr>
        <p:txBody>
          <a:bodyPr wrap="none" lIns="36576" tIns="18288" rIns="36576" bIns="18288" anchor="ctr">
            <a:spAutoFit/>
          </a:bodyPr>
          <a:lstStyle/>
          <a:p>
            <a:pPr algn="l"/>
            <a:r>
              <a:rPr sz="1400" b="0">
                <a:solidFill>
                  <a:srgbClr val="E2E8F0"/>
                </a:solidFill>
                <a:latin typeface="JetBrains Mono"/>
              </a:rPr>
              <a:t>O trabalho não depende apenas do greedy: os experimentos organizam as alternativas do enunciado em papéis comparáveis.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1874519"/>
            <a:ext cx="2926080" cy="502920"/>
          </a:xfrm>
          <a:prstGeom prst="rect">
            <a:avLst/>
          </a:prstGeom>
          <a:solidFill>
            <a:srgbClr val="1E293B"/>
          </a:solidFill>
          <a:ln w="9525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36576" rIns="54864" bIns="36576" rtlCol="0" anchor="ctr"/>
          <a:lstStyle/>
          <a:p>
            <a:pPr algn="ctr"/>
            <a:r>
              <a:rPr sz="1019" b="1">
                <a:solidFill>
                  <a:srgbClr val="7DD3FC"/>
                </a:solidFill>
                <a:latin typeface="Inter"/>
              </a:rPr>
              <a:t>Eixo do enunciado</a:t>
            </a:r>
          </a:p>
        </p:txBody>
      </p:sp>
      <p:sp>
        <p:nvSpPr>
          <p:cNvPr id="8" name="Rectangle 7"/>
          <p:cNvSpPr/>
          <p:nvPr/>
        </p:nvSpPr>
        <p:spPr>
          <a:xfrm>
            <a:off x="4069080" y="1874519"/>
            <a:ext cx="5486400" cy="502920"/>
          </a:xfrm>
          <a:prstGeom prst="rect">
            <a:avLst/>
          </a:prstGeom>
          <a:solidFill>
            <a:srgbClr val="1E293B"/>
          </a:solidFill>
          <a:ln w="9525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36576" rIns="54864" bIns="36576" rtlCol="0" anchor="ctr"/>
          <a:lstStyle/>
          <a:p>
            <a:pPr algn="ctr"/>
            <a:r>
              <a:rPr sz="1019" b="1">
                <a:solidFill>
                  <a:srgbClr val="7DD3FC"/>
                </a:solidFill>
                <a:latin typeface="Inter"/>
              </a:rPr>
              <a:t>Como entra no trabalho</a:t>
            </a:r>
          </a:p>
        </p:txBody>
      </p:sp>
      <p:sp>
        <p:nvSpPr>
          <p:cNvPr id="9" name="Rectangle 8"/>
          <p:cNvSpPr/>
          <p:nvPr/>
        </p:nvSpPr>
        <p:spPr>
          <a:xfrm>
            <a:off x="9555480" y="1874519"/>
            <a:ext cx="4206240" cy="502920"/>
          </a:xfrm>
          <a:prstGeom prst="rect">
            <a:avLst/>
          </a:prstGeom>
          <a:solidFill>
            <a:srgbClr val="1E293B"/>
          </a:solidFill>
          <a:ln w="9525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18288" rIns="36576" bIns="18288" rtlCol="0" anchor="ctr"/>
          <a:lstStyle/>
          <a:p>
            <a:pPr algn="ctr"/>
            <a:r>
              <a:rPr sz="1019" b="1">
                <a:solidFill>
                  <a:srgbClr val="E2E8F0"/>
                </a:solidFill>
                <a:latin typeface="Inter"/>
              </a:rPr>
              <a:t>Arquivo / evidência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761719" y="1874519"/>
            <a:ext cx="1828800" cy="502920"/>
          </a:xfrm>
          <a:prstGeom prst="rect">
            <a:avLst/>
          </a:prstGeom>
          <a:solidFill>
            <a:srgbClr val="1E293B"/>
          </a:solidFill>
          <a:ln w="9525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36576" rIns="54864" bIns="36576" rtlCol="0" anchor="ctr"/>
          <a:lstStyle/>
          <a:p>
            <a:pPr algn="ctr"/>
            <a:r>
              <a:rPr sz="1019" b="1">
                <a:solidFill>
                  <a:srgbClr val="7DD3FC"/>
                </a:solidFill>
                <a:latin typeface="Inter"/>
              </a:rPr>
              <a:t>Status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43000" y="2377439"/>
            <a:ext cx="2926080" cy="502920"/>
          </a:xfrm>
          <a:prstGeom prst="rect">
            <a:avLst/>
          </a:prstGeom>
          <a:solidFill>
            <a:srgbClr val="0F172A"/>
          </a:solidFill>
          <a:ln w="9525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36576" rIns="54864" bIns="36576" rtlCol="0" anchor="ctr"/>
          <a:lstStyle/>
          <a:p>
            <a:pPr algn="l"/>
            <a:r>
              <a:rPr sz="1019" b="1">
                <a:solidFill>
                  <a:srgbClr val="7DD3FC"/>
                </a:solidFill>
                <a:latin typeface="Inter"/>
              </a:rPr>
              <a:t>Greedy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069080" y="2377439"/>
            <a:ext cx="5486400" cy="502920"/>
          </a:xfrm>
          <a:prstGeom prst="rect">
            <a:avLst/>
          </a:prstGeom>
          <a:solidFill>
            <a:srgbClr val="0F172A"/>
          </a:solidFill>
          <a:ln w="9525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36576" rIns="54864" bIns="36576" rtlCol="0" anchor="ctr"/>
          <a:lstStyle/>
          <a:p>
            <a:pPr algn="l"/>
            <a:r>
              <a:rPr sz="1019" b="0" dirty="0">
                <a:solidFill>
                  <a:srgbClr val="E2E8F0"/>
                </a:solidFill>
                <a:latin typeface="Inter"/>
              </a:rPr>
              <a:t>Baseline principal para SB15,p; </a:t>
            </a:r>
            <a:r>
              <a:rPr sz="1019" b="0" dirty="0" err="1">
                <a:solidFill>
                  <a:srgbClr val="E2E8F0"/>
                </a:solidFill>
                <a:latin typeface="Inter"/>
              </a:rPr>
              <a:t>garantia</a:t>
            </a:r>
            <a:r>
              <a:rPr sz="1019" b="0" dirty="0">
                <a:solidFill>
                  <a:srgbClr val="E2E8F0"/>
                </a:solidFill>
                <a:latin typeface="Inter"/>
              </a:rPr>
              <a:t> H(n)-</a:t>
            </a:r>
            <a:r>
              <a:rPr sz="1019" b="0" dirty="0" err="1">
                <a:solidFill>
                  <a:srgbClr val="E2E8F0"/>
                </a:solidFill>
                <a:latin typeface="Inter"/>
              </a:rPr>
              <a:t>aproximativa</a:t>
            </a:r>
            <a:r>
              <a:rPr sz="1019" b="0" dirty="0">
                <a:solidFill>
                  <a:srgbClr val="E2E8F0"/>
                </a:solidFill>
                <a:latin typeface="Inter"/>
              </a:rPr>
              <a:t>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555480" y="2377439"/>
            <a:ext cx="4206240" cy="502920"/>
          </a:xfrm>
          <a:prstGeom prst="rect">
            <a:avLst/>
          </a:prstGeom>
          <a:solidFill>
            <a:srgbClr val="0F172A"/>
          </a:solidFill>
          <a:ln w="9525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36576" rIns="54864" bIns="36576" rtlCol="0" anchor="ctr"/>
          <a:lstStyle/>
          <a:p>
            <a:pPr algn="l"/>
            <a:r>
              <a:rPr sz="1019" b="0">
                <a:solidFill>
                  <a:srgbClr val="E2E8F0"/>
                </a:solidFill>
                <a:latin typeface="Inter"/>
              </a:rPr>
              <a:t>solver_greedy.py; Programas 2–5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3761719" y="2377439"/>
            <a:ext cx="1828800" cy="502920"/>
          </a:xfrm>
          <a:prstGeom prst="rect">
            <a:avLst/>
          </a:prstGeom>
          <a:solidFill>
            <a:srgbClr val="0F172A"/>
          </a:solidFill>
          <a:ln w="9525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36576" rIns="54864" bIns="36576" rtlCol="0" anchor="ctr"/>
          <a:lstStyle/>
          <a:p>
            <a:pPr algn="ctr"/>
            <a:r>
              <a:rPr sz="1019" b="0">
                <a:solidFill>
                  <a:srgbClr val="E2E8F0"/>
                </a:solidFill>
                <a:latin typeface="Inter"/>
              </a:rPr>
              <a:t>Implementado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43000" y="2880360"/>
            <a:ext cx="2926080" cy="502920"/>
          </a:xfrm>
          <a:prstGeom prst="rect">
            <a:avLst/>
          </a:prstGeom>
          <a:solidFill>
            <a:srgbClr val="020617"/>
          </a:solidFill>
          <a:ln w="9525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18288" rIns="36576" bIns="18288" rtlCol="0" anchor="ctr"/>
          <a:lstStyle/>
          <a:p>
            <a:pPr algn="l"/>
            <a:r>
              <a:rPr sz="1019" b="1">
                <a:solidFill>
                  <a:srgbClr val="E2E8F0"/>
                </a:solidFill>
                <a:latin typeface="Inter"/>
              </a:rPr>
              <a:t>Computação paralela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069080" y="2880360"/>
            <a:ext cx="5486400" cy="502920"/>
          </a:xfrm>
          <a:prstGeom prst="rect">
            <a:avLst/>
          </a:prstGeom>
          <a:solidFill>
            <a:srgbClr val="020617"/>
          </a:solidFill>
          <a:ln w="9525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36576" rIns="54864" bIns="36576" rtlCol="0" anchor="ctr"/>
          <a:lstStyle/>
          <a:p>
            <a:pPr algn="l"/>
            <a:r>
              <a:rPr sz="1019" b="0" dirty="0" err="1">
                <a:solidFill>
                  <a:srgbClr val="E2E8F0"/>
                </a:solidFill>
                <a:latin typeface="Inter"/>
              </a:rPr>
              <a:t>Programa</a:t>
            </a:r>
            <a:r>
              <a:rPr sz="1019" b="0" dirty="0">
                <a:solidFill>
                  <a:srgbClr val="E2E8F0"/>
                </a:solidFill>
                <a:latin typeface="Inter"/>
              </a:rPr>
              <a:t> 1 </a:t>
            </a:r>
            <a:r>
              <a:rPr sz="1019" b="0" dirty="0" err="1">
                <a:solidFill>
                  <a:srgbClr val="E2E8F0"/>
                </a:solidFill>
                <a:latin typeface="Inter"/>
              </a:rPr>
              <a:t>paralelo</a:t>
            </a:r>
            <a:r>
              <a:rPr sz="1019" b="0" dirty="0">
                <a:solidFill>
                  <a:srgbClr val="E2E8F0"/>
                </a:solidFill>
                <a:latin typeface="Inter"/>
              </a:rPr>
              <a:t> e </a:t>
            </a:r>
            <a:r>
              <a:rPr sz="1019" b="0" dirty="0" err="1">
                <a:solidFill>
                  <a:srgbClr val="E2E8F0"/>
                </a:solidFill>
                <a:latin typeface="Inter"/>
              </a:rPr>
              <a:t>Programa</a:t>
            </a:r>
            <a:r>
              <a:rPr sz="1019" b="0" dirty="0">
                <a:solidFill>
                  <a:srgbClr val="E2E8F0"/>
                </a:solidFill>
                <a:latin typeface="Inter"/>
              </a:rPr>
              <a:t> 5 com update </a:t>
            </a:r>
            <a:r>
              <a:rPr sz="1019" b="0" dirty="0" err="1">
                <a:solidFill>
                  <a:srgbClr val="E2E8F0"/>
                </a:solidFill>
                <a:latin typeface="Inter"/>
              </a:rPr>
              <a:t>paralelo</a:t>
            </a:r>
            <a:r>
              <a:rPr sz="1019" b="0" dirty="0">
                <a:solidFill>
                  <a:srgbClr val="E2E8F0"/>
                </a:solidFill>
                <a:latin typeface="Inter"/>
              </a:rPr>
              <a:t>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555480" y="2880360"/>
            <a:ext cx="4206240" cy="502920"/>
          </a:xfrm>
          <a:prstGeom prst="rect">
            <a:avLst/>
          </a:prstGeom>
          <a:solidFill>
            <a:srgbClr val="020617"/>
          </a:solidFill>
          <a:ln w="9525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36576" rIns="54864" bIns="36576" rtlCol="0" anchor="ctr"/>
          <a:lstStyle/>
          <a:p>
            <a:pPr algn="l"/>
            <a:r>
              <a:rPr sz="1019" b="0">
                <a:solidFill>
                  <a:srgbClr val="E2E8F0"/>
                </a:solidFill>
                <a:latin typeface="Inter"/>
              </a:rPr>
              <a:t>program1_generation_parallel.py; program5_cover11.py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3761719" y="2880360"/>
            <a:ext cx="1828800" cy="502920"/>
          </a:xfrm>
          <a:prstGeom prst="rect">
            <a:avLst/>
          </a:prstGeom>
          <a:solidFill>
            <a:srgbClr val="020617"/>
          </a:solidFill>
          <a:ln w="9525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36576" rIns="54864" bIns="36576" rtlCol="0" anchor="ctr"/>
          <a:lstStyle/>
          <a:p>
            <a:pPr algn="ctr"/>
            <a:r>
              <a:rPr sz="1019" b="0">
                <a:solidFill>
                  <a:srgbClr val="E2E8F0"/>
                </a:solidFill>
                <a:latin typeface="Inter"/>
              </a:rPr>
              <a:t>Implementado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43000" y="3383280"/>
            <a:ext cx="2926080" cy="502920"/>
          </a:xfrm>
          <a:prstGeom prst="rect">
            <a:avLst/>
          </a:prstGeom>
          <a:solidFill>
            <a:srgbClr val="0F172A"/>
          </a:solidFill>
          <a:ln w="9525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18288" rIns="36576" bIns="18288" rtlCol="0" anchor="ctr"/>
          <a:lstStyle/>
          <a:p>
            <a:pPr algn="l"/>
            <a:r>
              <a:rPr sz="1019" b="1">
                <a:solidFill>
                  <a:srgbClr val="E2E8F0"/>
                </a:solidFill>
                <a:latin typeface="Inter"/>
              </a:rPr>
              <a:t>Probabilístico / randômico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069080" y="3383280"/>
            <a:ext cx="5486400" cy="502920"/>
          </a:xfrm>
          <a:prstGeom prst="rect">
            <a:avLst/>
          </a:prstGeom>
          <a:solidFill>
            <a:srgbClr val="0F172A"/>
          </a:solidFill>
          <a:ln w="9525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18288" rIns="36576" bIns="18288" rtlCol="0" anchor="ctr"/>
          <a:lstStyle/>
          <a:p>
            <a:pPr algn="l"/>
            <a:r>
              <a:rPr sz="1019" b="0" dirty="0">
                <a:solidFill>
                  <a:srgbClr val="E2E8F0"/>
                </a:solidFill>
                <a:latin typeface="Inter"/>
              </a:rPr>
              <a:t>Stochastic Greedy </a:t>
            </a:r>
            <a:r>
              <a:rPr sz="1019" b="0" dirty="0" err="1">
                <a:solidFill>
                  <a:srgbClr val="E2E8F0"/>
                </a:solidFill>
                <a:latin typeface="Inter"/>
              </a:rPr>
              <a:t>amostra</a:t>
            </a:r>
            <a:r>
              <a:rPr sz="1019" b="0" dirty="0">
                <a:solidFill>
                  <a:srgbClr val="E2E8F0"/>
                </a:solidFill>
                <a:latin typeface="Inter"/>
              </a:rPr>
              <a:t> </a:t>
            </a:r>
            <a:r>
              <a:rPr sz="1019" b="0" dirty="0" err="1">
                <a:solidFill>
                  <a:srgbClr val="E2E8F0"/>
                </a:solidFill>
                <a:latin typeface="Inter"/>
              </a:rPr>
              <a:t>candidatos</a:t>
            </a:r>
            <a:r>
              <a:rPr sz="1019" b="0" dirty="0">
                <a:solidFill>
                  <a:srgbClr val="E2E8F0"/>
                </a:solidFill>
                <a:latin typeface="Inter"/>
              </a:rPr>
              <a:t> e </a:t>
            </a:r>
            <a:r>
              <a:rPr sz="1019" b="0" dirty="0" err="1">
                <a:solidFill>
                  <a:srgbClr val="E2E8F0"/>
                </a:solidFill>
                <a:latin typeface="Inter"/>
              </a:rPr>
              <a:t>reduz</a:t>
            </a:r>
            <a:r>
              <a:rPr sz="1019" b="0" dirty="0">
                <a:solidFill>
                  <a:srgbClr val="E2E8F0"/>
                </a:solidFill>
                <a:latin typeface="Inter"/>
              </a:rPr>
              <a:t> </a:t>
            </a:r>
            <a:r>
              <a:rPr sz="1019" b="0" dirty="0" err="1">
                <a:solidFill>
                  <a:srgbClr val="E2E8F0"/>
                </a:solidFill>
                <a:latin typeface="Inter"/>
              </a:rPr>
              <a:t>custo</a:t>
            </a:r>
            <a:r>
              <a:rPr sz="1019" b="0" dirty="0">
                <a:solidFill>
                  <a:srgbClr val="E2E8F0"/>
                </a:solidFill>
                <a:latin typeface="Inter"/>
              </a:rPr>
              <a:t> </a:t>
            </a:r>
            <a:r>
              <a:rPr sz="1019" b="0" dirty="0" err="1">
                <a:solidFill>
                  <a:srgbClr val="E2E8F0"/>
                </a:solidFill>
                <a:latin typeface="Inter"/>
              </a:rPr>
              <a:t>por</a:t>
            </a:r>
            <a:r>
              <a:rPr sz="1019" b="0" dirty="0">
                <a:solidFill>
                  <a:srgbClr val="E2E8F0"/>
                </a:solidFill>
                <a:latin typeface="Inter"/>
              </a:rPr>
              <a:t> </a:t>
            </a:r>
            <a:r>
              <a:rPr sz="1019" b="0" dirty="0" err="1">
                <a:solidFill>
                  <a:srgbClr val="E2E8F0"/>
                </a:solidFill>
                <a:latin typeface="Inter"/>
              </a:rPr>
              <a:t>iteração</a:t>
            </a:r>
            <a:r>
              <a:rPr sz="1019" b="0" dirty="0">
                <a:solidFill>
                  <a:srgbClr val="E2E8F0"/>
                </a:solidFill>
                <a:latin typeface="Inter"/>
              </a:rPr>
              <a:t>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555480" y="3383280"/>
            <a:ext cx="4206240" cy="502920"/>
          </a:xfrm>
          <a:prstGeom prst="rect">
            <a:avLst/>
          </a:prstGeom>
          <a:solidFill>
            <a:srgbClr val="0F172A"/>
          </a:solidFill>
          <a:ln w="9525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36576" rIns="54864" bIns="36576" rtlCol="0" anchor="ctr"/>
          <a:lstStyle/>
          <a:p>
            <a:pPr algn="l"/>
            <a:r>
              <a:rPr sz="1019" b="0">
                <a:solidFill>
                  <a:srgbClr val="E2E8F0"/>
                </a:solidFill>
                <a:latin typeface="Inter"/>
              </a:rPr>
              <a:t>experiments/stochastic_greedy.py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3761719" y="3383280"/>
            <a:ext cx="1828800" cy="502920"/>
          </a:xfrm>
          <a:prstGeom prst="rect">
            <a:avLst/>
          </a:prstGeom>
          <a:solidFill>
            <a:srgbClr val="0F172A"/>
          </a:solidFill>
          <a:ln w="9525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36576" rIns="54864" bIns="36576" rtlCol="0" anchor="ctr"/>
          <a:lstStyle/>
          <a:p>
            <a:pPr algn="ctr"/>
            <a:r>
              <a:rPr sz="1019" b="0">
                <a:solidFill>
                  <a:srgbClr val="E2E8F0"/>
                </a:solidFill>
                <a:latin typeface="Inter"/>
              </a:rPr>
              <a:t>Benchmark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43000" y="3886200"/>
            <a:ext cx="2926080" cy="502920"/>
          </a:xfrm>
          <a:prstGeom prst="rect">
            <a:avLst/>
          </a:prstGeom>
          <a:solidFill>
            <a:srgbClr val="020617"/>
          </a:solidFill>
          <a:ln w="9525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18288" rIns="36576" bIns="18288" rtlCol="0" anchor="ctr"/>
          <a:lstStyle/>
          <a:p>
            <a:pPr algn="l"/>
            <a:r>
              <a:rPr sz="1019" b="1">
                <a:solidFill>
                  <a:srgbClr val="E2E8F0"/>
                </a:solidFill>
                <a:latin typeface="Inter"/>
              </a:rPr>
              <a:t>Metaheurísticas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069080" y="3886200"/>
            <a:ext cx="5486400" cy="502920"/>
          </a:xfrm>
          <a:prstGeom prst="rect">
            <a:avLst/>
          </a:prstGeom>
          <a:solidFill>
            <a:srgbClr val="020617"/>
          </a:solidFill>
          <a:ln w="9525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18288" rIns="36576" bIns="18288" rtlCol="0" anchor="ctr"/>
          <a:lstStyle/>
          <a:p>
            <a:pPr algn="l"/>
            <a:r>
              <a:rPr sz="1019" b="0" dirty="0">
                <a:solidFill>
                  <a:srgbClr val="E2E8F0"/>
                </a:solidFill>
                <a:latin typeface="Inter"/>
              </a:rPr>
              <a:t>GRASP </a:t>
            </a:r>
            <a:r>
              <a:rPr sz="1019" b="0" dirty="0" err="1">
                <a:solidFill>
                  <a:srgbClr val="E2E8F0"/>
                </a:solidFill>
                <a:latin typeface="Inter"/>
              </a:rPr>
              <a:t>constrói</a:t>
            </a:r>
            <a:r>
              <a:rPr sz="1019" b="0" dirty="0">
                <a:solidFill>
                  <a:srgbClr val="E2E8F0"/>
                </a:solidFill>
                <a:latin typeface="Inter"/>
              </a:rPr>
              <a:t> </a:t>
            </a:r>
            <a:r>
              <a:rPr sz="1019" b="0" dirty="0" err="1">
                <a:solidFill>
                  <a:srgbClr val="E2E8F0"/>
                </a:solidFill>
                <a:latin typeface="Inter"/>
              </a:rPr>
              <a:t>soluções</a:t>
            </a:r>
            <a:r>
              <a:rPr sz="1019" b="0" dirty="0">
                <a:solidFill>
                  <a:srgbClr val="E2E8F0"/>
                </a:solidFill>
                <a:latin typeface="Inter"/>
              </a:rPr>
              <a:t> </a:t>
            </a:r>
            <a:r>
              <a:rPr sz="1019" b="0" dirty="0" err="1">
                <a:solidFill>
                  <a:srgbClr val="E2E8F0"/>
                </a:solidFill>
                <a:latin typeface="Inter"/>
              </a:rPr>
              <a:t>aleatórias-gulosas</a:t>
            </a:r>
            <a:r>
              <a:rPr sz="1019" b="0" dirty="0">
                <a:solidFill>
                  <a:srgbClr val="E2E8F0"/>
                </a:solidFill>
                <a:latin typeface="Inter"/>
              </a:rPr>
              <a:t> e </a:t>
            </a:r>
            <a:r>
              <a:rPr sz="1019" b="0" dirty="0" err="1">
                <a:solidFill>
                  <a:srgbClr val="E2E8F0"/>
                </a:solidFill>
                <a:latin typeface="Inter"/>
              </a:rPr>
              <a:t>aplica</a:t>
            </a:r>
            <a:r>
              <a:rPr sz="1019" b="0" dirty="0">
                <a:solidFill>
                  <a:srgbClr val="E2E8F0"/>
                </a:solidFill>
                <a:latin typeface="Inter"/>
              </a:rPr>
              <a:t> </a:t>
            </a:r>
            <a:r>
              <a:rPr sz="1019" b="0" dirty="0" err="1">
                <a:solidFill>
                  <a:srgbClr val="E2E8F0"/>
                </a:solidFill>
                <a:latin typeface="Inter"/>
              </a:rPr>
              <a:t>poda</a:t>
            </a:r>
            <a:r>
              <a:rPr sz="1019" b="0" dirty="0">
                <a:solidFill>
                  <a:srgbClr val="E2E8F0"/>
                </a:solidFill>
                <a:latin typeface="Inter"/>
              </a:rPr>
              <a:t> local.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555480" y="3886200"/>
            <a:ext cx="4206240" cy="502920"/>
          </a:xfrm>
          <a:prstGeom prst="rect">
            <a:avLst/>
          </a:prstGeom>
          <a:solidFill>
            <a:srgbClr val="020617"/>
          </a:solidFill>
          <a:ln w="9525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36576" rIns="54864" bIns="36576" rtlCol="0" anchor="ctr"/>
          <a:lstStyle/>
          <a:p>
            <a:pPr algn="l"/>
            <a:r>
              <a:rPr sz="1019" b="0">
                <a:solidFill>
                  <a:srgbClr val="E2E8F0"/>
                </a:solidFill>
                <a:latin typeface="Inter"/>
              </a:rPr>
              <a:t>experiments/grasp.py; local_search.py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3761719" y="3886200"/>
            <a:ext cx="1828800" cy="502920"/>
          </a:xfrm>
          <a:prstGeom prst="rect">
            <a:avLst/>
          </a:prstGeom>
          <a:solidFill>
            <a:srgbClr val="020617"/>
          </a:solidFill>
          <a:ln w="9525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36576" rIns="54864" bIns="36576" rtlCol="0" anchor="ctr"/>
          <a:lstStyle/>
          <a:p>
            <a:pPr algn="ctr"/>
            <a:r>
              <a:rPr sz="1019" b="0">
                <a:solidFill>
                  <a:srgbClr val="E2E8F0"/>
                </a:solidFill>
                <a:latin typeface="Inter"/>
              </a:rPr>
              <a:t>Benchmark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143000" y="4389120"/>
            <a:ext cx="2926080" cy="502920"/>
          </a:xfrm>
          <a:prstGeom prst="rect">
            <a:avLst/>
          </a:prstGeom>
          <a:solidFill>
            <a:srgbClr val="0F172A"/>
          </a:solidFill>
          <a:ln w="9525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18288" rIns="36576" bIns="18288" rtlCol="0" anchor="ctr"/>
          <a:lstStyle/>
          <a:p>
            <a:pPr algn="l"/>
            <a:r>
              <a:rPr sz="1019" b="1">
                <a:solidFill>
                  <a:srgbClr val="E2E8F0"/>
                </a:solidFill>
                <a:latin typeface="Inter"/>
              </a:rPr>
              <a:t>Programação inteira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069080" y="4389120"/>
            <a:ext cx="5486400" cy="502920"/>
          </a:xfrm>
          <a:prstGeom prst="rect">
            <a:avLst/>
          </a:prstGeom>
          <a:solidFill>
            <a:srgbClr val="0F172A"/>
          </a:solidFill>
          <a:ln w="9525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18288" rIns="36576" bIns="18288" rtlCol="0" anchor="ctr"/>
          <a:lstStyle/>
          <a:p>
            <a:pPr algn="l"/>
            <a:r>
              <a:rPr sz="1019" b="0" dirty="0">
                <a:solidFill>
                  <a:srgbClr val="E2E8F0"/>
                </a:solidFill>
                <a:latin typeface="Inter"/>
              </a:rPr>
              <a:t>ILP </a:t>
            </a:r>
            <a:r>
              <a:rPr sz="1019" b="0" dirty="0" err="1">
                <a:solidFill>
                  <a:srgbClr val="E2E8F0"/>
                </a:solidFill>
                <a:latin typeface="Inter"/>
              </a:rPr>
              <a:t>direto</a:t>
            </a:r>
            <a:r>
              <a:rPr sz="1019" b="0" dirty="0">
                <a:solidFill>
                  <a:srgbClr val="E2E8F0"/>
                </a:solidFill>
                <a:latin typeface="Inter"/>
              </a:rPr>
              <a:t> </a:t>
            </a:r>
            <a:r>
              <a:rPr sz="1019" b="0" dirty="0" err="1">
                <a:solidFill>
                  <a:srgbClr val="E2E8F0"/>
                </a:solidFill>
                <a:latin typeface="Inter"/>
              </a:rPr>
              <a:t>modelado</a:t>
            </a:r>
            <a:r>
              <a:rPr sz="1019" b="0" dirty="0">
                <a:solidFill>
                  <a:srgbClr val="E2E8F0"/>
                </a:solidFill>
                <a:latin typeface="Inter"/>
              </a:rPr>
              <a:t>; </a:t>
            </a:r>
            <a:r>
              <a:rPr sz="1019" b="0" dirty="0" err="1">
                <a:solidFill>
                  <a:srgbClr val="E2E8F0"/>
                </a:solidFill>
                <a:latin typeface="Inter"/>
              </a:rPr>
              <a:t>usado</a:t>
            </a:r>
            <a:r>
              <a:rPr sz="1019" b="0" dirty="0">
                <a:solidFill>
                  <a:srgbClr val="E2E8F0"/>
                </a:solidFill>
                <a:latin typeface="Inter"/>
              </a:rPr>
              <a:t> </a:t>
            </a:r>
            <a:r>
              <a:rPr sz="1019" b="0" dirty="0" err="1">
                <a:solidFill>
                  <a:srgbClr val="E2E8F0"/>
                </a:solidFill>
                <a:latin typeface="Inter"/>
              </a:rPr>
              <a:t>como</a:t>
            </a:r>
            <a:r>
              <a:rPr sz="1019" b="0" dirty="0">
                <a:solidFill>
                  <a:srgbClr val="E2E8F0"/>
                </a:solidFill>
                <a:latin typeface="Inter"/>
              </a:rPr>
              <a:t> </a:t>
            </a:r>
            <a:r>
              <a:rPr sz="1019" b="0" dirty="0" err="1">
                <a:solidFill>
                  <a:srgbClr val="E2E8F0"/>
                </a:solidFill>
                <a:latin typeface="Inter"/>
              </a:rPr>
              <a:t>referência</a:t>
            </a:r>
            <a:r>
              <a:rPr sz="1019" b="0" dirty="0">
                <a:solidFill>
                  <a:srgbClr val="E2E8F0"/>
                </a:solidFill>
                <a:latin typeface="Inter"/>
              </a:rPr>
              <a:t> de </a:t>
            </a:r>
            <a:r>
              <a:rPr sz="1019" b="0" dirty="0" err="1">
                <a:solidFill>
                  <a:srgbClr val="E2E8F0"/>
                </a:solidFill>
                <a:latin typeface="Inter"/>
              </a:rPr>
              <a:t>inviabilidade</a:t>
            </a:r>
            <a:r>
              <a:rPr sz="1019" b="0" dirty="0">
                <a:solidFill>
                  <a:srgbClr val="E2E8F0"/>
                </a:solidFill>
                <a:latin typeface="Inter"/>
              </a:rPr>
              <a:t> em </a:t>
            </a:r>
            <a:r>
              <a:rPr sz="1019" b="0" dirty="0" err="1">
                <a:solidFill>
                  <a:srgbClr val="E2E8F0"/>
                </a:solidFill>
                <a:latin typeface="Inter"/>
              </a:rPr>
              <a:t>escala</a:t>
            </a:r>
            <a:r>
              <a:rPr sz="1019" b="0" dirty="0">
                <a:solidFill>
                  <a:srgbClr val="E2E8F0"/>
                </a:solidFill>
                <a:latin typeface="Inter"/>
              </a:rPr>
              <a:t>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555480" y="4389120"/>
            <a:ext cx="4206240" cy="502920"/>
          </a:xfrm>
          <a:prstGeom prst="rect">
            <a:avLst/>
          </a:prstGeom>
          <a:solidFill>
            <a:srgbClr val="0F172A"/>
          </a:solidFill>
          <a:ln w="9525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36576" rIns="54864" bIns="36576" rtlCol="0" anchor="ctr"/>
          <a:lstStyle/>
          <a:p>
            <a:pPr algn="l"/>
            <a:r>
              <a:rPr sz="1019" b="0">
                <a:solidFill>
                  <a:srgbClr val="E2E8F0"/>
                </a:solidFill>
                <a:latin typeface="Inter"/>
              </a:rPr>
              <a:t>modelagem ILP + coeficientes no deck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3761719" y="4389120"/>
            <a:ext cx="1828800" cy="502920"/>
          </a:xfrm>
          <a:prstGeom prst="rect">
            <a:avLst/>
          </a:prstGeom>
          <a:solidFill>
            <a:srgbClr val="0F172A"/>
          </a:solidFill>
          <a:ln w="9525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36576" rIns="54864" bIns="36576" rtlCol="0" anchor="ctr"/>
          <a:lstStyle/>
          <a:p>
            <a:pPr algn="ctr"/>
            <a:r>
              <a:rPr sz="1019" b="0">
                <a:solidFill>
                  <a:srgbClr val="E2E8F0"/>
                </a:solidFill>
                <a:latin typeface="Inter"/>
              </a:rPr>
              <a:t>Analisado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143000" y="4892040"/>
            <a:ext cx="2926080" cy="502920"/>
          </a:xfrm>
          <a:prstGeom prst="rect">
            <a:avLst/>
          </a:prstGeom>
          <a:solidFill>
            <a:srgbClr val="020617"/>
          </a:solidFill>
          <a:ln w="9525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36576" rIns="54864" bIns="36576" rtlCol="0" anchor="ctr"/>
          <a:lstStyle/>
          <a:p>
            <a:pPr algn="l"/>
            <a:r>
              <a:rPr sz="1019" b="1">
                <a:solidFill>
                  <a:srgbClr val="7DD3FC"/>
                </a:solidFill>
                <a:latin typeface="Inter"/>
              </a:rPr>
              <a:t>Branch and Bound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069080" y="4892040"/>
            <a:ext cx="5486400" cy="502920"/>
          </a:xfrm>
          <a:prstGeom prst="rect">
            <a:avLst/>
          </a:prstGeom>
          <a:solidFill>
            <a:srgbClr val="020617"/>
          </a:solidFill>
          <a:ln w="9525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18288" rIns="36576" bIns="18288" rtlCol="0" anchor="ctr"/>
          <a:lstStyle/>
          <a:p>
            <a:pPr algn="l"/>
            <a:r>
              <a:rPr sz="1019" b="0" dirty="0" err="1">
                <a:solidFill>
                  <a:srgbClr val="E2E8F0"/>
                </a:solidFill>
                <a:latin typeface="Inter"/>
              </a:rPr>
              <a:t>Eixo</a:t>
            </a:r>
            <a:r>
              <a:rPr sz="1019" b="0" dirty="0">
                <a:solidFill>
                  <a:srgbClr val="E2E8F0"/>
                </a:solidFill>
                <a:latin typeface="Inter"/>
              </a:rPr>
              <a:t> </a:t>
            </a:r>
            <a:r>
              <a:rPr sz="1019" b="0" dirty="0" err="1">
                <a:solidFill>
                  <a:srgbClr val="E2E8F0"/>
                </a:solidFill>
                <a:latin typeface="Inter"/>
              </a:rPr>
              <a:t>exato</a:t>
            </a:r>
            <a:r>
              <a:rPr sz="1019" b="0" dirty="0">
                <a:solidFill>
                  <a:srgbClr val="E2E8F0"/>
                </a:solidFill>
                <a:latin typeface="Inter"/>
              </a:rPr>
              <a:t> </a:t>
            </a:r>
            <a:r>
              <a:rPr sz="1019" b="0" dirty="0" err="1">
                <a:solidFill>
                  <a:srgbClr val="E2E8F0"/>
                </a:solidFill>
                <a:latin typeface="Inter"/>
              </a:rPr>
              <a:t>associado</a:t>
            </a:r>
            <a:r>
              <a:rPr sz="1019" b="0" dirty="0">
                <a:solidFill>
                  <a:srgbClr val="E2E8F0"/>
                </a:solidFill>
                <a:latin typeface="Inter"/>
              </a:rPr>
              <a:t> a ILP; </a:t>
            </a:r>
            <a:r>
              <a:rPr sz="1019" b="0" dirty="0" err="1">
                <a:solidFill>
                  <a:srgbClr val="E2E8F0"/>
                </a:solidFill>
                <a:latin typeface="Inter"/>
              </a:rPr>
              <a:t>descartado</a:t>
            </a:r>
            <a:r>
              <a:rPr sz="1019" b="0" dirty="0">
                <a:solidFill>
                  <a:srgbClr val="E2E8F0"/>
                </a:solidFill>
                <a:latin typeface="Inter"/>
              </a:rPr>
              <a:t> em </a:t>
            </a:r>
            <a:r>
              <a:rPr sz="1019" b="0" dirty="0" err="1">
                <a:solidFill>
                  <a:srgbClr val="E2E8F0"/>
                </a:solidFill>
                <a:latin typeface="Inter"/>
              </a:rPr>
              <a:t>escala</a:t>
            </a:r>
            <a:r>
              <a:rPr sz="1019" b="0" dirty="0">
                <a:solidFill>
                  <a:srgbClr val="E2E8F0"/>
                </a:solidFill>
                <a:latin typeface="Inter"/>
              </a:rPr>
              <a:t> completa </a:t>
            </a:r>
            <a:r>
              <a:rPr sz="1019" b="0" dirty="0" err="1">
                <a:solidFill>
                  <a:srgbClr val="E2E8F0"/>
                </a:solidFill>
                <a:latin typeface="Inter"/>
              </a:rPr>
              <a:t>por</a:t>
            </a:r>
            <a:r>
              <a:rPr sz="1019" b="0" dirty="0">
                <a:solidFill>
                  <a:srgbClr val="E2E8F0"/>
                </a:solidFill>
                <a:latin typeface="Inter"/>
              </a:rPr>
              <a:t> </a:t>
            </a:r>
            <a:r>
              <a:rPr sz="1019" b="0" dirty="0" err="1">
                <a:solidFill>
                  <a:srgbClr val="E2E8F0"/>
                </a:solidFill>
                <a:latin typeface="Inter"/>
              </a:rPr>
              <a:t>explosão</a:t>
            </a:r>
            <a:r>
              <a:rPr sz="1019" b="0" dirty="0">
                <a:solidFill>
                  <a:srgbClr val="E2E8F0"/>
                </a:solidFill>
                <a:latin typeface="Inter"/>
              </a:rPr>
              <a:t> </a:t>
            </a:r>
            <a:r>
              <a:rPr sz="1019" b="0" dirty="0" err="1">
                <a:solidFill>
                  <a:srgbClr val="E2E8F0"/>
                </a:solidFill>
                <a:latin typeface="Inter"/>
              </a:rPr>
              <a:t>combinatória</a:t>
            </a:r>
            <a:r>
              <a:rPr sz="1019" b="0" dirty="0">
                <a:solidFill>
                  <a:srgbClr val="E2E8F0"/>
                </a:solidFill>
                <a:latin typeface="Inter"/>
              </a:rPr>
              <a:t>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555480" y="4892040"/>
            <a:ext cx="4206240" cy="502920"/>
          </a:xfrm>
          <a:prstGeom prst="rect">
            <a:avLst/>
          </a:prstGeom>
          <a:solidFill>
            <a:srgbClr val="020617"/>
          </a:solidFill>
          <a:ln w="9525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18288" rIns="36576" bIns="18288" rtlCol="0" anchor="ctr"/>
          <a:lstStyle/>
          <a:p>
            <a:pPr algn="l"/>
            <a:r>
              <a:rPr sz="1019" b="0">
                <a:solidFill>
                  <a:srgbClr val="E2E8F0"/>
                </a:solidFill>
                <a:latin typeface="Inter"/>
              </a:rPr>
              <a:t>comparativo teórico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3761719" y="4892040"/>
            <a:ext cx="1828800" cy="502920"/>
          </a:xfrm>
          <a:prstGeom prst="rect">
            <a:avLst/>
          </a:prstGeom>
          <a:solidFill>
            <a:srgbClr val="020617"/>
          </a:solidFill>
          <a:ln w="9525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36576" rIns="54864" bIns="36576" rtlCol="0" anchor="ctr"/>
          <a:lstStyle/>
          <a:p>
            <a:pPr algn="ctr"/>
            <a:r>
              <a:rPr sz="1019" b="0">
                <a:solidFill>
                  <a:srgbClr val="E2E8F0"/>
                </a:solidFill>
                <a:latin typeface="Inter"/>
              </a:rPr>
              <a:t>Justificado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143000" y="5394960"/>
            <a:ext cx="2926080" cy="502920"/>
          </a:xfrm>
          <a:prstGeom prst="rect">
            <a:avLst/>
          </a:prstGeom>
          <a:solidFill>
            <a:srgbClr val="0F172A"/>
          </a:solidFill>
          <a:ln w="9525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36576" rIns="54864" bIns="36576" rtlCol="0" anchor="ctr"/>
          <a:lstStyle/>
          <a:p>
            <a:pPr algn="l"/>
            <a:r>
              <a:rPr sz="1019" b="1">
                <a:solidFill>
                  <a:srgbClr val="7DD3FC"/>
                </a:solidFill>
                <a:latin typeface="Inter"/>
              </a:rPr>
              <a:t>Outras abordagens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069080" y="5394960"/>
            <a:ext cx="5486400" cy="502920"/>
          </a:xfrm>
          <a:prstGeom prst="rect">
            <a:avLst/>
          </a:prstGeom>
          <a:solidFill>
            <a:srgbClr val="0F172A"/>
          </a:solidFill>
          <a:ln w="9525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18288" rIns="36576" bIns="18288" rtlCol="0" anchor="ctr"/>
          <a:lstStyle/>
          <a:p>
            <a:pPr algn="l"/>
            <a:r>
              <a:rPr sz="1019" b="0" dirty="0" err="1">
                <a:solidFill>
                  <a:srgbClr val="E2E8F0"/>
                </a:solidFill>
                <a:latin typeface="Inter"/>
              </a:rPr>
              <a:t>Relaxação</a:t>
            </a:r>
            <a:r>
              <a:rPr sz="1019" b="0" dirty="0">
                <a:solidFill>
                  <a:srgbClr val="E2E8F0"/>
                </a:solidFill>
                <a:latin typeface="Inter"/>
              </a:rPr>
              <a:t> </a:t>
            </a:r>
            <a:r>
              <a:rPr sz="1019" b="0" dirty="0" err="1">
                <a:solidFill>
                  <a:srgbClr val="E2E8F0"/>
                </a:solidFill>
                <a:latin typeface="Inter"/>
              </a:rPr>
              <a:t>Lagrangiana</a:t>
            </a:r>
            <a:r>
              <a:rPr sz="1019" b="0" dirty="0">
                <a:solidFill>
                  <a:srgbClr val="E2E8F0"/>
                </a:solidFill>
                <a:latin typeface="Inter"/>
              </a:rPr>
              <a:t> e Column Generation </a:t>
            </a:r>
            <a:r>
              <a:rPr sz="1019" b="0" dirty="0" err="1">
                <a:solidFill>
                  <a:srgbClr val="E2E8F0"/>
                </a:solidFill>
                <a:latin typeface="Inter"/>
              </a:rPr>
              <a:t>aproximam</a:t>
            </a:r>
            <a:r>
              <a:rPr sz="1019" b="0" dirty="0">
                <a:solidFill>
                  <a:srgbClr val="E2E8F0"/>
                </a:solidFill>
                <a:latin typeface="Inter"/>
              </a:rPr>
              <a:t> </a:t>
            </a:r>
            <a:r>
              <a:rPr sz="1019" b="0" dirty="0" err="1">
                <a:solidFill>
                  <a:srgbClr val="E2E8F0"/>
                </a:solidFill>
                <a:latin typeface="Inter"/>
              </a:rPr>
              <a:t>limites</a:t>
            </a:r>
            <a:r>
              <a:rPr sz="1019" b="0" dirty="0">
                <a:solidFill>
                  <a:srgbClr val="E2E8F0"/>
                </a:solidFill>
                <a:latin typeface="Inter"/>
              </a:rPr>
              <a:t>/LP em </a:t>
            </a:r>
            <a:r>
              <a:rPr sz="1019" b="0" dirty="0" err="1">
                <a:solidFill>
                  <a:srgbClr val="E2E8F0"/>
                </a:solidFill>
                <a:latin typeface="Inter"/>
              </a:rPr>
              <a:t>instâncias</a:t>
            </a:r>
            <a:r>
              <a:rPr sz="1019" b="0" dirty="0">
                <a:solidFill>
                  <a:srgbClr val="E2E8F0"/>
                </a:solidFill>
                <a:latin typeface="Inter"/>
              </a:rPr>
              <a:t> </a:t>
            </a:r>
            <a:r>
              <a:rPr sz="1019" b="0" dirty="0" err="1">
                <a:solidFill>
                  <a:srgbClr val="E2E8F0"/>
                </a:solidFill>
                <a:latin typeface="Inter"/>
              </a:rPr>
              <a:t>reduzidas</a:t>
            </a:r>
            <a:r>
              <a:rPr sz="1019" b="0" dirty="0">
                <a:solidFill>
                  <a:srgbClr val="E2E8F0"/>
                </a:solidFill>
                <a:latin typeface="Inter"/>
              </a:rPr>
              <a:t>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555480" y="5394960"/>
            <a:ext cx="4206240" cy="502920"/>
          </a:xfrm>
          <a:prstGeom prst="rect">
            <a:avLst/>
          </a:prstGeom>
          <a:solidFill>
            <a:srgbClr val="0F172A"/>
          </a:solidFill>
          <a:ln w="9525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36576" rIns="54864" bIns="36576" rtlCol="0" anchor="ctr"/>
          <a:lstStyle/>
          <a:p>
            <a:pPr algn="l"/>
            <a:r>
              <a:rPr sz="1019" b="0">
                <a:solidFill>
                  <a:srgbClr val="E2E8F0"/>
                </a:solidFill>
                <a:latin typeface="Inter"/>
              </a:rPr>
              <a:t>experiments/lagrangian_demo.py; column_generation_demo.py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3761719" y="5394960"/>
            <a:ext cx="1828800" cy="502920"/>
          </a:xfrm>
          <a:prstGeom prst="rect">
            <a:avLst/>
          </a:prstGeom>
          <a:solidFill>
            <a:srgbClr val="0F172A"/>
          </a:solidFill>
          <a:ln w="9525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36576" rIns="54864" bIns="36576" rtlCol="0" anchor="ctr"/>
          <a:lstStyle/>
          <a:p>
            <a:pPr algn="ctr"/>
            <a:r>
              <a:rPr sz="1019" b="0">
                <a:solidFill>
                  <a:srgbClr val="E2E8F0"/>
                </a:solidFill>
                <a:latin typeface="Inter"/>
              </a:rPr>
              <a:t>Demonstrado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43000" y="8321040"/>
            <a:ext cx="14447520" cy="347472"/>
          </a:xfrm>
          <a:prstGeom prst="rect">
            <a:avLst/>
          </a:prstGeom>
          <a:noFill/>
        </p:spPr>
        <p:txBody>
          <a:bodyPr wrap="none" lIns="36576" tIns="18288" rIns="36576" bIns="18288" anchor="ctr">
            <a:spAutoFit/>
          </a:bodyPr>
          <a:lstStyle/>
          <a:p>
            <a:pPr algn="l"/>
            <a:r>
              <a:rPr sz="1300" b="1">
                <a:solidFill>
                  <a:srgbClr val="E2E8F0"/>
                </a:solidFill>
                <a:latin typeface="Inter"/>
              </a:rPr>
              <a:t>Leitura: métodos exatos são usados como referência científica; métodos aproximativos e randômicos foram executados para medir troca entre tempo e qualidade.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893808" y="9665208"/>
            <a:ext cx="128016" cy="164592"/>
          </a:xfrm>
          <a:prstGeom prst="rect">
            <a:avLst/>
          </a:prstGeom>
          <a:noFill/>
        </p:spPr>
        <p:txBody>
          <a:bodyPr wrap="none" lIns="36576" tIns="18288" rIns="36576" bIns="18288" anchor="ctr">
            <a:spAutoFit/>
          </a:bodyPr>
          <a:lstStyle/>
          <a:p>
            <a:pPr algn="ctr"/>
            <a:r>
              <a:rPr sz="800" b="0">
                <a:solidFill>
                  <a:srgbClr val="475569"/>
                </a:solidFill>
                <a:latin typeface="Inter"/>
              </a:rPr>
              <a:t>●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58400" y="9665208"/>
            <a:ext cx="128016" cy="164592"/>
          </a:xfrm>
          <a:prstGeom prst="rect">
            <a:avLst/>
          </a:prstGeom>
          <a:noFill/>
        </p:spPr>
        <p:txBody>
          <a:bodyPr wrap="none" lIns="36576" tIns="18288" rIns="36576" bIns="18288" anchor="ctr">
            <a:spAutoFit/>
          </a:bodyPr>
          <a:lstStyle/>
          <a:p>
            <a:pPr algn="ctr"/>
            <a:r>
              <a:rPr sz="800" b="0">
                <a:solidFill>
                  <a:srgbClr val="475569"/>
                </a:solidFill>
                <a:latin typeface="Inter"/>
              </a:rPr>
              <a:t>●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222992" y="9665208"/>
            <a:ext cx="128016" cy="164592"/>
          </a:xfrm>
          <a:prstGeom prst="rect">
            <a:avLst/>
          </a:prstGeom>
          <a:noFill/>
        </p:spPr>
        <p:txBody>
          <a:bodyPr wrap="none" lIns="36576" tIns="18288" rIns="36576" bIns="18288" anchor="ctr">
            <a:spAutoFit/>
          </a:bodyPr>
          <a:lstStyle/>
          <a:p>
            <a:pPr algn="ctr"/>
            <a:r>
              <a:rPr sz="800" b="0">
                <a:solidFill>
                  <a:srgbClr val="475569"/>
                </a:solidFill>
                <a:latin typeface="Inter"/>
              </a:rPr>
              <a:t>●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387584" y="9665208"/>
            <a:ext cx="128016" cy="164592"/>
          </a:xfrm>
          <a:prstGeom prst="rect">
            <a:avLst/>
          </a:prstGeom>
          <a:noFill/>
        </p:spPr>
        <p:txBody>
          <a:bodyPr wrap="none" lIns="36576" tIns="18288" rIns="36576" bIns="18288" anchor="ctr">
            <a:spAutoFit/>
          </a:bodyPr>
          <a:lstStyle/>
          <a:p>
            <a:pPr algn="ctr"/>
            <a:r>
              <a:rPr sz="800" b="0">
                <a:solidFill>
                  <a:srgbClr val="475569"/>
                </a:solidFill>
                <a:latin typeface="Inter"/>
              </a:rPr>
              <a:t>●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52176" y="9665208"/>
            <a:ext cx="128016" cy="164592"/>
          </a:xfrm>
          <a:prstGeom prst="rect">
            <a:avLst/>
          </a:prstGeom>
          <a:noFill/>
        </p:spPr>
        <p:txBody>
          <a:bodyPr wrap="none" lIns="36576" tIns="18288" rIns="36576" bIns="18288" anchor="ctr">
            <a:spAutoFit/>
          </a:bodyPr>
          <a:lstStyle/>
          <a:p>
            <a:pPr algn="ctr"/>
            <a:r>
              <a:rPr sz="800" b="0">
                <a:solidFill>
                  <a:srgbClr val="475569"/>
                </a:solidFill>
                <a:latin typeface="Inter"/>
              </a:rPr>
              <a:t>●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716768" y="9665208"/>
            <a:ext cx="128016" cy="164592"/>
          </a:xfrm>
          <a:prstGeom prst="rect">
            <a:avLst/>
          </a:prstGeom>
          <a:noFill/>
        </p:spPr>
        <p:txBody>
          <a:bodyPr wrap="none" lIns="36576" tIns="18288" rIns="36576" bIns="18288" anchor="ctr">
            <a:spAutoFit/>
          </a:bodyPr>
          <a:lstStyle/>
          <a:p>
            <a:pPr algn="ctr"/>
            <a:r>
              <a:rPr sz="800" b="0">
                <a:solidFill>
                  <a:srgbClr val="475569"/>
                </a:solidFill>
                <a:latin typeface="Inter"/>
              </a:rPr>
              <a:t>●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881360" y="9665208"/>
            <a:ext cx="128016" cy="164592"/>
          </a:xfrm>
          <a:prstGeom prst="rect">
            <a:avLst/>
          </a:prstGeom>
          <a:noFill/>
        </p:spPr>
        <p:txBody>
          <a:bodyPr wrap="none" lIns="36576" tIns="18288" rIns="36576" bIns="18288" anchor="ctr">
            <a:spAutoFit/>
          </a:bodyPr>
          <a:lstStyle/>
          <a:p>
            <a:pPr algn="ctr"/>
            <a:r>
              <a:rPr sz="800" b="0">
                <a:solidFill>
                  <a:srgbClr val="475569"/>
                </a:solidFill>
                <a:latin typeface="Inter"/>
              </a:rPr>
              <a:t>●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045952" y="9665208"/>
            <a:ext cx="128016" cy="164592"/>
          </a:xfrm>
          <a:prstGeom prst="rect">
            <a:avLst/>
          </a:prstGeom>
          <a:noFill/>
        </p:spPr>
        <p:txBody>
          <a:bodyPr wrap="none" lIns="36576" tIns="18288" rIns="36576" bIns="18288" anchor="ctr">
            <a:spAutoFit/>
          </a:bodyPr>
          <a:lstStyle/>
          <a:p>
            <a:pPr algn="ctr"/>
            <a:r>
              <a:rPr sz="800" b="0">
                <a:solidFill>
                  <a:srgbClr val="475569"/>
                </a:solidFill>
                <a:latin typeface="Inter"/>
              </a:rPr>
              <a:t>●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210544" y="9665208"/>
            <a:ext cx="128016" cy="164592"/>
          </a:xfrm>
          <a:prstGeom prst="rect">
            <a:avLst/>
          </a:prstGeom>
          <a:noFill/>
        </p:spPr>
        <p:txBody>
          <a:bodyPr wrap="none" lIns="36576" tIns="18288" rIns="36576" bIns="18288" anchor="ctr">
            <a:spAutoFit/>
          </a:bodyPr>
          <a:lstStyle/>
          <a:p>
            <a:pPr algn="ctr"/>
            <a:r>
              <a:rPr sz="800" b="0">
                <a:solidFill>
                  <a:srgbClr val="38BDF8"/>
                </a:solidFill>
                <a:latin typeface="Inter"/>
              </a:rPr>
              <a:t>●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375136" y="9665208"/>
            <a:ext cx="128016" cy="164592"/>
          </a:xfrm>
          <a:prstGeom prst="rect">
            <a:avLst/>
          </a:prstGeom>
          <a:noFill/>
        </p:spPr>
        <p:txBody>
          <a:bodyPr wrap="none" lIns="36576" tIns="18288" rIns="36576" bIns="18288" anchor="ctr">
            <a:spAutoFit/>
          </a:bodyPr>
          <a:lstStyle/>
          <a:p>
            <a:pPr algn="ctr"/>
            <a:r>
              <a:rPr sz="800" b="0">
                <a:solidFill>
                  <a:srgbClr val="475569"/>
                </a:solidFill>
                <a:latin typeface="Inter"/>
              </a:rPr>
              <a:t>●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539728" y="9665208"/>
            <a:ext cx="128016" cy="164592"/>
          </a:xfrm>
          <a:prstGeom prst="rect">
            <a:avLst/>
          </a:prstGeom>
          <a:noFill/>
        </p:spPr>
        <p:txBody>
          <a:bodyPr wrap="none" lIns="36576" tIns="18288" rIns="36576" bIns="18288" anchor="ctr">
            <a:spAutoFit/>
          </a:bodyPr>
          <a:lstStyle/>
          <a:p>
            <a:pPr algn="ctr"/>
            <a:r>
              <a:rPr sz="800" b="0">
                <a:solidFill>
                  <a:srgbClr val="475569"/>
                </a:solidFill>
                <a:latin typeface="Inter"/>
              </a:rPr>
              <a:t>●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6504920" y="9637776"/>
            <a:ext cx="749808" cy="219456"/>
          </a:xfrm>
          <a:prstGeom prst="rect">
            <a:avLst/>
          </a:prstGeom>
          <a:noFill/>
        </p:spPr>
        <p:txBody>
          <a:bodyPr wrap="none" lIns="36576" tIns="18288" rIns="36576" bIns="18288" anchor="ctr">
            <a:spAutoFit/>
          </a:bodyPr>
          <a:lstStyle/>
          <a:p>
            <a:pPr algn="r"/>
            <a:r>
              <a:rPr sz="1050" b="0">
                <a:solidFill>
                  <a:srgbClr val="94A3B8"/>
                </a:solidFill>
                <a:latin typeface="JetBrains Mono"/>
              </a:rPr>
              <a:t>09 de 11</a:t>
            </a:r>
          </a:p>
        </p:txBody>
      </p:sp>
      <p:sp>
        <p:nvSpPr>
          <p:cNvPr id="53" name="Shape 2">
            <a:extLst>
              <a:ext uri="{FF2B5EF4-FFF2-40B4-BE49-F238E27FC236}">
                <a16:creationId xmlns:a16="http://schemas.microsoft.com/office/drawing/2014/main" id="{EA0F8C09-D507-A0E7-B666-630D2406278C}"/>
              </a:ext>
            </a:extLst>
          </p:cNvPr>
          <p:cNvSpPr/>
          <p:nvPr/>
        </p:nvSpPr>
        <p:spPr>
          <a:xfrm>
            <a:off x="1607939" y="709613"/>
            <a:ext cx="9525" cy="247650"/>
          </a:xfrm>
          <a:prstGeom prst="rect">
            <a:avLst/>
          </a:prstGeom>
          <a:solidFill>
            <a:srgbClr val="1E2640"/>
          </a:solidFill>
          <a:ln/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43000" y="685800"/>
            <a:ext cx="347472" cy="32918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36576" rIns="54864" bIns="36576" rtlCol="0" anchor="ctr"/>
          <a:lstStyle/>
          <a:p>
            <a:pPr algn="ctr"/>
            <a:r>
              <a:rPr sz="1600" b="0" dirty="0">
                <a:solidFill>
                  <a:srgbClr val="38BDF8"/>
                </a:solidFill>
                <a:latin typeface="JetBrains Mono"/>
              </a:rPr>
              <a:t>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10512" y="530352"/>
            <a:ext cx="8046720" cy="621792"/>
          </a:xfrm>
          <a:prstGeom prst="rect">
            <a:avLst/>
          </a:prstGeom>
          <a:noFill/>
        </p:spPr>
        <p:txBody>
          <a:bodyPr wrap="none" lIns="54864" tIns="36576" rIns="54864" bIns="36576" anchor="ctr">
            <a:spAutoFit/>
          </a:bodyPr>
          <a:lstStyle/>
          <a:p>
            <a:pPr algn="l"/>
            <a:r>
              <a:rPr sz="3400" b="1">
                <a:solidFill>
                  <a:srgbClr val="E2E8F0"/>
                </a:solidFill>
                <a:latin typeface="Inter"/>
              </a:rPr>
              <a:t>Ganhos Experimentais Medidos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0" y="713232"/>
            <a:ext cx="4572000" cy="256032"/>
          </a:xfrm>
          <a:prstGeom prst="rect">
            <a:avLst/>
          </a:prstGeom>
          <a:noFill/>
        </p:spPr>
        <p:txBody>
          <a:bodyPr wrap="none" lIns="36576" tIns="18288" rIns="36576" bIns="18288" anchor="ctr">
            <a:spAutoFit/>
          </a:bodyPr>
          <a:lstStyle/>
          <a:p>
            <a:pPr algn="r"/>
            <a:r>
              <a:rPr sz="1500" b="1">
                <a:solidFill>
                  <a:srgbClr val="E2E8F0"/>
                </a:solidFill>
                <a:latin typeface="Inter"/>
              </a:rPr>
              <a:t>EXPERIMENTOS ALGORÍTMICOS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" y="1225296"/>
            <a:ext cx="15133320" cy="18288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43000" y="1417320"/>
            <a:ext cx="15087600" cy="347472"/>
          </a:xfrm>
          <a:prstGeom prst="rect">
            <a:avLst/>
          </a:prstGeom>
          <a:noFill/>
        </p:spPr>
        <p:txBody>
          <a:bodyPr wrap="none" lIns="36576" tIns="18288" rIns="36576" bIns="18288" anchor="ctr">
            <a:spAutoFit/>
          </a:bodyPr>
          <a:lstStyle/>
          <a:p>
            <a:pPr algn="l"/>
            <a:r>
              <a:rPr sz="1400" b="0">
                <a:solidFill>
                  <a:srgbClr val="E2E8F0"/>
                </a:solidFill>
                <a:latin typeface="JetBrains Mono"/>
              </a:rPr>
              <a:t>Benchmarks em instâncias reduzidas preservam a estrutura Set Cover e permitem comparar desempenho sem esperar horas por execução completa.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1874519"/>
            <a:ext cx="3337560" cy="530352"/>
          </a:xfrm>
          <a:prstGeom prst="rect">
            <a:avLst/>
          </a:prstGeom>
          <a:solidFill>
            <a:srgbClr val="1E293B"/>
          </a:solidFill>
          <a:ln w="9525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18288" rIns="36576" bIns="18288" rtlCol="0" anchor="ctr"/>
          <a:lstStyle/>
          <a:p>
            <a:pPr algn="ctr"/>
            <a:r>
              <a:rPr sz="1040" b="1">
                <a:solidFill>
                  <a:srgbClr val="E2E8F0"/>
                </a:solidFill>
                <a:latin typeface="Inter"/>
              </a:rPr>
              <a:t>Instância</a:t>
            </a:r>
          </a:p>
        </p:txBody>
      </p:sp>
      <p:sp>
        <p:nvSpPr>
          <p:cNvPr id="8" name="Rectangle 7"/>
          <p:cNvSpPr/>
          <p:nvPr/>
        </p:nvSpPr>
        <p:spPr>
          <a:xfrm>
            <a:off x="4480560" y="1874519"/>
            <a:ext cx="3108960" cy="530352"/>
          </a:xfrm>
          <a:prstGeom prst="rect">
            <a:avLst/>
          </a:prstGeom>
          <a:solidFill>
            <a:srgbClr val="1E293B"/>
          </a:solidFill>
          <a:ln w="9525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18288" rIns="36576" bIns="18288" rtlCol="0" anchor="ctr"/>
          <a:lstStyle/>
          <a:p>
            <a:pPr algn="ctr"/>
            <a:r>
              <a:rPr sz="1040" b="1">
                <a:solidFill>
                  <a:srgbClr val="E2E8F0"/>
                </a:solidFill>
                <a:latin typeface="Inter"/>
              </a:rPr>
              <a:t>Método</a:t>
            </a:r>
          </a:p>
        </p:txBody>
      </p:sp>
      <p:sp>
        <p:nvSpPr>
          <p:cNvPr id="9" name="Rectangle 8"/>
          <p:cNvSpPr/>
          <p:nvPr/>
        </p:nvSpPr>
        <p:spPr>
          <a:xfrm>
            <a:off x="7589520" y="1874519"/>
            <a:ext cx="1645920" cy="530352"/>
          </a:xfrm>
          <a:prstGeom prst="rect">
            <a:avLst/>
          </a:prstGeom>
          <a:solidFill>
            <a:srgbClr val="1E293B"/>
          </a:solidFill>
          <a:ln w="9525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36576" rIns="54864" bIns="36576" rtlCol="0" anchor="ctr"/>
          <a:lstStyle/>
          <a:p>
            <a:pPr algn="ctr"/>
            <a:r>
              <a:rPr sz="1040" b="1">
                <a:solidFill>
                  <a:srgbClr val="7DD3FC"/>
                </a:solidFill>
                <a:latin typeface="Inter"/>
              </a:rPr>
              <a:t>Tempo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35440" y="1874519"/>
            <a:ext cx="1143000" cy="530352"/>
          </a:xfrm>
          <a:prstGeom prst="rect">
            <a:avLst/>
          </a:prstGeom>
          <a:solidFill>
            <a:srgbClr val="1E293B"/>
          </a:solidFill>
          <a:ln w="9525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36576" rIns="54864" bIns="36576" rtlCol="0" anchor="ctr"/>
          <a:lstStyle/>
          <a:p>
            <a:pPr algn="ctr"/>
            <a:r>
              <a:rPr sz="1040" b="1">
                <a:solidFill>
                  <a:srgbClr val="7DD3FC"/>
                </a:solidFill>
                <a:latin typeface="Inter"/>
              </a:rPr>
              <a:t>|SB|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378440" y="1874519"/>
            <a:ext cx="5212080" cy="530352"/>
          </a:xfrm>
          <a:prstGeom prst="rect">
            <a:avLst/>
          </a:prstGeom>
          <a:solidFill>
            <a:srgbClr val="1E293B"/>
          </a:solidFill>
          <a:ln w="9525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36576" rIns="54864" bIns="36576" rtlCol="0" anchor="ctr"/>
          <a:lstStyle/>
          <a:p>
            <a:pPr algn="ctr"/>
            <a:r>
              <a:rPr sz="1040" b="1">
                <a:solidFill>
                  <a:srgbClr val="7DD3FC"/>
                </a:solidFill>
                <a:latin typeface="Inter"/>
              </a:rPr>
              <a:t>Ganho / leitura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2404872"/>
            <a:ext cx="3337560" cy="530352"/>
          </a:xfrm>
          <a:prstGeom prst="rect">
            <a:avLst/>
          </a:prstGeom>
          <a:solidFill>
            <a:srgbClr val="0F172A"/>
          </a:solidFill>
          <a:ln w="9525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36576" rIns="54864" bIns="36576" rtlCol="0" anchor="ctr"/>
          <a:lstStyle/>
          <a:p>
            <a:pPr algn="l"/>
            <a:r>
              <a:rPr sz="1040" b="1">
                <a:solidFill>
                  <a:srgbClr val="7DD3FC"/>
                </a:solidFill>
                <a:latin typeface="Inter"/>
              </a:rPr>
              <a:t>medium n=15,k=9,p=6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80560" y="2404872"/>
            <a:ext cx="3108960" cy="530352"/>
          </a:xfrm>
          <a:prstGeom prst="rect">
            <a:avLst/>
          </a:prstGeom>
          <a:solidFill>
            <a:srgbClr val="0F172A"/>
          </a:solidFill>
          <a:ln w="9525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36576" rIns="54864" bIns="36576" rtlCol="0" anchor="ctr"/>
          <a:lstStyle/>
          <a:p>
            <a:pPr algn="l"/>
            <a:r>
              <a:rPr sz="1040" b="0">
                <a:solidFill>
                  <a:srgbClr val="E2E8F0"/>
                </a:solidFill>
                <a:latin typeface="Inter"/>
              </a:rPr>
              <a:t>Greedy baseline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589520" y="2404872"/>
            <a:ext cx="1645920" cy="530352"/>
          </a:xfrm>
          <a:prstGeom prst="rect">
            <a:avLst/>
          </a:prstGeom>
          <a:solidFill>
            <a:srgbClr val="0F172A"/>
          </a:solidFill>
          <a:ln w="9525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36576" rIns="54864" bIns="36576" rtlCol="0" anchor="ctr"/>
          <a:lstStyle/>
          <a:p>
            <a:pPr algn="l"/>
            <a:r>
              <a:rPr sz="1040" b="0">
                <a:solidFill>
                  <a:srgbClr val="E2E8F0"/>
                </a:solidFill>
                <a:latin typeface="Inter"/>
              </a:rPr>
              <a:t>10,035 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235440" y="2404872"/>
            <a:ext cx="1143000" cy="530352"/>
          </a:xfrm>
          <a:prstGeom prst="rect">
            <a:avLst/>
          </a:prstGeom>
          <a:solidFill>
            <a:srgbClr val="0F172A"/>
          </a:solidFill>
          <a:ln w="9525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36576" rIns="54864" bIns="36576" rtlCol="0" anchor="ctr"/>
          <a:lstStyle/>
          <a:p>
            <a:pPr algn="ctr"/>
            <a:r>
              <a:rPr sz="1040" b="0">
                <a:solidFill>
                  <a:srgbClr val="E2E8F0"/>
                </a:solidFill>
                <a:latin typeface="Inter"/>
              </a:rPr>
              <a:t>140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378440" y="2404872"/>
            <a:ext cx="5212080" cy="530352"/>
          </a:xfrm>
          <a:prstGeom prst="rect">
            <a:avLst/>
          </a:prstGeom>
          <a:solidFill>
            <a:srgbClr val="0F172A"/>
          </a:solidFill>
          <a:ln w="9525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18288" rIns="36576" bIns="18288" rtlCol="0" anchor="ctr"/>
          <a:lstStyle/>
          <a:p>
            <a:pPr algn="l"/>
            <a:r>
              <a:rPr sz="1040" b="0">
                <a:solidFill>
                  <a:srgbClr val="E2E8F0"/>
                </a:solidFill>
                <a:latin typeface="Inter"/>
              </a:rPr>
              <a:t>Referência determinística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143000" y="2935224"/>
            <a:ext cx="3337560" cy="530352"/>
          </a:xfrm>
          <a:prstGeom prst="rect">
            <a:avLst/>
          </a:prstGeom>
          <a:solidFill>
            <a:srgbClr val="020617"/>
          </a:solidFill>
          <a:ln w="9525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36576" rIns="54864" bIns="36576" rtlCol="0" anchor="ctr"/>
          <a:lstStyle/>
          <a:p>
            <a:pPr algn="l"/>
            <a:r>
              <a:rPr sz="1040" b="1">
                <a:solidFill>
                  <a:srgbClr val="7DD3FC"/>
                </a:solidFill>
                <a:latin typeface="Inter"/>
              </a:rPr>
              <a:t>medium n=15,k=9,p=6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480560" y="2935224"/>
            <a:ext cx="3108960" cy="530352"/>
          </a:xfrm>
          <a:prstGeom prst="rect">
            <a:avLst/>
          </a:prstGeom>
          <a:solidFill>
            <a:srgbClr val="020617"/>
          </a:solidFill>
          <a:ln w="9525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36576" rIns="54864" bIns="36576" rtlCol="0" anchor="ctr"/>
          <a:lstStyle/>
          <a:p>
            <a:pPr algn="l"/>
            <a:r>
              <a:rPr sz="1040" b="0">
                <a:solidFill>
                  <a:srgbClr val="E2E8F0"/>
                </a:solidFill>
                <a:latin typeface="Inter"/>
              </a:rPr>
              <a:t>Stochastic Greedy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589520" y="2935224"/>
            <a:ext cx="1645920" cy="530352"/>
          </a:xfrm>
          <a:prstGeom prst="rect">
            <a:avLst/>
          </a:prstGeom>
          <a:solidFill>
            <a:srgbClr val="020617"/>
          </a:solidFill>
          <a:ln w="9525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36576" rIns="54864" bIns="36576" rtlCol="0" anchor="ctr"/>
          <a:lstStyle/>
          <a:p>
            <a:pPr algn="l"/>
            <a:r>
              <a:rPr sz="1040" b="0">
                <a:solidFill>
                  <a:srgbClr val="E2E8F0"/>
                </a:solidFill>
                <a:latin typeface="Inter"/>
              </a:rPr>
              <a:t>0,743 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235440" y="2935224"/>
            <a:ext cx="1143000" cy="530352"/>
          </a:xfrm>
          <a:prstGeom prst="rect">
            <a:avLst/>
          </a:prstGeom>
          <a:solidFill>
            <a:srgbClr val="020617"/>
          </a:solidFill>
          <a:ln w="9525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36576" rIns="54864" bIns="36576" rtlCol="0" anchor="ctr"/>
          <a:lstStyle/>
          <a:p>
            <a:pPr algn="ctr"/>
            <a:r>
              <a:rPr sz="1040" b="0">
                <a:solidFill>
                  <a:srgbClr val="E2E8F0"/>
                </a:solidFill>
                <a:latin typeface="Inter"/>
              </a:rPr>
              <a:t>152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378440" y="2935224"/>
            <a:ext cx="5212080" cy="530352"/>
          </a:xfrm>
          <a:prstGeom prst="rect">
            <a:avLst/>
          </a:prstGeom>
          <a:solidFill>
            <a:srgbClr val="020617"/>
          </a:solidFill>
          <a:ln w="9525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18288" rIns="36576" bIns="18288" rtlCol="0" anchor="ctr"/>
          <a:lstStyle/>
          <a:p>
            <a:pPr algn="l"/>
            <a:r>
              <a:rPr sz="1040" b="0">
                <a:solidFill>
                  <a:srgbClr val="E2E8F0"/>
                </a:solidFill>
                <a:latin typeface="Inter"/>
              </a:rPr>
              <a:t>13,5× mais rápido; +8,6% em |SB|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43000" y="3465575"/>
            <a:ext cx="3337560" cy="530352"/>
          </a:xfrm>
          <a:prstGeom prst="rect">
            <a:avLst/>
          </a:prstGeom>
          <a:solidFill>
            <a:srgbClr val="0F172A"/>
          </a:solidFill>
          <a:ln w="9525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36576" rIns="54864" bIns="36576" rtlCol="0" anchor="ctr"/>
          <a:lstStyle/>
          <a:p>
            <a:pPr algn="l"/>
            <a:r>
              <a:rPr sz="1040" b="1">
                <a:solidFill>
                  <a:srgbClr val="7DD3FC"/>
                </a:solidFill>
                <a:latin typeface="Inter"/>
              </a:rPr>
              <a:t>medium n=15,k=9,p=6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480560" y="3465575"/>
            <a:ext cx="3108960" cy="530352"/>
          </a:xfrm>
          <a:prstGeom prst="rect">
            <a:avLst/>
          </a:prstGeom>
          <a:solidFill>
            <a:srgbClr val="0F172A"/>
          </a:solidFill>
          <a:ln w="9525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36576" rIns="54864" bIns="36576" rtlCol="0" anchor="ctr"/>
          <a:lstStyle/>
          <a:p>
            <a:pPr algn="l"/>
            <a:r>
              <a:rPr sz="1040" b="0">
                <a:solidFill>
                  <a:srgbClr val="E2E8F0"/>
                </a:solidFill>
                <a:latin typeface="Inter"/>
              </a:rPr>
              <a:t>GRASP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589520" y="3465575"/>
            <a:ext cx="1645920" cy="530352"/>
          </a:xfrm>
          <a:prstGeom prst="rect">
            <a:avLst/>
          </a:prstGeom>
          <a:solidFill>
            <a:srgbClr val="0F172A"/>
          </a:solidFill>
          <a:ln w="9525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36576" rIns="54864" bIns="36576" rtlCol="0" anchor="ctr"/>
          <a:lstStyle/>
          <a:p>
            <a:pPr algn="l"/>
            <a:r>
              <a:rPr sz="1040" b="0">
                <a:solidFill>
                  <a:srgbClr val="E2E8F0"/>
                </a:solidFill>
                <a:latin typeface="Inter"/>
              </a:rPr>
              <a:t>48,813 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235440" y="3465575"/>
            <a:ext cx="1143000" cy="530352"/>
          </a:xfrm>
          <a:prstGeom prst="rect">
            <a:avLst/>
          </a:prstGeom>
          <a:solidFill>
            <a:srgbClr val="0F172A"/>
          </a:solidFill>
          <a:ln w="9525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36576" rIns="54864" bIns="36576" rtlCol="0" anchor="ctr"/>
          <a:lstStyle/>
          <a:p>
            <a:pPr algn="ctr"/>
            <a:r>
              <a:rPr sz="1040" b="0">
                <a:solidFill>
                  <a:srgbClr val="E2E8F0"/>
                </a:solidFill>
                <a:latin typeface="Inter"/>
              </a:rPr>
              <a:t>143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378440" y="3465575"/>
            <a:ext cx="5212080" cy="530352"/>
          </a:xfrm>
          <a:prstGeom prst="rect">
            <a:avLst/>
          </a:prstGeom>
          <a:solidFill>
            <a:srgbClr val="0F172A"/>
          </a:solidFill>
          <a:ln w="9525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18288" rIns="36576" bIns="18288" rtlCol="0" anchor="ctr"/>
          <a:lstStyle/>
          <a:p>
            <a:pPr algn="l"/>
            <a:r>
              <a:rPr sz="1040" b="0">
                <a:solidFill>
                  <a:srgbClr val="E2E8F0"/>
                </a:solidFill>
                <a:latin typeface="Inter"/>
              </a:rPr>
              <a:t>Mais caro; qualidade próxima do greedy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143000" y="3995927"/>
            <a:ext cx="3337560" cy="530352"/>
          </a:xfrm>
          <a:prstGeom prst="rect">
            <a:avLst/>
          </a:prstGeom>
          <a:solidFill>
            <a:srgbClr val="020617"/>
          </a:solidFill>
          <a:ln w="9525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36576" rIns="54864" bIns="36576" rtlCol="0" anchor="ctr"/>
          <a:lstStyle/>
          <a:p>
            <a:pPr algn="l"/>
            <a:r>
              <a:rPr sz="1040" b="1">
                <a:solidFill>
                  <a:srgbClr val="7DD3FC"/>
                </a:solidFill>
                <a:latin typeface="Inter"/>
              </a:rPr>
              <a:t>medium n=15,k=9,p=6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480560" y="3995927"/>
            <a:ext cx="3108960" cy="530352"/>
          </a:xfrm>
          <a:prstGeom prst="rect">
            <a:avLst/>
          </a:prstGeom>
          <a:solidFill>
            <a:srgbClr val="020617"/>
          </a:solidFill>
          <a:ln w="9525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36576" rIns="54864" bIns="36576" rtlCol="0" anchor="ctr"/>
          <a:lstStyle/>
          <a:p>
            <a:pPr algn="l"/>
            <a:r>
              <a:rPr sz="1040" b="0">
                <a:solidFill>
                  <a:srgbClr val="E2E8F0"/>
                </a:solidFill>
                <a:latin typeface="Inter"/>
              </a:rPr>
              <a:t>Lagrangiana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589520" y="3995927"/>
            <a:ext cx="1645920" cy="530352"/>
          </a:xfrm>
          <a:prstGeom prst="rect">
            <a:avLst/>
          </a:prstGeom>
          <a:solidFill>
            <a:srgbClr val="020617"/>
          </a:solidFill>
          <a:ln w="9525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36576" rIns="54864" bIns="36576" rtlCol="0" anchor="ctr"/>
          <a:lstStyle/>
          <a:p>
            <a:pPr algn="l"/>
            <a:r>
              <a:rPr sz="1040" b="0">
                <a:solidFill>
                  <a:srgbClr val="E2E8F0"/>
                </a:solidFill>
                <a:latin typeface="Inter"/>
              </a:rPr>
              <a:t>23,948 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235440" y="3995927"/>
            <a:ext cx="1143000" cy="530352"/>
          </a:xfrm>
          <a:prstGeom prst="rect">
            <a:avLst/>
          </a:prstGeom>
          <a:solidFill>
            <a:srgbClr val="020617"/>
          </a:solidFill>
          <a:ln w="9525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36576" rIns="54864" bIns="36576" rtlCol="0" anchor="ctr"/>
          <a:lstStyle/>
          <a:p>
            <a:pPr algn="ctr"/>
            <a:r>
              <a:rPr sz="1040" b="0">
                <a:solidFill>
                  <a:srgbClr val="E2E8F0"/>
                </a:solidFill>
                <a:latin typeface="Inter"/>
              </a:rPr>
              <a:t>140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378440" y="3995927"/>
            <a:ext cx="5212080" cy="530352"/>
          </a:xfrm>
          <a:prstGeom prst="rect">
            <a:avLst/>
          </a:prstGeom>
          <a:solidFill>
            <a:srgbClr val="020617"/>
          </a:solidFill>
          <a:ln w="9525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36576" rIns="54864" bIns="36576" rtlCol="0" anchor="ctr"/>
          <a:lstStyle/>
          <a:p>
            <a:pPr algn="l"/>
            <a:r>
              <a:rPr sz="1040" b="0">
                <a:solidFill>
                  <a:srgbClr val="E2E8F0"/>
                </a:solidFill>
                <a:latin typeface="Inter"/>
              </a:rPr>
              <a:t>Bound 59,58; reparo igual ao greedy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143000" y="4526279"/>
            <a:ext cx="3337560" cy="530352"/>
          </a:xfrm>
          <a:prstGeom prst="rect">
            <a:avLst/>
          </a:prstGeom>
          <a:solidFill>
            <a:srgbClr val="0F172A"/>
          </a:solidFill>
          <a:ln w="9525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36576" rIns="54864" bIns="36576" rtlCol="0" anchor="ctr"/>
          <a:lstStyle/>
          <a:p>
            <a:pPr algn="l"/>
            <a:r>
              <a:rPr sz="1040" b="1">
                <a:solidFill>
                  <a:srgbClr val="7DD3FC"/>
                </a:solidFill>
                <a:latin typeface="Inter"/>
              </a:rPr>
              <a:t>large-demo n=16,k=10,p=6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480560" y="4526279"/>
            <a:ext cx="3108960" cy="530352"/>
          </a:xfrm>
          <a:prstGeom prst="rect">
            <a:avLst/>
          </a:prstGeom>
          <a:solidFill>
            <a:srgbClr val="0F172A"/>
          </a:solidFill>
          <a:ln w="9525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36576" rIns="54864" bIns="36576" rtlCol="0" anchor="ctr"/>
          <a:lstStyle/>
          <a:p>
            <a:pPr algn="l"/>
            <a:r>
              <a:rPr sz="1040" b="0">
                <a:solidFill>
                  <a:srgbClr val="E2E8F0"/>
                </a:solidFill>
                <a:latin typeface="Inter"/>
              </a:rPr>
              <a:t>Greedy baseline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589520" y="4526279"/>
            <a:ext cx="1645920" cy="530352"/>
          </a:xfrm>
          <a:prstGeom prst="rect">
            <a:avLst/>
          </a:prstGeom>
          <a:solidFill>
            <a:srgbClr val="0F172A"/>
          </a:solidFill>
          <a:ln w="9525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36576" rIns="54864" bIns="36576" rtlCol="0" anchor="ctr"/>
          <a:lstStyle/>
          <a:p>
            <a:pPr algn="l"/>
            <a:r>
              <a:rPr sz="1040" b="0">
                <a:solidFill>
                  <a:srgbClr val="E2E8F0"/>
                </a:solidFill>
                <a:latin typeface="Inter"/>
              </a:rPr>
              <a:t>24,895 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235440" y="4526279"/>
            <a:ext cx="1143000" cy="530352"/>
          </a:xfrm>
          <a:prstGeom prst="rect">
            <a:avLst/>
          </a:prstGeom>
          <a:solidFill>
            <a:srgbClr val="0F172A"/>
          </a:solidFill>
          <a:ln w="9525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36576" rIns="54864" bIns="36576" rtlCol="0" anchor="ctr"/>
          <a:lstStyle/>
          <a:p>
            <a:pPr algn="ctr"/>
            <a:r>
              <a:rPr sz="1040" b="0">
                <a:solidFill>
                  <a:srgbClr val="E2E8F0"/>
                </a:solidFill>
                <a:latin typeface="Inter"/>
              </a:rPr>
              <a:t>105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378440" y="4526279"/>
            <a:ext cx="5212080" cy="530352"/>
          </a:xfrm>
          <a:prstGeom prst="rect">
            <a:avLst/>
          </a:prstGeom>
          <a:solidFill>
            <a:srgbClr val="0F172A"/>
          </a:solidFill>
          <a:ln w="9525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18288" rIns="36576" bIns="18288" rtlCol="0" anchor="ctr"/>
          <a:lstStyle/>
          <a:p>
            <a:pPr algn="l"/>
            <a:r>
              <a:rPr sz="1040" b="0">
                <a:solidFill>
                  <a:srgbClr val="E2E8F0"/>
                </a:solidFill>
                <a:latin typeface="Inter"/>
              </a:rPr>
              <a:t>Referência para escala maior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143000" y="5056631"/>
            <a:ext cx="3337560" cy="530352"/>
          </a:xfrm>
          <a:prstGeom prst="rect">
            <a:avLst/>
          </a:prstGeom>
          <a:solidFill>
            <a:srgbClr val="020617"/>
          </a:solidFill>
          <a:ln w="9525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36576" rIns="54864" bIns="36576" rtlCol="0" anchor="ctr"/>
          <a:lstStyle/>
          <a:p>
            <a:pPr algn="l"/>
            <a:r>
              <a:rPr sz="1040" b="1">
                <a:solidFill>
                  <a:srgbClr val="7DD3FC"/>
                </a:solidFill>
                <a:latin typeface="Inter"/>
              </a:rPr>
              <a:t>large-demo n=16,k=10,p=6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480560" y="5056631"/>
            <a:ext cx="3108960" cy="530352"/>
          </a:xfrm>
          <a:prstGeom prst="rect">
            <a:avLst/>
          </a:prstGeom>
          <a:solidFill>
            <a:srgbClr val="020617"/>
          </a:solidFill>
          <a:ln w="9525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36576" rIns="54864" bIns="36576" rtlCol="0" anchor="ctr"/>
          <a:lstStyle/>
          <a:p>
            <a:pPr algn="l"/>
            <a:r>
              <a:rPr sz="1040" b="0">
                <a:solidFill>
                  <a:srgbClr val="E2E8F0"/>
                </a:solidFill>
                <a:latin typeface="Inter"/>
              </a:rPr>
              <a:t>Stochastic Greedy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589520" y="5056631"/>
            <a:ext cx="1645920" cy="530352"/>
          </a:xfrm>
          <a:prstGeom prst="rect">
            <a:avLst/>
          </a:prstGeom>
          <a:solidFill>
            <a:srgbClr val="020617"/>
          </a:solidFill>
          <a:ln w="9525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36576" rIns="54864" bIns="36576" rtlCol="0" anchor="ctr"/>
          <a:lstStyle/>
          <a:p>
            <a:pPr algn="l"/>
            <a:r>
              <a:rPr sz="1040" b="0">
                <a:solidFill>
                  <a:srgbClr val="E2E8F0"/>
                </a:solidFill>
                <a:latin typeface="Inter"/>
              </a:rPr>
              <a:t>1,208 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235440" y="5056631"/>
            <a:ext cx="1143000" cy="530352"/>
          </a:xfrm>
          <a:prstGeom prst="rect">
            <a:avLst/>
          </a:prstGeom>
          <a:solidFill>
            <a:srgbClr val="020617"/>
          </a:solidFill>
          <a:ln w="9525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36576" rIns="54864" bIns="36576" rtlCol="0" anchor="ctr"/>
          <a:lstStyle/>
          <a:p>
            <a:pPr algn="ctr"/>
            <a:r>
              <a:rPr sz="1040" b="0">
                <a:solidFill>
                  <a:srgbClr val="E2E8F0"/>
                </a:solidFill>
                <a:latin typeface="Inter"/>
              </a:rPr>
              <a:t>115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0378440" y="5056631"/>
            <a:ext cx="5212080" cy="530352"/>
          </a:xfrm>
          <a:prstGeom prst="rect">
            <a:avLst/>
          </a:prstGeom>
          <a:solidFill>
            <a:srgbClr val="020617"/>
          </a:solidFill>
          <a:ln w="9525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18288" rIns="36576" bIns="18288" rtlCol="0" anchor="ctr"/>
          <a:lstStyle/>
          <a:p>
            <a:pPr algn="l"/>
            <a:r>
              <a:rPr sz="1040" b="0">
                <a:solidFill>
                  <a:srgbClr val="E2E8F0"/>
                </a:solidFill>
                <a:latin typeface="Inter"/>
              </a:rPr>
              <a:t>20,6× mais rápido; +9,5% em |SB|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143000" y="5586983"/>
            <a:ext cx="3337560" cy="530352"/>
          </a:xfrm>
          <a:prstGeom prst="rect">
            <a:avLst/>
          </a:prstGeom>
          <a:solidFill>
            <a:srgbClr val="0F172A"/>
          </a:solidFill>
          <a:ln w="9525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36576" rIns="54864" bIns="36576" rtlCol="0" anchor="ctr"/>
          <a:lstStyle/>
          <a:p>
            <a:pPr algn="l"/>
            <a:r>
              <a:rPr sz="1040" b="1">
                <a:solidFill>
                  <a:srgbClr val="7DD3FC"/>
                </a:solidFill>
                <a:latin typeface="Inter"/>
              </a:rPr>
              <a:t>large-demo n=16,k=10,p=6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480560" y="5586983"/>
            <a:ext cx="3108960" cy="530352"/>
          </a:xfrm>
          <a:prstGeom prst="rect">
            <a:avLst/>
          </a:prstGeom>
          <a:solidFill>
            <a:srgbClr val="0F172A"/>
          </a:solidFill>
          <a:ln w="9525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36576" rIns="54864" bIns="36576" rtlCol="0" anchor="ctr"/>
          <a:lstStyle/>
          <a:p>
            <a:pPr algn="l"/>
            <a:r>
              <a:rPr sz="1040" b="0">
                <a:solidFill>
                  <a:srgbClr val="E2E8F0"/>
                </a:solidFill>
                <a:latin typeface="Inter"/>
              </a:rPr>
              <a:t>GRASP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589520" y="5586983"/>
            <a:ext cx="1645920" cy="530352"/>
          </a:xfrm>
          <a:prstGeom prst="rect">
            <a:avLst/>
          </a:prstGeom>
          <a:solidFill>
            <a:srgbClr val="0F172A"/>
          </a:solidFill>
          <a:ln w="9525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36576" rIns="54864" bIns="36576" rtlCol="0" anchor="ctr"/>
          <a:lstStyle/>
          <a:p>
            <a:pPr algn="l"/>
            <a:r>
              <a:rPr sz="1040" b="0">
                <a:solidFill>
                  <a:srgbClr val="E2E8F0"/>
                </a:solidFill>
                <a:latin typeface="Inter"/>
              </a:rPr>
              <a:t>143,862 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235440" y="5586983"/>
            <a:ext cx="1143000" cy="530352"/>
          </a:xfrm>
          <a:prstGeom prst="rect">
            <a:avLst/>
          </a:prstGeom>
          <a:solidFill>
            <a:srgbClr val="0F172A"/>
          </a:solidFill>
          <a:ln w="9525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36576" rIns="54864" bIns="36576" rtlCol="0" anchor="ctr"/>
          <a:lstStyle/>
          <a:p>
            <a:pPr algn="ctr"/>
            <a:r>
              <a:rPr sz="1040" b="0">
                <a:solidFill>
                  <a:srgbClr val="E2E8F0"/>
                </a:solidFill>
                <a:latin typeface="Inter"/>
              </a:rPr>
              <a:t>107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0378440" y="5586983"/>
            <a:ext cx="5212080" cy="530352"/>
          </a:xfrm>
          <a:prstGeom prst="rect">
            <a:avLst/>
          </a:prstGeom>
          <a:solidFill>
            <a:srgbClr val="0F172A"/>
          </a:solidFill>
          <a:ln w="9525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18288" rIns="36576" bIns="18288" rtlCol="0" anchor="ctr"/>
          <a:lstStyle/>
          <a:p>
            <a:pPr algn="l"/>
            <a:r>
              <a:rPr sz="1040" b="0">
                <a:solidFill>
                  <a:srgbClr val="E2E8F0"/>
                </a:solidFill>
                <a:latin typeface="Inter"/>
              </a:rPr>
              <a:t>5,8× mais lento; melhora marginal vs baseline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143000" y="7909560"/>
            <a:ext cx="4572000" cy="566928"/>
          </a:xfrm>
          <a:prstGeom prst="rect">
            <a:avLst/>
          </a:prstGeom>
          <a:solidFill>
            <a:srgbClr val="1E293B"/>
          </a:solidFill>
          <a:ln w="9525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36576" rIns="54864" bIns="36576" rtlCol="0" anchor="ctr"/>
          <a:lstStyle/>
          <a:p>
            <a:pPr algn="l"/>
            <a:r>
              <a:rPr sz="1300" b="1">
                <a:solidFill>
                  <a:srgbClr val="7DD3FC"/>
                </a:solidFill>
                <a:latin typeface="Inter"/>
              </a:rPr>
              <a:t>Stochastic Greedy entrega o maior ganho de tempo medido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989320" y="7909560"/>
            <a:ext cx="4663440" cy="566928"/>
          </a:xfrm>
          <a:prstGeom prst="rect">
            <a:avLst/>
          </a:prstGeom>
          <a:solidFill>
            <a:srgbClr val="1E293B"/>
          </a:solidFill>
          <a:ln w="9525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18288" rIns="36576" bIns="18288" rtlCol="0" anchor="ctr"/>
          <a:lstStyle/>
          <a:p>
            <a:pPr algn="l"/>
            <a:r>
              <a:rPr sz="1300" b="1">
                <a:solidFill>
                  <a:srgbClr val="E2E8F0"/>
                </a:solidFill>
                <a:latin typeface="Inter"/>
              </a:rPr>
              <a:t>GRASP valida metaheurística, mas não compensa neste caso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0927080" y="7909560"/>
            <a:ext cx="5166360" cy="566928"/>
          </a:xfrm>
          <a:prstGeom prst="rect">
            <a:avLst/>
          </a:prstGeom>
          <a:solidFill>
            <a:srgbClr val="1E293B"/>
          </a:solidFill>
          <a:ln w="9525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18288" rIns="36576" bIns="18288" rtlCol="0" anchor="ctr"/>
          <a:lstStyle/>
          <a:p>
            <a:pPr algn="l"/>
            <a:r>
              <a:rPr sz="1300" b="1">
                <a:solidFill>
                  <a:srgbClr val="E2E8F0"/>
                </a:solidFill>
                <a:latin typeface="Inter"/>
              </a:rPr>
              <a:t>Lagrangiana/Column Generation entram como base científica avançada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893808" y="9665208"/>
            <a:ext cx="128016" cy="164592"/>
          </a:xfrm>
          <a:prstGeom prst="rect">
            <a:avLst/>
          </a:prstGeom>
          <a:noFill/>
        </p:spPr>
        <p:txBody>
          <a:bodyPr wrap="none" lIns="36576" tIns="18288" rIns="36576" bIns="18288" anchor="ctr">
            <a:spAutoFit/>
          </a:bodyPr>
          <a:lstStyle/>
          <a:p>
            <a:pPr algn="ctr"/>
            <a:r>
              <a:rPr sz="800" b="0">
                <a:solidFill>
                  <a:srgbClr val="475569"/>
                </a:solidFill>
                <a:latin typeface="Inter"/>
              </a:rPr>
              <a:t>●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058400" y="9665208"/>
            <a:ext cx="128016" cy="164592"/>
          </a:xfrm>
          <a:prstGeom prst="rect">
            <a:avLst/>
          </a:prstGeom>
          <a:noFill/>
        </p:spPr>
        <p:txBody>
          <a:bodyPr wrap="none" lIns="36576" tIns="18288" rIns="36576" bIns="18288" anchor="ctr">
            <a:spAutoFit/>
          </a:bodyPr>
          <a:lstStyle/>
          <a:p>
            <a:pPr algn="ctr"/>
            <a:r>
              <a:rPr sz="800" b="0">
                <a:solidFill>
                  <a:srgbClr val="475569"/>
                </a:solidFill>
                <a:latin typeface="Inter"/>
              </a:rPr>
              <a:t>●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222992" y="9665208"/>
            <a:ext cx="128016" cy="164592"/>
          </a:xfrm>
          <a:prstGeom prst="rect">
            <a:avLst/>
          </a:prstGeom>
          <a:noFill/>
        </p:spPr>
        <p:txBody>
          <a:bodyPr wrap="none" lIns="36576" tIns="18288" rIns="36576" bIns="18288" anchor="ctr">
            <a:spAutoFit/>
          </a:bodyPr>
          <a:lstStyle/>
          <a:p>
            <a:pPr algn="ctr"/>
            <a:r>
              <a:rPr sz="800" b="0">
                <a:solidFill>
                  <a:srgbClr val="475569"/>
                </a:solidFill>
                <a:latin typeface="Inter"/>
              </a:rPr>
              <a:t>●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387584" y="9665208"/>
            <a:ext cx="128016" cy="164592"/>
          </a:xfrm>
          <a:prstGeom prst="rect">
            <a:avLst/>
          </a:prstGeom>
          <a:noFill/>
        </p:spPr>
        <p:txBody>
          <a:bodyPr wrap="none" lIns="36576" tIns="18288" rIns="36576" bIns="18288" anchor="ctr">
            <a:spAutoFit/>
          </a:bodyPr>
          <a:lstStyle/>
          <a:p>
            <a:pPr algn="ctr"/>
            <a:r>
              <a:rPr sz="800" b="0">
                <a:solidFill>
                  <a:srgbClr val="475569"/>
                </a:solidFill>
                <a:latin typeface="Inter"/>
              </a:rPr>
              <a:t>●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552176" y="9665208"/>
            <a:ext cx="128016" cy="164592"/>
          </a:xfrm>
          <a:prstGeom prst="rect">
            <a:avLst/>
          </a:prstGeom>
          <a:noFill/>
        </p:spPr>
        <p:txBody>
          <a:bodyPr wrap="none" lIns="36576" tIns="18288" rIns="36576" bIns="18288" anchor="ctr">
            <a:spAutoFit/>
          </a:bodyPr>
          <a:lstStyle/>
          <a:p>
            <a:pPr algn="ctr"/>
            <a:r>
              <a:rPr sz="800" b="0">
                <a:solidFill>
                  <a:srgbClr val="475569"/>
                </a:solidFill>
                <a:latin typeface="Inter"/>
              </a:rPr>
              <a:t>●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716768" y="9665208"/>
            <a:ext cx="128016" cy="164592"/>
          </a:xfrm>
          <a:prstGeom prst="rect">
            <a:avLst/>
          </a:prstGeom>
          <a:noFill/>
        </p:spPr>
        <p:txBody>
          <a:bodyPr wrap="none" lIns="36576" tIns="18288" rIns="36576" bIns="18288" anchor="ctr">
            <a:spAutoFit/>
          </a:bodyPr>
          <a:lstStyle/>
          <a:p>
            <a:pPr algn="ctr"/>
            <a:r>
              <a:rPr sz="800" b="0">
                <a:solidFill>
                  <a:srgbClr val="475569"/>
                </a:solidFill>
                <a:latin typeface="Inter"/>
              </a:rPr>
              <a:t>●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881360" y="9665208"/>
            <a:ext cx="128016" cy="164592"/>
          </a:xfrm>
          <a:prstGeom prst="rect">
            <a:avLst/>
          </a:prstGeom>
          <a:noFill/>
        </p:spPr>
        <p:txBody>
          <a:bodyPr wrap="none" lIns="36576" tIns="18288" rIns="36576" bIns="18288" anchor="ctr">
            <a:spAutoFit/>
          </a:bodyPr>
          <a:lstStyle/>
          <a:p>
            <a:pPr algn="ctr"/>
            <a:r>
              <a:rPr sz="800" b="0">
                <a:solidFill>
                  <a:srgbClr val="475569"/>
                </a:solidFill>
                <a:latin typeface="Inter"/>
              </a:rPr>
              <a:t>●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1045952" y="9665208"/>
            <a:ext cx="128016" cy="164592"/>
          </a:xfrm>
          <a:prstGeom prst="rect">
            <a:avLst/>
          </a:prstGeom>
          <a:noFill/>
        </p:spPr>
        <p:txBody>
          <a:bodyPr wrap="none" lIns="36576" tIns="18288" rIns="36576" bIns="18288" anchor="ctr">
            <a:spAutoFit/>
          </a:bodyPr>
          <a:lstStyle/>
          <a:p>
            <a:pPr algn="ctr"/>
            <a:r>
              <a:rPr sz="800" b="0">
                <a:solidFill>
                  <a:srgbClr val="475569"/>
                </a:solidFill>
                <a:latin typeface="Inter"/>
              </a:rPr>
              <a:t>●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1210544" y="9665208"/>
            <a:ext cx="128016" cy="164592"/>
          </a:xfrm>
          <a:prstGeom prst="rect">
            <a:avLst/>
          </a:prstGeom>
          <a:noFill/>
        </p:spPr>
        <p:txBody>
          <a:bodyPr wrap="none" lIns="36576" tIns="18288" rIns="36576" bIns="18288" anchor="ctr">
            <a:spAutoFit/>
          </a:bodyPr>
          <a:lstStyle/>
          <a:p>
            <a:pPr algn="ctr"/>
            <a:r>
              <a:rPr sz="800" b="0">
                <a:solidFill>
                  <a:srgbClr val="475569"/>
                </a:solidFill>
                <a:latin typeface="Inter"/>
              </a:rPr>
              <a:t>●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1375136" y="9665208"/>
            <a:ext cx="128016" cy="164592"/>
          </a:xfrm>
          <a:prstGeom prst="rect">
            <a:avLst/>
          </a:prstGeom>
          <a:noFill/>
        </p:spPr>
        <p:txBody>
          <a:bodyPr wrap="none" lIns="36576" tIns="18288" rIns="36576" bIns="18288" anchor="ctr">
            <a:spAutoFit/>
          </a:bodyPr>
          <a:lstStyle/>
          <a:p>
            <a:pPr algn="ctr"/>
            <a:r>
              <a:rPr sz="800" b="0">
                <a:solidFill>
                  <a:srgbClr val="38BDF8"/>
                </a:solidFill>
                <a:latin typeface="Inter"/>
              </a:rPr>
              <a:t>●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1539728" y="9665208"/>
            <a:ext cx="128016" cy="164592"/>
          </a:xfrm>
          <a:prstGeom prst="rect">
            <a:avLst/>
          </a:prstGeom>
          <a:noFill/>
        </p:spPr>
        <p:txBody>
          <a:bodyPr wrap="none" lIns="36576" tIns="18288" rIns="36576" bIns="18288" anchor="ctr">
            <a:spAutoFit/>
          </a:bodyPr>
          <a:lstStyle/>
          <a:p>
            <a:pPr algn="ctr"/>
            <a:r>
              <a:rPr sz="800" b="0">
                <a:solidFill>
                  <a:srgbClr val="475569"/>
                </a:solidFill>
                <a:latin typeface="Inter"/>
              </a:rPr>
              <a:t>●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6504920" y="9637776"/>
            <a:ext cx="749808" cy="219456"/>
          </a:xfrm>
          <a:prstGeom prst="rect">
            <a:avLst/>
          </a:prstGeom>
          <a:noFill/>
        </p:spPr>
        <p:txBody>
          <a:bodyPr wrap="none" lIns="36576" tIns="18288" rIns="36576" bIns="18288" anchor="ctr">
            <a:spAutoFit/>
          </a:bodyPr>
          <a:lstStyle/>
          <a:p>
            <a:pPr algn="r"/>
            <a:r>
              <a:rPr sz="1050" b="0">
                <a:solidFill>
                  <a:srgbClr val="94A3B8"/>
                </a:solidFill>
                <a:latin typeface="JetBrains Mono"/>
              </a:rPr>
              <a:t>10 de 11</a:t>
            </a:r>
          </a:p>
        </p:txBody>
      </p:sp>
      <p:sp>
        <p:nvSpPr>
          <p:cNvPr id="63" name="Shape 2">
            <a:extLst>
              <a:ext uri="{FF2B5EF4-FFF2-40B4-BE49-F238E27FC236}">
                <a16:creationId xmlns:a16="http://schemas.microsoft.com/office/drawing/2014/main" id="{6334FB3D-D625-B873-435C-22B32F6A8EB7}"/>
              </a:ext>
            </a:extLst>
          </p:cNvPr>
          <p:cNvSpPr/>
          <p:nvPr/>
        </p:nvSpPr>
        <p:spPr>
          <a:xfrm>
            <a:off x="1607939" y="709613"/>
            <a:ext cx="9525" cy="247650"/>
          </a:xfrm>
          <a:prstGeom prst="rect">
            <a:avLst/>
          </a:prstGeom>
          <a:solidFill>
            <a:srgbClr val="1E2640"/>
          </a:solidFill>
          <a:ln/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800100"/>
            <a:ext cx="350639" cy="333375"/>
          </a:xfrm>
          <a:prstGeom prst="rect">
            <a:avLst/>
          </a:prstGeom>
          <a:noFill/>
          <a:ln/>
        </p:spPr>
        <p:txBody>
          <a:bodyPr wrap="square" lIns="54864" tIns="36576" rIns="54864" bIns="36576" rtlCol="0" anchor="ctr">
            <a:noAutofit/>
          </a:bodyPr>
          <a:lstStyle/>
          <a:p>
            <a:pPr marL="0" indent="0" algn="ctr">
              <a:buNone/>
            </a:pPr>
            <a:r>
              <a:rPr b="0" dirty="0">
                <a:solidFill>
                  <a:srgbClr val="38BDF8"/>
                </a:solidFill>
                <a:latin typeface="JetBrains Mono"/>
              </a:rPr>
              <a:t>11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1607939" y="823913"/>
            <a:ext cx="9525" cy="247650"/>
          </a:xfrm>
          <a:prstGeom prst="rect">
            <a:avLst/>
          </a:prstGeom>
          <a:solidFill>
            <a:srgbClr val="1E264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1807964" y="647700"/>
            <a:ext cx="8447648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900" b="1" kern="0" spc="-78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Limitações e Possíveis Melhorias</a:t>
            </a:r>
            <a:endParaRPr lang="en-US" sz="3900" dirty="0"/>
          </a:p>
        </p:txBody>
      </p:sp>
      <p:sp>
        <p:nvSpPr>
          <p:cNvPr id="5" name="Shape 3"/>
          <p:cNvSpPr/>
          <p:nvPr/>
        </p:nvSpPr>
        <p:spPr>
          <a:xfrm>
            <a:off x="1143000" y="1590675"/>
            <a:ext cx="7848600" cy="2690813"/>
          </a:xfrm>
          <a:prstGeom prst="roundRect">
            <a:avLst>
              <a:gd name="adj" fmla="val 2124"/>
            </a:avLst>
          </a:prstGeom>
          <a:solidFill>
            <a:srgbClr val="F87171">
              <a:alpha val="4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1143000" y="4271963"/>
            <a:ext cx="7848600" cy="9525"/>
          </a:xfrm>
          <a:prstGeom prst="rect">
            <a:avLst/>
          </a:prstGeom>
          <a:solidFill>
            <a:srgbClr val="F87171">
              <a:alpha val="16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1143000" y="1590675"/>
            <a:ext cx="7848600" cy="19050"/>
          </a:xfrm>
          <a:prstGeom prst="rect">
            <a:avLst/>
          </a:prstGeom>
          <a:solidFill>
            <a:srgbClr val="F8717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1143000" y="1590675"/>
            <a:ext cx="9525" cy="2690813"/>
          </a:xfrm>
          <a:prstGeom prst="rect">
            <a:avLst/>
          </a:prstGeom>
          <a:solidFill>
            <a:srgbClr val="F87171">
              <a:alpha val="16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8982075" y="1590675"/>
            <a:ext cx="9525" cy="2690813"/>
          </a:xfrm>
          <a:prstGeom prst="rect">
            <a:avLst/>
          </a:prstGeom>
          <a:solidFill>
            <a:srgbClr val="F87171">
              <a:alpha val="16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1400175" y="1838325"/>
            <a:ext cx="806767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00" b="1" kern="0" spc="108" dirty="0">
                <a:solidFill>
                  <a:srgbClr val="F8717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LIMITAÇÕES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400175" y="2162175"/>
            <a:ext cx="22413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dirty="0">
                <a:solidFill>
                  <a:srgbClr val="F8717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✗</a:t>
            </a:r>
            <a:endParaRPr lang="en-US" sz="1425" dirty="0"/>
          </a:p>
        </p:txBody>
      </p:sp>
      <p:sp>
        <p:nvSpPr>
          <p:cNvPr id="12" name="Text 10"/>
          <p:cNvSpPr/>
          <p:nvPr/>
        </p:nvSpPr>
        <p:spPr>
          <a:xfrm>
            <a:off x="1662410" y="2152650"/>
            <a:ext cx="7553132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25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ILP direto inviável em escala completa — até 6 bilhões de coeficientes para p=11</a:t>
            </a:r>
            <a:endParaRPr lang="en-US" sz="1425" dirty="0"/>
          </a:p>
        </p:txBody>
      </p:sp>
      <p:sp>
        <p:nvSpPr>
          <p:cNvPr id="13" name="Text 11"/>
          <p:cNvSpPr/>
          <p:nvPr/>
        </p:nvSpPr>
        <p:spPr>
          <a:xfrm>
            <a:off x="1400175" y="2566988"/>
            <a:ext cx="22413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dirty="0">
                <a:solidFill>
                  <a:srgbClr val="F8717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✗</a:t>
            </a:r>
            <a:endParaRPr lang="en-US" sz="1425" dirty="0"/>
          </a:p>
        </p:txBody>
      </p:sp>
      <p:sp>
        <p:nvSpPr>
          <p:cNvPr id="14" name="Text 12"/>
          <p:cNvSpPr/>
          <p:nvPr/>
        </p:nvSpPr>
        <p:spPr>
          <a:xfrm>
            <a:off x="1662410" y="2557463"/>
            <a:ext cx="5426854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25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Solução ótima global não garantida pelo greedy para nenhum p (NP-difícil)</a:t>
            </a:r>
            <a:endParaRPr lang="en-US" sz="1425" dirty="0"/>
          </a:p>
        </p:txBody>
      </p:sp>
      <p:sp>
        <p:nvSpPr>
          <p:cNvPr id="15" name="Text 13"/>
          <p:cNvSpPr/>
          <p:nvPr/>
        </p:nvSpPr>
        <p:spPr>
          <a:xfrm>
            <a:off x="1400175" y="2971800"/>
            <a:ext cx="22413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dirty="0">
                <a:solidFill>
                  <a:srgbClr val="F8717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✗</a:t>
            </a:r>
            <a:endParaRPr lang="en-US" sz="1425" dirty="0"/>
          </a:p>
        </p:txBody>
      </p:sp>
      <p:sp>
        <p:nvSpPr>
          <p:cNvPr id="16" name="Text 14"/>
          <p:cNvSpPr/>
          <p:nvPr/>
        </p:nvSpPr>
        <p:spPr>
          <a:xfrm>
            <a:off x="1662410" y="2962275"/>
            <a:ext cx="6439242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25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Greedy sem backtracking — não permite refinamento pós-execução</a:t>
            </a:r>
            <a:endParaRPr lang="en-US" sz="1425" dirty="0"/>
          </a:p>
        </p:txBody>
      </p:sp>
      <p:sp>
        <p:nvSpPr>
          <p:cNvPr id="17" name="Text 15"/>
          <p:cNvSpPr/>
          <p:nvPr/>
        </p:nvSpPr>
        <p:spPr>
          <a:xfrm>
            <a:off x="1400175" y="3376613"/>
            <a:ext cx="22413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dirty="0">
                <a:solidFill>
                  <a:srgbClr val="F8717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✗</a:t>
            </a:r>
            <a:endParaRPr lang="en-US" sz="1425" dirty="0"/>
          </a:p>
        </p:txBody>
      </p:sp>
      <p:sp>
        <p:nvSpPr>
          <p:cNvPr id="18" name="Text 16"/>
          <p:cNvSpPr/>
          <p:nvPr/>
        </p:nvSpPr>
        <p:spPr>
          <a:xfrm>
            <a:off x="1662410" y="3367088"/>
            <a:ext cx="6203171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25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Escalabilidade limitada: n&gt;27 inviável com hardware convencional</a:t>
            </a:r>
            <a:endParaRPr lang="en-US" sz="1425" dirty="0"/>
          </a:p>
        </p:txBody>
      </p:sp>
      <p:sp>
        <p:nvSpPr>
          <p:cNvPr id="19" name="Text 17"/>
          <p:cNvSpPr/>
          <p:nvPr/>
        </p:nvSpPr>
        <p:spPr>
          <a:xfrm>
            <a:off x="1400175" y="3781425"/>
            <a:ext cx="22413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dirty="0">
                <a:solidFill>
                  <a:srgbClr val="F8717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✗</a:t>
            </a:r>
            <a:endParaRPr lang="en-US" sz="1425" dirty="0"/>
          </a:p>
        </p:txBody>
      </p:sp>
      <p:sp>
        <p:nvSpPr>
          <p:cNvPr id="20" name="Text 18"/>
          <p:cNvSpPr/>
          <p:nvPr/>
        </p:nvSpPr>
        <p:spPr>
          <a:xfrm>
            <a:off x="1662410" y="3771900"/>
            <a:ext cx="6173212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25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Tempo alto: p=13 (~3h) e p=11 (~3,4h) em hardware de referência</a:t>
            </a:r>
            <a:endParaRPr lang="en-US" sz="1425" dirty="0"/>
          </a:p>
        </p:txBody>
      </p:sp>
      <p:sp>
        <p:nvSpPr>
          <p:cNvPr id="21" name="Shape 19"/>
          <p:cNvSpPr/>
          <p:nvPr/>
        </p:nvSpPr>
        <p:spPr>
          <a:xfrm>
            <a:off x="9296400" y="1590675"/>
            <a:ext cx="7848600" cy="3834408"/>
          </a:xfrm>
          <a:prstGeom prst="roundRect">
            <a:avLst>
              <a:gd name="adj" fmla="val 1490"/>
            </a:avLst>
          </a:prstGeom>
          <a:solidFill>
            <a:srgbClr val="38BDF8">
              <a:alpha val="4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Shape 20"/>
          <p:cNvSpPr/>
          <p:nvPr/>
        </p:nvSpPr>
        <p:spPr>
          <a:xfrm>
            <a:off x="9296400" y="5415558"/>
            <a:ext cx="7848600" cy="9525"/>
          </a:xfrm>
          <a:prstGeom prst="rect">
            <a:avLst/>
          </a:prstGeom>
          <a:solidFill>
            <a:srgbClr val="38BDF8">
              <a:alpha val="16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3" name="Shape 21"/>
          <p:cNvSpPr/>
          <p:nvPr/>
        </p:nvSpPr>
        <p:spPr>
          <a:xfrm>
            <a:off x="9296400" y="1590675"/>
            <a:ext cx="7848600" cy="19050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4" name="Shape 22"/>
          <p:cNvSpPr/>
          <p:nvPr/>
        </p:nvSpPr>
        <p:spPr>
          <a:xfrm>
            <a:off x="9296400" y="1590675"/>
            <a:ext cx="9525" cy="3834408"/>
          </a:xfrm>
          <a:prstGeom prst="rect">
            <a:avLst/>
          </a:prstGeom>
          <a:solidFill>
            <a:srgbClr val="38BDF8">
              <a:alpha val="16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5" name="Shape 23"/>
          <p:cNvSpPr/>
          <p:nvPr/>
        </p:nvSpPr>
        <p:spPr>
          <a:xfrm>
            <a:off x="17135475" y="1590675"/>
            <a:ext cx="9525" cy="3834408"/>
          </a:xfrm>
          <a:prstGeom prst="rect">
            <a:avLst/>
          </a:prstGeom>
          <a:solidFill>
            <a:srgbClr val="38BDF8">
              <a:alpha val="16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9553575" y="1838325"/>
            <a:ext cx="806767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00" b="1" kern="0" spc="108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POSSÍVEIS MELHORIAS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9553575" y="2171700"/>
            <a:ext cx="232470" cy="228600"/>
          </a:xfrm>
          <a:prstGeom prst="roundRect">
            <a:avLst>
              <a:gd name="adj" fmla="val 12500"/>
            </a:avLst>
          </a:prstGeom>
          <a:solidFill>
            <a:srgbClr val="38BDF8">
              <a:alpha val="12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8" name="Text 26"/>
          <p:cNvSpPr/>
          <p:nvPr/>
        </p:nvSpPr>
        <p:spPr>
          <a:xfrm>
            <a:off x="9629775" y="2200275"/>
            <a:ext cx="15627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38BD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9900345" y="2152650"/>
            <a:ext cx="7197105" cy="6098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25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ILP pós-greedy </a:t>
            </a:r>
            <a:r>
              <a:rPr lang="en-US" sz="1425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para p=11,12: usa SB</a:t>
            </a:r>
            <a:r>
              <a:rPr lang="en-US" sz="1187" baseline="-400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greedy </a:t>
            </a:r>
            <a:r>
              <a:rPr lang="en-US" sz="1425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como candidatos — reduz variáveis de 3,3M para </a:t>
            </a:r>
            <a:r>
              <a:rPr lang="en-US" sz="1425" b="1" dirty="0">
                <a:solidFill>
                  <a:srgbClr val="34D3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~12K–38K</a:t>
            </a:r>
            <a:r>
              <a:rPr lang="en-US" sz="1425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tornando ILP tratável em minutos</a:t>
            </a:r>
            <a:endParaRPr lang="en-US" sz="1425" dirty="0"/>
          </a:p>
        </p:txBody>
      </p:sp>
      <p:sp>
        <p:nvSpPr>
          <p:cNvPr id="30" name="Shape 28"/>
          <p:cNvSpPr/>
          <p:nvPr/>
        </p:nvSpPr>
        <p:spPr>
          <a:xfrm>
            <a:off x="9553575" y="2876848"/>
            <a:ext cx="232470" cy="228600"/>
          </a:xfrm>
          <a:prstGeom prst="roundRect">
            <a:avLst>
              <a:gd name="adj" fmla="val 12500"/>
            </a:avLst>
          </a:prstGeom>
          <a:solidFill>
            <a:srgbClr val="38BDF8">
              <a:alpha val="12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1" name="Text 29"/>
          <p:cNvSpPr/>
          <p:nvPr/>
        </p:nvSpPr>
        <p:spPr>
          <a:xfrm>
            <a:off x="9629775" y="2905423"/>
            <a:ext cx="15627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38BD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9900345" y="2857798"/>
            <a:ext cx="7089993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25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Column generation</a:t>
            </a:r>
            <a:r>
              <a:rPr lang="en-US" sz="1425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gerar variáveis do ILP sob demanda → viável para p=11</a:t>
            </a:r>
            <a:endParaRPr lang="en-US" sz="1425" dirty="0"/>
          </a:p>
        </p:txBody>
      </p:sp>
      <p:sp>
        <p:nvSpPr>
          <p:cNvPr id="33" name="Shape 31"/>
          <p:cNvSpPr/>
          <p:nvPr/>
        </p:nvSpPr>
        <p:spPr>
          <a:xfrm>
            <a:off x="9553575" y="3281660"/>
            <a:ext cx="232470" cy="228600"/>
          </a:xfrm>
          <a:prstGeom prst="roundRect">
            <a:avLst>
              <a:gd name="adj" fmla="val 12500"/>
            </a:avLst>
          </a:prstGeom>
          <a:solidFill>
            <a:srgbClr val="38BDF8">
              <a:alpha val="12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4" name="Text 32"/>
          <p:cNvSpPr/>
          <p:nvPr/>
        </p:nvSpPr>
        <p:spPr>
          <a:xfrm>
            <a:off x="9629775" y="3310235"/>
            <a:ext cx="15627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38BD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9900345" y="3262610"/>
            <a:ext cx="7197105" cy="581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25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Paralelização já implementada no Programa 5 (p=11, speedup ~3× em 4 núcleos). Melhorias futuras: expandir paralelismo, portar gargalos para C/Cython</a:t>
            </a:r>
            <a:endParaRPr lang="en-US" sz="1425" dirty="0"/>
          </a:p>
        </p:txBody>
      </p:sp>
      <p:sp>
        <p:nvSpPr>
          <p:cNvPr id="36" name="Shape 34"/>
          <p:cNvSpPr/>
          <p:nvPr/>
        </p:nvSpPr>
        <p:spPr>
          <a:xfrm>
            <a:off x="9553575" y="3957935"/>
            <a:ext cx="232470" cy="228600"/>
          </a:xfrm>
          <a:prstGeom prst="roundRect">
            <a:avLst>
              <a:gd name="adj" fmla="val 12500"/>
            </a:avLst>
          </a:prstGeom>
          <a:solidFill>
            <a:srgbClr val="38BDF8">
              <a:alpha val="12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7" name="Text 35"/>
          <p:cNvSpPr/>
          <p:nvPr/>
        </p:nvSpPr>
        <p:spPr>
          <a:xfrm>
            <a:off x="9629775" y="3986510"/>
            <a:ext cx="15627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38BD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9900345" y="3938885"/>
            <a:ext cx="7197105" cy="581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25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Simulated annealing </a:t>
            </a:r>
            <a:r>
              <a:rPr lang="en-US" sz="1425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pós-greedy: remove elementos redundantes de SB — pode reduzir gap de 1,79× para ~1,2–1,3×</a:t>
            </a:r>
            <a:endParaRPr lang="en-US" sz="1425" dirty="0"/>
          </a:p>
        </p:txBody>
      </p:sp>
      <p:sp>
        <p:nvSpPr>
          <p:cNvPr id="39" name="Shape 37"/>
          <p:cNvSpPr/>
          <p:nvPr/>
        </p:nvSpPr>
        <p:spPr>
          <a:xfrm>
            <a:off x="9553575" y="4634210"/>
            <a:ext cx="232470" cy="228600"/>
          </a:xfrm>
          <a:prstGeom prst="roundRect">
            <a:avLst>
              <a:gd name="adj" fmla="val 12500"/>
            </a:avLst>
          </a:prstGeom>
          <a:solidFill>
            <a:srgbClr val="38BDF8">
              <a:alpha val="12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0" name="Text 38"/>
          <p:cNvSpPr/>
          <p:nvPr/>
        </p:nvSpPr>
        <p:spPr>
          <a:xfrm>
            <a:off x="9629775" y="4662785"/>
            <a:ext cx="15627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38BD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5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9900345" y="4615160"/>
            <a:ext cx="7197105" cy="6098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25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Simetria combinatória</a:t>
            </a:r>
            <a:r>
              <a:rPr lang="en-US" sz="1425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grupo S</a:t>
            </a:r>
            <a:r>
              <a:rPr lang="en-US" sz="1187" baseline="-400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25 </a:t>
            </a:r>
            <a:r>
              <a:rPr lang="en-US" sz="1425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 sobre o problema → redução por órbitas diminui o espaço de busca</a:t>
            </a:r>
            <a:endParaRPr lang="en-US" sz="1425" dirty="0"/>
          </a:p>
        </p:txBody>
      </p:sp>
      <p:sp>
        <p:nvSpPr>
          <p:cNvPr id="42" name="Shape 40"/>
          <p:cNvSpPr/>
          <p:nvPr/>
        </p:nvSpPr>
        <p:spPr>
          <a:xfrm>
            <a:off x="1143000" y="9496425"/>
            <a:ext cx="16002000" cy="9525"/>
          </a:xfrm>
          <a:prstGeom prst="rect">
            <a:avLst/>
          </a:prstGeom>
          <a:solidFill>
            <a:srgbClr val="161C2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3" name="Text 41"/>
          <p:cNvSpPr/>
          <p:nvPr/>
        </p:nvSpPr>
        <p:spPr>
          <a:xfrm>
            <a:off x="1143000" y="9639300"/>
            <a:ext cx="8392478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chemeClr val="bg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Karp 1972 · Johnson 1974 · Schönheim 1964 · Feige 1998 · Rödl 1985 · Dinur &amp; Steurer 2014</a:t>
            </a:r>
            <a:endParaRPr lang="en-US" sz="1125" dirty="0">
              <a:solidFill>
                <a:schemeClr val="bg1"/>
              </a:solidFill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9893808" y="9665208"/>
            <a:ext cx="128016" cy="164592"/>
          </a:xfrm>
          <a:prstGeom prst="rect">
            <a:avLst/>
          </a:prstGeom>
          <a:noFill/>
        </p:spPr>
        <p:txBody>
          <a:bodyPr wrap="none" lIns="36576" tIns="18288" rIns="36576" bIns="18288" anchor="ctr">
            <a:spAutoFit/>
          </a:bodyPr>
          <a:lstStyle/>
          <a:p>
            <a:pPr algn="ctr"/>
            <a:r>
              <a:rPr sz="800" b="0">
                <a:solidFill>
                  <a:srgbClr val="475569"/>
                </a:solidFill>
                <a:latin typeface="Inter"/>
              </a:rPr>
              <a:t>●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058400" y="9665208"/>
            <a:ext cx="128016" cy="164592"/>
          </a:xfrm>
          <a:prstGeom prst="rect">
            <a:avLst/>
          </a:prstGeom>
          <a:noFill/>
        </p:spPr>
        <p:txBody>
          <a:bodyPr wrap="none" lIns="36576" tIns="18288" rIns="36576" bIns="18288" anchor="ctr">
            <a:spAutoFit/>
          </a:bodyPr>
          <a:lstStyle/>
          <a:p>
            <a:pPr algn="ctr"/>
            <a:r>
              <a:rPr sz="800" b="0">
                <a:solidFill>
                  <a:srgbClr val="475569"/>
                </a:solidFill>
                <a:latin typeface="Inter"/>
              </a:rPr>
              <a:t>●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222992" y="9665208"/>
            <a:ext cx="128016" cy="164592"/>
          </a:xfrm>
          <a:prstGeom prst="rect">
            <a:avLst/>
          </a:prstGeom>
          <a:noFill/>
        </p:spPr>
        <p:txBody>
          <a:bodyPr wrap="none" lIns="36576" tIns="18288" rIns="36576" bIns="18288" anchor="ctr">
            <a:spAutoFit/>
          </a:bodyPr>
          <a:lstStyle/>
          <a:p>
            <a:pPr algn="ctr"/>
            <a:r>
              <a:rPr sz="800" b="0">
                <a:solidFill>
                  <a:srgbClr val="475569"/>
                </a:solidFill>
                <a:latin typeface="Inter"/>
              </a:rPr>
              <a:t>●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387584" y="9665208"/>
            <a:ext cx="128016" cy="164592"/>
          </a:xfrm>
          <a:prstGeom prst="rect">
            <a:avLst/>
          </a:prstGeom>
          <a:noFill/>
        </p:spPr>
        <p:txBody>
          <a:bodyPr wrap="none" lIns="36576" tIns="18288" rIns="36576" bIns="18288" anchor="ctr">
            <a:spAutoFit/>
          </a:bodyPr>
          <a:lstStyle/>
          <a:p>
            <a:pPr algn="ctr"/>
            <a:r>
              <a:rPr sz="800" b="0">
                <a:solidFill>
                  <a:srgbClr val="475569"/>
                </a:solidFill>
                <a:latin typeface="Inter"/>
              </a:rPr>
              <a:t>●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552176" y="9665208"/>
            <a:ext cx="128016" cy="164592"/>
          </a:xfrm>
          <a:prstGeom prst="rect">
            <a:avLst/>
          </a:prstGeom>
          <a:noFill/>
        </p:spPr>
        <p:txBody>
          <a:bodyPr wrap="none" lIns="36576" tIns="18288" rIns="36576" bIns="18288" anchor="ctr">
            <a:spAutoFit/>
          </a:bodyPr>
          <a:lstStyle/>
          <a:p>
            <a:pPr algn="ctr"/>
            <a:r>
              <a:rPr sz="800" b="0">
                <a:solidFill>
                  <a:srgbClr val="475569"/>
                </a:solidFill>
                <a:latin typeface="Inter"/>
              </a:rPr>
              <a:t>●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716768" y="9665208"/>
            <a:ext cx="128016" cy="164592"/>
          </a:xfrm>
          <a:prstGeom prst="rect">
            <a:avLst/>
          </a:prstGeom>
          <a:noFill/>
        </p:spPr>
        <p:txBody>
          <a:bodyPr wrap="none" lIns="36576" tIns="18288" rIns="36576" bIns="18288" anchor="ctr">
            <a:spAutoFit/>
          </a:bodyPr>
          <a:lstStyle/>
          <a:p>
            <a:pPr algn="ctr"/>
            <a:r>
              <a:rPr sz="800" b="0">
                <a:solidFill>
                  <a:srgbClr val="475569"/>
                </a:solidFill>
                <a:latin typeface="Inter"/>
              </a:rPr>
              <a:t>●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881360" y="9665208"/>
            <a:ext cx="128016" cy="164592"/>
          </a:xfrm>
          <a:prstGeom prst="rect">
            <a:avLst/>
          </a:prstGeom>
          <a:noFill/>
        </p:spPr>
        <p:txBody>
          <a:bodyPr wrap="none" lIns="36576" tIns="18288" rIns="36576" bIns="18288" anchor="ctr">
            <a:spAutoFit/>
          </a:bodyPr>
          <a:lstStyle/>
          <a:p>
            <a:pPr algn="ctr"/>
            <a:r>
              <a:rPr sz="800" b="0">
                <a:solidFill>
                  <a:srgbClr val="475569"/>
                </a:solidFill>
                <a:latin typeface="Inter"/>
              </a:rPr>
              <a:t>●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1045952" y="9665208"/>
            <a:ext cx="128016" cy="164592"/>
          </a:xfrm>
          <a:prstGeom prst="rect">
            <a:avLst/>
          </a:prstGeom>
          <a:noFill/>
        </p:spPr>
        <p:txBody>
          <a:bodyPr wrap="none" lIns="36576" tIns="18288" rIns="36576" bIns="18288" anchor="ctr">
            <a:spAutoFit/>
          </a:bodyPr>
          <a:lstStyle/>
          <a:p>
            <a:pPr algn="ctr"/>
            <a:r>
              <a:rPr sz="800" b="0">
                <a:solidFill>
                  <a:srgbClr val="475569"/>
                </a:solidFill>
                <a:latin typeface="Inter"/>
              </a:rPr>
              <a:t>●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1210544" y="9665208"/>
            <a:ext cx="128016" cy="164592"/>
          </a:xfrm>
          <a:prstGeom prst="rect">
            <a:avLst/>
          </a:prstGeom>
          <a:noFill/>
        </p:spPr>
        <p:txBody>
          <a:bodyPr wrap="none" lIns="36576" tIns="18288" rIns="36576" bIns="18288" anchor="ctr">
            <a:spAutoFit/>
          </a:bodyPr>
          <a:lstStyle/>
          <a:p>
            <a:pPr algn="ctr"/>
            <a:r>
              <a:rPr sz="800" b="0">
                <a:solidFill>
                  <a:srgbClr val="475569"/>
                </a:solidFill>
                <a:latin typeface="Inter"/>
              </a:rPr>
              <a:t>●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1375136" y="9665208"/>
            <a:ext cx="128016" cy="164592"/>
          </a:xfrm>
          <a:prstGeom prst="rect">
            <a:avLst/>
          </a:prstGeom>
          <a:noFill/>
        </p:spPr>
        <p:txBody>
          <a:bodyPr wrap="none" lIns="36576" tIns="18288" rIns="36576" bIns="18288" anchor="ctr">
            <a:spAutoFit/>
          </a:bodyPr>
          <a:lstStyle/>
          <a:p>
            <a:pPr algn="ctr"/>
            <a:r>
              <a:rPr sz="800" b="0">
                <a:solidFill>
                  <a:srgbClr val="475569"/>
                </a:solidFill>
                <a:latin typeface="Inter"/>
              </a:rPr>
              <a:t>●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1539728" y="9665208"/>
            <a:ext cx="128016" cy="164592"/>
          </a:xfrm>
          <a:prstGeom prst="rect">
            <a:avLst/>
          </a:prstGeom>
          <a:noFill/>
        </p:spPr>
        <p:txBody>
          <a:bodyPr wrap="none" lIns="36576" tIns="18288" rIns="36576" bIns="18288" anchor="ctr">
            <a:spAutoFit/>
          </a:bodyPr>
          <a:lstStyle/>
          <a:p>
            <a:pPr algn="ctr"/>
            <a:r>
              <a:rPr sz="800" b="0">
                <a:solidFill>
                  <a:srgbClr val="38BDF8"/>
                </a:solidFill>
                <a:latin typeface="Inter"/>
              </a:rPr>
              <a:t>●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6504920" y="9637776"/>
            <a:ext cx="749808" cy="219456"/>
          </a:xfrm>
          <a:prstGeom prst="rect">
            <a:avLst/>
          </a:prstGeom>
          <a:noFill/>
        </p:spPr>
        <p:txBody>
          <a:bodyPr wrap="none" lIns="36576" tIns="18288" rIns="36576" bIns="18288" anchor="ctr">
            <a:spAutoFit/>
          </a:bodyPr>
          <a:lstStyle/>
          <a:p>
            <a:pPr algn="r"/>
            <a:r>
              <a:rPr sz="1050" b="0">
                <a:solidFill>
                  <a:srgbClr val="94A3B8"/>
                </a:solidFill>
                <a:latin typeface="JetBrains Mono"/>
              </a:rPr>
              <a:t>11 de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2945</Words>
  <Application>Microsoft Office PowerPoint</Application>
  <PresentationFormat>Personalizar</PresentationFormat>
  <Paragraphs>608</Paragraphs>
  <Slides>12</Slides>
  <Notes>9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17" baseType="lpstr">
      <vt:lpstr>Aptos Black</vt:lpstr>
      <vt:lpstr>Arial</vt:lpstr>
      <vt:lpstr>Inter</vt:lpstr>
      <vt:lpstr>JetBrains Mono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Jafte Carneiro Fagundes da Silva</cp:lastModifiedBy>
  <cp:revision>4</cp:revision>
  <dcterms:created xsi:type="dcterms:W3CDTF">2026-06-21T00:39:44Z</dcterms:created>
  <dcterms:modified xsi:type="dcterms:W3CDTF">2026-06-24T18:33:20Z</dcterms:modified>
</cp:coreProperties>
</file>