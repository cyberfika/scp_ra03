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565392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PUCPR · Complexidade de Algoritmos · RA03 · 2026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B223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466344" cy="292608"/>
          </a:xfrm>
          <a:prstGeom prst="roundRect">
            <a:avLst>
              <a:gd name="adj" fmla="val 50000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466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280160" y="502920"/>
            <a:ext cx="2276856" cy="292608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502920"/>
            <a:ext cx="2276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DE ALGORITMOS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AVALIATIVO · RA03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Combinações</a:t>
            </a:r>
            <a:pPr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Set Cover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gulosa, lower bounds e experimentos comparativos sobre uma instância NP-difícil com U = {1..25} e |S₁₅| ≈ 3,27 milhões.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106424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5166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Jafté Carneiro Fagundes da Silva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Edson Emílio Scalabrin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5166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Pontifícia Universidade Católica do Paraná — PUCPR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54132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Bacharelado em Ciência da Computação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56692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ANO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5897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Curitiba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formal do problema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669280" cy="49377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5720" cy="4937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e famílias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03520" cy="1371600"/>
          </a:xfrm>
          <a:prstGeom prst="rect">
            <a:avLst/>
          </a:prstGeom>
          <a:solidFill>
            <a:srgbClr val="060B1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01952"/>
            <a:ext cx="5084064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{1, 2, ..., 25}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S15 = todos os subconjuntos de tamanho 15 de 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  = todos os subconjuntos de tamanho p de U,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para p em {14, 13, 12, 11}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5303520" cy="1417320"/>
          </a:xfrm>
          <a:prstGeom prst="rect">
            <a:avLst/>
          </a:prstGeom>
          <a:solidFill>
            <a:srgbClr val="060B1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730752"/>
            <a:ext cx="5084064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cada p em {14,13,12,11},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encontrar SB15,p ⊂ S15 tal que: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∀ Y ∈ Sp, ∃ X ∈ SB15,p : Y ⊂ 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5303520" cy="49377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417320"/>
            <a:ext cx="45720" cy="49377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508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Cardinalidades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828800"/>
          <a:ext cx="4937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C(25,15)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3.268.760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C(25,14)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4.457.400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C(25,13)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5.200.300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C(25,12)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5.200.300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C(25,11)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4.457.400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583680" y="40233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candidato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∈ S₁₅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cobre todos os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∈ Sp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tais que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⊂ X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Trata-se de uma instância de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Set Cover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NP-difícil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ILP direto e força bruta são inviáveis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03520" cy="49377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5720" cy="4937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ILP — Programação Linear Inteira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937760" cy="1645920"/>
          </a:xfrm>
          <a:prstGeom prst="rect">
            <a:avLst/>
          </a:prstGeom>
          <a:solidFill>
            <a:srgbClr val="060B1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01952"/>
            <a:ext cx="4718304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xi ∈ {0,1},  para cada Xi ∈ S15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minimizar  Σ xi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s.a.       Σ_{i: Y ⊂ Xi} xi  ≥  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∀ Y ∈ Sp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Programação Linear relaxada — variáveis contínuas.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ILP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variáveis inteiras/binárias — exato, porém inviável em escala completa.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5669280" cy="49377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417320"/>
            <a:ext cx="45720" cy="49377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ILP por valor de p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143000"/>
                <a:gridCol w="1143000"/>
                <a:gridCol w="141732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Restrições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Coef. ≠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Viável?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3.268.760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4.457.400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49.031.400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3.268.760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5.200.300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343.219.800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3.268.760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5.200.300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1.487.285.800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3.268.760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4.457.400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4.461.857.400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217920" y="443484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Bilhões de coeficientes não-nulos → memória e tempo proibitivos. Solução: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+ lower bounds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bounds e critério de qualidade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400800" cy="49377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5720" cy="4937760"/>
          </a:xfrm>
          <a:prstGeom prst="rect">
            <a:avLst/>
          </a:prstGeom>
          <a:solidFill>
            <a:srgbClr val="34D399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035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64592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C(15,p)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LB-LP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LB-Schönheim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297.160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297.172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1417320"/>
            <a:ext cx="4663440" cy="233172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0" y="1417320"/>
            <a:ext cx="45720" cy="2331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0" y="15544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LB-LP — contagem direta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23760" y="1965960"/>
            <a:ext cx="4389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X ∈ S₁₅ cobre exatamente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C(15,p)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alvos. Portanto |SB| ≥ ⌈|Sp| / C(15,p)⌉.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3931920"/>
            <a:ext cx="4663440" cy="24231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40880" y="3931920"/>
            <a:ext cx="45720" cy="24231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40690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LB-Schönheim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0" y="448056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combinatória clássica para covering designs C(v,k,t). Fornece limite inferior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apertado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 LB-LP — referência para o gap do greedy.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5720" cy="1161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2704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bitmask uint32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 por elemento de U; representa qualquer subconjunto.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0488" y="1417320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88" y="1417320"/>
            <a:ext cx="45720" cy="1161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52704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inclusão O(1)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73368" y="1920240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&amp; Y) == Y → verifica Y ⊂ X em tempo constante.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88336"/>
            <a:ext cx="45720" cy="11612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98064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NumPy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191256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count[], não_coberto[] vetorizados — ops em C nativo.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0488" y="2688336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88" y="2688336"/>
            <a:ext cx="45720" cy="11612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798064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3368" y="3191256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s15_index: mask→idx ; sp_index: mask→idx — lookup O(1).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59352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59352"/>
            <a:ext cx="45720" cy="11612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6908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lazy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462272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do melhor X* para p=14 e p=13.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0488" y="3959352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0488" y="3959352"/>
            <a:ext cx="45720" cy="11612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406908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np.argmax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73368" y="4462272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vetorizada para p=12 (130k updates/iter).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230368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230368"/>
            <a:ext cx="45720" cy="11612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34009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paralela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733288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multiprocessing de count[] no Programa 5 (p=11).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90488" y="5230368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0488" y="5230368"/>
            <a:ext cx="45720" cy="11612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4" name="Text 32"/>
          <p:cNvSpPr/>
          <p:nvPr/>
        </p:nvSpPr>
        <p:spPr>
          <a:xfrm>
            <a:off x="6373368" y="534009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não_coberto[]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73368" y="5733288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Marcação rápida de alvos cobertos — evita reprocessar.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guloso e garantia teórica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583680" cy="4937760"/>
          </a:xfrm>
          <a:prstGeom prst="rect">
            <a:avLst/>
          </a:prstGeom>
          <a:solidFill>
            <a:srgbClr val="060B1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90472"/>
            <a:ext cx="6364224" cy="4791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Entrada: S15, Sp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Pré-processamento: construir índices, count[] e não_coberto[]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 ← ∅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enquanto existir alvo não coberto: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escolher  X*  com maior count[X]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adicionar X*  a SB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marcar X* como indisponível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 cada Y ⊂ X* com |Y| = p: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 Y ainda não coberto: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marcar Y como coberto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para cada X que contém 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decrementar count[X]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retornar SB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223760" y="1417320"/>
            <a:ext cx="4480560" cy="237744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1417320"/>
            <a:ext cx="45720" cy="23774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0" y="15544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clássica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1920240"/>
            <a:ext cx="4206240" cy="868680"/>
          </a:xfrm>
          <a:prstGeom prst="rect">
            <a:avLst/>
          </a:prstGeom>
          <a:solidFill>
            <a:srgbClr val="060B1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16368" y="1993392"/>
            <a:ext cx="3986784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|SB_greedy|  ≤  H(|Sp|) · |OPT|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H(n) ≈ ln(n) + 0,577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28803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|Sp| ≈ 5,2·10⁶, H(n) ≈ 15,4 — pior caso teórico.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0" y="3977640"/>
            <a:ext cx="4480560" cy="237744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3977640"/>
            <a:ext cx="45720" cy="2377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41148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central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6640" y="4526280"/>
            <a:ext cx="42062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iteração, escolhe-se o candidato que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o maior número de alvos ainda descobertos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Determinístico, simples e com forte garantia logarítmica.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complexidade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212080" cy="49377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5720" cy="4937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Notação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846320" cy="1554480"/>
          </a:xfrm>
          <a:prstGeom prst="rect">
            <a:avLst/>
          </a:prstGeom>
          <a:solidFill>
            <a:srgbClr val="060B1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01952"/>
            <a:ext cx="46268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N15 = C(25,15)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  = C(25,p)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  = |SB_greedy|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= C(15,p) · C(25−p, 15−p)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updates por iteração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1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geração em Θ(C(n,p)).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2–5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greedy set cover.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atualização de count[].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O(N₁₅ + Np).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5852160" cy="49377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1417320"/>
            <a:ext cx="45720" cy="4937760"/>
          </a:xfrm>
          <a:prstGeom prst="rect">
            <a:avLst/>
          </a:prstGeom>
          <a:solidFill>
            <a:srgbClr val="A78BFA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22960"/>
                <a:gridCol w="1188720"/>
                <a:gridCol w="960120"/>
                <a:gridCol w="96012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C(15,p)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C(25−p,15−p)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iter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obtido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532.555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lazy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128.827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lazy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130.130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argmax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1.366.365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035040" y="45720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estratégia muda conforme A cresce de centenas para milhões de updates/iter.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Gargalos e paralelismo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623560" cy="49377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5720" cy="4937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1 — geração paralela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5257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659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 (S₁₅..S₁₁)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80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Paralelo (multiprocessing)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18,7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 observado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4,3×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114800"/>
            <a:ext cx="5257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Sp é gerado de forma independente → paralelismo embaraçoso.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440680" cy="49377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1417320"/>
            <a:ext cx="45720" cy="49377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5544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5 — p = 11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46520" y="196596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custo por iteração: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1.366.365 updates/iter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Volume suficiente para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amortizar overhead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IPC → atualização paralela de count[].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46520" y="3611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P2/P3/P4 não paralelizam da mesma forma: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29400" y="40233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p=14: apenas 165 updates/iter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p=13: 6.930 updates/iter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p=12: 130.130, mas np.argmax + overhead de IPC reduzem o ganho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principais — n = 25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417320"/>
                <a:gridCol w="1280160"/>
                <a:gridCol w="1691640"/>
                <a:gridCol w="1554480"/>
                <a:gridCol w="1554480"/>
                <a:gridCol w="1463040"/>
                <a:gridCol w="1737360"/>
              </a:tblGrid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|Sp|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LB-LP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LB-Schönheim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|SB_greedy|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LB-Sch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S₁₅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4.457.400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297.160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297.172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532.555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5.200.300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128.827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5.200.300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~79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4.457.400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3611880" cy="146304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4206240"/>
            <a:ext cx="45720" cy="14630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3434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teórica (pior caso)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47091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15,4×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206240" y="4206240"/>
            <a:ext cx="3611880" cy="146304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06240" y="4206240"/>
            <a:ext cx="45720" cy="1463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0" y="43434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observado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0" y="47091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1,79× — 3,78×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7955280" y="4206240"/>
            <a:ext cx="3611880" cy="146304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55280" y="4206240"/>
            <a:ext cx="45720" cy="14630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/>
          <p:nvPr/>
        </p:nvSpPr>
        <p:spPr>
          <a:xfrm>
            <a:off x="8138160" y="43434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prático sobre pior caso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38160" y="47091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a 9× melhor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auditoria exata deve permanecer pendente até o término da execução de audit_cobertura.py.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comparativo das abordagens do enunciado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5720" cy="11612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2704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Gulosos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Adotado como base — H(n)-aproximação, rápido, determinístico.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0488" y="1417320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88" y="1417320"/>
            <a:ext cx="45720" cy="1161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52704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and Bound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73368" y="1920240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Exato; combinável com greedy para podas e refinamento.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88336"/>
            <a:ext cx="45720" cy="116128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98064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Inteira (ILP)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191256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Exato; inviável em escala completa — bilhões de coef.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0488" y="2688336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88" y="2688336"/>
            <a:ext cx="45720" cy="11612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798064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Probabilísticos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3368" y="3191256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Greedy: ganhos de ordem em tempo (+&lt;10% |SB|).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59352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59352"/>
            <a:ext cx="45720" cy="11612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6908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Randômicos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462272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— randomização + busca local com múltiplos restarts.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0488" y="3959352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0488" y="3959352"/>
            <a:ext cx="45720" cy="11612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406908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Metaheurísticas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73368" y="4462272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Annealing, GA, Tabu — exploração de vizinhanças.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230368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230368"/>
            <a:ext cx="45720" cy="11612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34009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Paralela / Distribuída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733288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em P1 (geração) e P5 (count[] em p=11).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90488" y="5230368"/>
            <a:ext cx="5623560" cy="1161288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0488" y="5230368"/>
            <a:ext cx="45720" cy="1161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Text 32"/>
          <p:cNvSpPr/>
          <p:nvPr/>
        </p:nvSpPr>
        <p:spPr>
          <a:xfrm>
            <a:off x="6373368" y="534009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abordagens científicas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73368" y="5733288"/>
            <a:ext cx="53492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Generation e Relaxação Lagrangiana → lower bounds.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alternativos e ganhos medidos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623560" cy="320040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5720" cy="32004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medium — n=15, k=9, p=6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5257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0515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|SB|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10,035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Stochastic Greedy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48,813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Relaxação Lagrangiana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23,948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18,551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417320"/>
            <a:ext cx="5440680" cy="320040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17320"/>
            <a:ext cx="45720" cy="32004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5544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large-demo — n=16, k=10, p=6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96596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1732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|SB|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24,895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Stochastic Greedy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143,862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+ poda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28,268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4800600"/>
            <a:ext cx="11247120" cy="155448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4800600"/>
            <a:ext cx="45720" cy="15544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" y="493776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comparativa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" y="5349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Greedy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foi a alternativa com maior ganho de desempenho medido —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13,5× mais rápido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medium e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20,6× mais rápido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large-demo, com aumento de |SB| inferior a 10%. GRASP validou o eixo de metaheurísticas, mas não compensou o custo. Relaxação Lagrangiana e Column Generation entram como abordagens científicas para lower bounds e alternativas ao ILP direto.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possíveis melhorias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623560" cy="49377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5720" cy="49377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ILP direto inviável em escala completa.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não garante solução ótima global.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exata em escala completa é cara.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limitada para n &gt; 27.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ainda alto para p = 13 e p = 11.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440680" cy="49377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417320"/>
            <a:ext cx="45720" cy="4937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5544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ILP pós-greedy como refinamento (não como resultado principal).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and Bound / Branch-and-Price em espaço reduzido.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Generation e Relaxação Lagrangiana.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pós-greedy; GRASP paralelo com mais restarts.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Bitsets vetorizados, Cython ou C/C++ nos gargalos.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em múltiplos processos/máquinas.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técnica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080760" cy="411480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5720" cy="4114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760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foi modelado como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Set Cover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U = {1..25}. ILP direto é inviável (bilhões de coeficientes), portanto adotou-se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com bitmasks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hash maps, heap lazy e NumPy, com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paralelismo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P1 e em P5 (p = 11). Os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bounds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(LP e Schönheim) fornecem o critério de qualidade.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20840" y="1417320"/>
            <a:ext cx="4983480" cy="411480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1417320"/>
            <a:ext cx="45720" cy="41148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15544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em uma frase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201168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observado entre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1,79×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3,78×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 a garantia teórica de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15,4×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greedy ficou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a 9× melhor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 pior caso, com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Greedy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demonstrando o maior ganho de desempenho entre as alternativas medidas.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 </a:t>
            </a:r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RA03 — Cobertura de Combinações (Minimum Set Cover)</dc:title>
  <dc:subject>PptxGenJS Presentation</dc:subject>
  <dc:creator>Jafté Carneiro Fagundes da Silva</dc:creator>
  <cp:lastModifiedBy>Jafté Carneiro Fagundes da Silva</cp:lastModifiedBy>
  <cp:revision>1</cp:revision>
  <dcterms:created xsi:type="dcterms:W3CDTF">2026-06-24T19:06:54Z</dcterms:created>
  <dcterms:modified xsi:type="dcterms:W3CDTF">2026-06-24T19:06:54Z</dcterms:modified>
</cp:coreProperties>
</file>