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 a todos. Vou apresentar o Trabalho Avaliativo RA03 sobre o problema de Cobertura de Combinações — uma instância do Minimum Set Cover, reconhecido como NP-difícil. O trabalho foi desenvolvido na disciplina Complexidade de Algoritmos da PUCPR.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parte de um universo U com 25 elementos. S15 contém todos os subconjuntos de tamanho 15, totalizando C(25,15) = 3.268.760 conjuntos. O objetivo é encontrar o menor subconjunto de S15 que cobre todos os elementos de Sp. Isso se modela naturalmente como um ILP — Programação Linear Inteira — em que cada variável xᵢ indica se o conjunto Xi foi selecionado.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ILP fornece a solução ótima exata — mas ao olharmos para a escala do problema, percebemos que é computacionalmente inviável. Para p=11, temos 4,46 bilhões de coeficientes não-nulos na matriz de restrições. Nem a memória disponível suporta essa estrutura, tampouco o tempo de execução de um solver como o CPLEX ou Gurobi seria aceitável.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avaliar a qualidade da solução obtida, precisamos de limites inferiores. O LB-LP vem de uma contagem direta: cada X em S15 cobre exatamente C(15,p) alvos de Sp, portanto precisamos de pelo menos |Sp| dividido por C(15,p) conjuntos. O limite de Schönheim é um resultado combinatório mais refinado e fornece cotas mais apertadas.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eficiência do algoritmo depende criticamente das estruturas de dados. A principal inovação é usar bitmasks de 32 bits para representar conjuntos, o que transforma o teste de inclusão em uma única instrução AND — O(1). Os dicionários hash indexam S15 e Sp por bitmask, permitindo acesso direto. O heap lazy e o argmax do NumPy são escolhidos adaptivamente conforme a densidade de atualizações de cada instância.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algoritmo greedy para Set Cover é clássico: em cada iteração, seleciona o conjunto que cobre o maior número de alvos ainda não cobertos, marca esses alvos, e atualiza os contadores dos conjuntos restantes. A garantia teórica diz que a solução obtida é no máximo H(|Sp|) vezes o ótimo — onde H(n) é a série harmônica. Para nosso caso, isso equivale a aproximadamente 15,4 vezes o ótimo no pior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de complexidade é centrada em dois eixos: a geração dos conjuntos (Programa 1, Theta de C(n,p)) e o algoritmo greedy (Programas 2 a 5). O gargalo principal é a atualização do vetor count[] após cada seleção de X*. O número de atualizações por iteração — representado por A — cresce de 165 para p=14 até 1,36 milhão para p=11. É exatamente esse crescimento que motivou as diferentes estratégias de implementação.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paralelismo foi aplicado em dois pontos críticos. No Programa 1, os cinco conjuntos são gerados de forma independente em paralelo, obtendo speedup de 4,3x. No Programa 5, para p=11, o volume de 1,36 milhão de atualizações por iteração é suficiente para amortizar o overhead de comunicação entre processos. Para p=14 e p=13, paralelizar o heap lazy traria overhead maior que o ganho. Para p=12, o np.argmax já é vetorizado em C e torna o ganho de IPC menos expressivo.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resultados são os mais expressivos do trabalho. Para todos os valores de p, o greedy produziu soluções entre 1,79x e 3,78x o lower bound de Schönheim. A garantia teórica permitiria um gap de até 15,4x — portanto, os resultados reais ficaram entre 4x e 9x melhores que o pior caso teórico. Importante notar que a auditoria exata de cobertura para p=11 e p=12 permanece pendente até a conclusão do script audit_cobertura.py.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pede uma discussão de todas as abordagens alternativas. O greedy foi a abordagem central adotada. A computação paralela foi aplicada diretamente. O Stochastic Greedy e o GRASP foram testados experimentalmente em instâncias benchmark. A Relaxação Lagrangiana e o Column Generation foram implementados como referências para lower bounds e alternativas ao ILP. Branch and Bound e ILP direto ficam como alternativas teóricas inviáveis na escala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validar as abordagens alternativas, foram conduzidos experimentos em instâncias menores e controláveis. Na instância medium, o Stochastic Greedy foi 13,5x mais rápido com apenas 8,6% de aumento em |SB|. Na instância large-demo, o speedup chegou a 20,6x. O GRASP teve custo muito maior sem benefício proporcional. A Relaxação Lagrangiana e o Column Generation funcionam como ferramentas de lower bound e não como solucionadores primários.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trabalho tem limitações claras. O greedy não garante solução ótima global. A cobertura exata em escala completa é computacionalmente cara. A escalabilidade é limitada para n maior que 27. O tempo para p=13 e p=11 ainda é alto. As melhorias identificadas incluem refinamento via ILP pós-greedy, Branch-and-Price, Column Generation completo, métodos de Simulated Annealing, GRASP paralelo e uso de implementações de baixo nível em Cython ou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concluir: o Greedy Set Cover mostrou-se a estratégia mais eficaz para a escala do problema, com resultados entre 4 e 9 vezes melhores que o pior caso teórico da garantia logarítmica. O Stochastic Greedy emergiu como a melhor alternativa prática. O paralelismo foi eficaz onde o volume de trabalho justificou o overhead. As abordagens exatas e metaheurísticas restam como trabalhos futuros viáveis em subescalas ou em hardware mais robusto. Agradeço a atenção e abro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81800" y="2381399"/>
            <a:ext cx="4724400" cy="457200"/>
          </a:xfrm>
          <a:prstGeom prst="roundRect">
            <a:avLst>
              <a:gd name="adj" fmla="val 833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87159" y="2476649"/>
            <a:ext cx="43136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21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AVALIATIVO · RA03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691497" y="3257699"/>
            <a:ext cx="12905006" cy="87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300" b="1" spc="-63" kern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Combinações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6924243" y="4269135"/>
            <a:ext cx="443951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spc="165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Set Cover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286500" y="5278785"/>
            <a:ext cx="5715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2857500" y="5783610"/>
            <a:ext cx="41630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57500" y="6107460"/>
            <a:ext cx="416300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Complexidade de Algoritmos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51650" y="5783610"/>
            <a:ext cx="41630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51650" y="6107460"/>
            <a:ext cx="3898087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Bacharelado em Ciência da Computação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645801" y="5783610"/>
            <a:ext cx="41631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Instituição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645801" y="6107460"/>
            <a:ext cx="389824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Pontifícia Universidade Católica do Paraná — PUCPR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857500" y="6972151"/>
            <a:ext cx="41630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57500" y="7296001"/>
            <a:ext cx="389808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51650" y="6972151"/>
            <a:ext cx="41630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51650" y="7296001"/>
            <a:ext cx="41630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Edson Emilio Scalabrin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645801" y="6972151"/>
            <a:ext cx="41631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 Ano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645801" y="7296001"/>
            <a:ext cx="41631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Curitiba, 2026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DO PROBLEMA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Formulação Formal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143125"/>
            <a:ext cx="7943850" cy="2404021"/>
          </a:xfrm>
          <a:prstGeom prst="roundRect">
            <a:avLst>
              <a:gd name="adj" fmla="val 2377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0625" y="2343150"/>
            <a:ext cx="8214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2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UNIVERSO E CONJUNTOS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90625" y="2743200"/>
            <a:ext cx="82143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{1, 2, ..., 25}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90625" y="3276600"/>
            <a:ext cx="769162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S₁₅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todos os subconjuntos de tamanho 15 de U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C(25,15) =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3.268.760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90625" y="4015680"/>
            <a:ext cx="82143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Sₚ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todos os subconjuntos de tamanho p, p ∈ {14, 13, 12, 11}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4718596"/>
            <a:ext cx="7943850" cy="4882604"/>
          </a:xfrm>
          <a:prstGeom prst="roundRect">
            <a:avLst>
              <a:gd name="adj" fmla="val 1170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0625" y="4918621"/>
            <a:ext cx="8214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2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0625" y="5318671"/>
            <a:ext cx="7691628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cada p ∈ {14, 13, 12, 11}, encontrar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SB₁₅,ₚ ⊆ S₁₅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que todo Y ∈ Sₚ esteja contido em pelo menos um X ∈ SB₁₅,ₚ.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90625" y="6179493"/>
            <a:ext cx="7467600" cy="674340"/>
          </a:xfrm>
          <a:prstGeom prst="roundRect">
            <a:avLst>
              <a:gd name="adj" fmla="val 5650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0650" y="6322368"/>
            <a:ext cx="7291578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 Y ∈ Sₚ, ∃ X ∈ SB₁₅,ₚ : Y ⊆ X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90625" y="6987183"/>
            <a:ext cx="82143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Instância de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Set Cover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problema NP-difícil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91650" y="2143125"/>
            <a:ext cx="7943850" cy="3527673"/>
          </a:xfrm>
          <a:prstGeom prst="roundRect">
            <a:avLst>
              <a:gd name="adj" fmla="val 1620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9775" y="2343150"/>
            <a:ext cx="8214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2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ILP — PROGRAMAÇÃO LINEAR INTEIRA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29775" y="2743200"/>
            <a:ext cx="7467600" cy="2281833"/>
          </a:xfrm>
          <a:prstGeom prst="roundRect">
            <a:avLst>
              <a:gd name="adj" fmla="val 1670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48850" y="2924175"/>
            <a:ext cx="7253478" cy="1957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variáveis:</a:t>
            </a:r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xᵢ ∈ {0, 1}, ∀ Xᵢ ∈ S₁₅ </a:t>
            </a:r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minimizar:</a:t>
            </a:r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∑ xᵢ </a:t>
            </a:r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s.a.:</a:t>
            </a:r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∑ xᵢ ≥ 1, ∀ Y ∈ Sₚ </a:t>
            </a:r>
            <a:pPr algn="l" indent="0" marL="0">
              <a:lnSpc>
                <a:spcPct val="21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: Y ⊆ Xᵢ)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29775" y="5139333"/>
            <a:ext cx="82143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candidato X ∈ S₁₅ cobre todos Y ∈ Sₚ com Y ⊆ X.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391650" y="5842248"/>
            <a:ext cx="3895725" cy="3758952"/>
          </a:xfrm>
          <a:prstGeom prst="roundRect">
            <a:avLst>
              <a:gd name="adj" fmla="val 1520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91675" y="6061323"/>
            <a:ext cx="384524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591675" y="6556623"/>
            <a:ext cx="38452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Linear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91675" y="6918573"/>
            <a:ext cx="360054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contínuas xᵢ ∈ [0, 1]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91675" y="8848725"/>
            <a:ext cx="360054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Polinomial — fornece lower bounds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439775" y="5842248"/>
            <a:ext cx="3895725" cy="3758952"/>
          </a:xfrm>
          <a:prstGeom prst="roundRect">
            <a:avLst>
              <a:gd name="adj" fmla="val 1520"/>
            </a:avLst>
          </a:prstGeom>
          <a:solidFill>
            <a:srgbClr val="F87171">
              <a:alpha val="6000"/>
            </a:srgbClr>
          </a:solidFill>
          <a:ln w="9525">
            <a:solidFill>
              <a:srgbClr val="F87171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639800" y="6061323"/>
            <a:ext cx="384524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ILP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13639800" y="6556623"/>
            <a:ext cx="38452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Linear Inteira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639800" y="6918573"/>
            <a:ext cx="360054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binárias xᵢ ∈ {0, 1}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639800" y="8848725"/>
            <a:ext cx="360054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NP-difícil — exato, inviável em escala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NÃO ILP DIRETO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ILP Exato — Inviável em Escala Completa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143125"/>
            <a:ext cx="137350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ILP oferece solução ótima exata, mas as dimensões do problema em escala completa tornam sua execução inviável por memória e tempo de resolução.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3267075"/>
            <a:ext cx="16383000" cy="2607469"/>
          </a:xfrm>
          <a:prstGeom prst="roundRect">
            <a:avLst>
              <a:gd name="adj" fmla="val 2192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2025" y="3276600"/>
            <a:ext cx="1155353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2025" y="3781425"/>
            <a:ext cx="1155353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114425" y="3400425"/>
            <a:ext cx="92675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17378" y="3276600"/>
            <a:ext cx="3586460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117378" y="3781425"/>
            <a:ext cx="3586460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2162184" y="3400425"/>
            <a:ext cx="3389254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(xᵢ)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03838" y="3276600"/>
            <a:ext cx="3139976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703838" y="3781425"/>
            <a:ext cx="3139976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762039" y="3400425"/>
            <a:ext cx="2929375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843814" y="3276600"/>
            <a:ext cx="6140053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843814" y="3781425"/>
            <a:ext cx="6140053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812012" y="3400425"/>
            <a:ext cx="6019455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Coeficientes Não-Nulos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983867" y="3276600"/>
            <a:ext cx="2342108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983867" y="3781425"/>
            <a:ext cx="2342108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15098167" y="3400425"/>
            <a:ext cx="211350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Viável?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62025" y="4311848"/>
            <a:ext cx="115535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14425" y="3905250"/>
            <a:ext cx="92675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117378" y="4311848"/>
            <a:ext cx="358646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162184" y="3905250"/>
            <a:ext cx="338925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3.268.760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703838" y="4311848"/>
            <a:ext cx="313997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762039" y="3905250"/>
            <a:ext cx="292937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4.457.400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843814" y="4311848"/>
            <a:ext cx="614005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812012" y="3905250"/>
            <a:ext cx="601945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49.031.400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983867" y="4311848"/>
            <a:ext cx="234210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5098167" y="3905250"/>
            <a:ext cx="2113508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62025" y="4321373"/>
            <a:ext cx="1155353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62025" y="4827984"/>
            <a:ext cx="115535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114425" y="4426148"/>
            <a:ext cx="92675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2117378" y="4321373"/>
            <a:ext cx="3586460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117378" y="4827984"/>
            <a:ext cx="358646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162184" y="4426148"/>
            <a:ext cx="338925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3.268.760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703838" y="4321373"/>
            <a:ext cx="3139976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03838" y="4827984"/>
            <a:ext cx="313997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762039" y="4426148"/>
            <a:ext cx="292937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5.200.300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843814" y="4321373"/>
            <a:ext cx="6140053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843814" y="4827984"/>
            <a:ext cx="614005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812012" y="4426148"/>
            <a:ext cx="601945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343.219.800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4983867" y="4321373"/>
            <a:ext cx="2342108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4983867" y="4827984"/>
            <a:ext cx="234210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5098167" y="4426148"/>
            <a:ext cx="211350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62025" y="5344120"/>
            <a:ext cx="115535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114425" y="4942284"/>
            <a:ext cx="92675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2117378" y="5344120"/>
            <a:ext cx="358646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2162184" y="4942284"/>
            <a:ext cx="338925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3.268.760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703838" y="5344120"/>
            <a:ext cx="313997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762039" y="4942284"/>
            <a:ext cx="292937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5.200.300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8843814" y="5344120"/>
            <a:ext cx="614005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812012" y="4942284"/>
            <a:ext cx="601945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1.487.285.800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4983867" y="5344120"/>
            <a:ext cx="234210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5098167" y="4942284"/>
            <a:ext cx="211350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62025" y="5353645"/>
            <a:ext cx="1155353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114425" y="5458420"/>
            <a:ext cx="92675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2117378" y="5353645"/>
            <a:ext cx="3586460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2162184" y="5458420"/>
            <a:ext cx="338925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3.268.760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5703838" y="5353645"/>
            <a:ext cx="3139976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762039" y="5458420"/>
            <a:ext cx="292937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4.457.400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8843814" y="5353645"/>
            <a:ext cx="6140053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8812012" y="5458420"/>
            <a:ext cx="601945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4.461.857.400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4983867" y="5353645"/>
            <a:ext cx="2342108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5098167" y="5458420"/>
            <a:ext cx="2113508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952500" y="6141244"/>
            <a:ext cx="5334000" cy="2114550"/>
          </a:xfrm>
          <a:prstGeom prst="roundRect">
            <a:avLst>
              <a:gd name="adj" fmla="val 2703"/>
            </a:avLst>
          </a:prstGeom>
          <a:solidFill>
            <a:srgbClr val="F87171">
              <a:alpha val="7000"/>
            </a:srgbClr>
          </a:solidFill>
          <a:ln w="9525">
            <a:solidFill>
              <a:srgbClr val="F87171">
                <a:alpha val="2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190625" y="6341269"/>
            <a:ext cx="5343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1190625" y="6684169"/>
            <a:ext cx="500348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Armazenar a matriz de restrições para p=11 requer suporte a 4,46 bilhões de coeficientes não-nulos — inviável em qualquer servidor convencional.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6477000" y="6141244"/>
            <a:ext cx="5334000" cy="2114550"/>
          </a:xfrm>
          <a:prstGeom prst="roundRect">
            <a:avLst>
              <a:gd name="adj" fmla="val 2703"/>
            </a:avLst>
          </a:prstGeom>
          <a:solidFill>
            <a:srgbClr val="F87171">
              <a:alpha val="7000"/>
            </a:srgbClr>
          </a:solidFill>
          <a:ln w="9525">
            <a:solidFill>
              <a:srgbClr val="F87171">
                <a:alpha val="2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15125" y="6341269"/>
            <a:ext cx="5343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Resolução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6715125" y="6684169"/>
            <a:ext cx="500348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Solvers como CPLEX e Gurobi não conseguem processar ILPs desta magnitude em tempo aceitável, mesmo com hardware dedicado.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2001500" y="6141244"/>
            <a:ext cx="5334000" cy="2114550"/>
          </a:xfrm>
          <a:prstGeom prst="roundRect">
            <a:avLst>
              <a:gd name="adj" fmla="val 2703"/>
            </a:avLst>
          </a:prstGeom>
          <a:solidFill>
            <a:srgbClr val="38BDF8">
              <a:alpha val="7000"/>
            </a:srgbClr>
          </a:solidFill>
          <a:ln w="9525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2239625" y="6341269"/>
            <a:ext cx="5343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12239625" y="6684169"/>
            <a:ext cx="500348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ILP permanece como referência teórica e pode ser usado como refinamento pós-greedy em subespaços reduzidos, não como resultado principal.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7" name="Text 75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QUALIDADE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Bounds — Medir a Qualidade da Solução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143125"/>
            <a:ext cx="7943850" cy="2607469"/>
          </a:xfrm>
          <a:prstGeom prst="roundRect">
            <a:avLst>
              <a:gd name="adj" fmla="val 2192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2025" y="2152650"/>
            <a:ext cx="927943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2025" y="2657475"/>
            <a:ext cx="927943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114425" y="2276475"/>
            <a:ext cx="69934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89968" y="2152650"/>
            <a:ext cx="1844873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89968" y="2657475"/>
            <a:ext cx="1844873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966168" y="2276475"/>
            <a:ext cx="161627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C(15,p)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34842" y="2152650"/>
            <a:ext cx="1877467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34842" y="2657475"/>
            <a:ext cx="1877467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3811042" y="2276475"/>
            <a:ext cx="1648867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LB-LP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612309" y="2152650"/>
            <a:ext cx="3274516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612309" y="2657475"/>
            <a:ext cx="3274516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666473" y="2276475"/>
            <a:ext cx="3067952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LB-Schönheim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2025" y="3187898"/>
            <a:ext cx="92794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14425" y="2781300"/>
            <a:ext cx="69934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889968" y="3187898"/>
            <a:ext cx="184487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966168" y="2781300"/>
            <a:ext cx="161627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734842" y="3187898"/>
            <a:ext cx="187746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811042" y="2781300"/>
            <a:ext cx="1648867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297.160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612309" y="3187898"/>
            <a:ext cx="327451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666473" y="2781300"/>
            <a:ext cx="3067952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297.172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2025" y="3197423"/>
            <a:ext cx="927943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62025" y="3704034"/>
            <a:ext cx="92794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114425" y="3302198"/>
            <a:ext cx="69934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889968" y="3197423"/>
            <a:ext cx="1844873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889968" y="3704034"/>
            <a:ext cx="184487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966168" y="3302198"/>
            <a:ext cx="161627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734842" y="3197423"/>
            <a:ext cx="1877467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34842" y="3704034"/>
            <a:ext cx="187746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811042" y="3302198"/>
            <a:ext cx="1648867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49.527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612309" y="3197423"/>
            <a:ext cx="3274516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612309" y="3704034"/>
            <a:ext cx="327451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666473" y="3302198"/>
            <a:ext cx="306795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58.887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62025" y="4220170"/>
            <a:ext cx="92794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114425" y="3818334"/>
            <a:ext cx="69934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889968" y="4220170"/>
            <a:ext cx="184487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966168" y="3818334"/>
            <a:ext cx="161627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455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3734842" y="4220170"/>
            <a:ext cx="187746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811042" y="3818334"/>
            <a:ext cx="1648867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11.430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5612309" y="4220170"/>
            <a:ext cx="327451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666473" y="3818334"/>
            <a:ext cx="306795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13.175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62025" y="4229695"/>
            <a:ext cx="927943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114425" y="4334470"/>
            <a:ext cx="69934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889968" y="4229695"/>
            <a:ext cx="1844873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966168" y="4334470"/>
            <a:ext cx="161627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1.365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3734842" y="4229695"/>
            <a:ext cx="1877467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3811042" y="4334470"/>
            <a:ext cx="1648867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3.266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612309" y="4229695"/>
            <a:ext cx="3274516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666473" y="4334470"/>
            <a:ext cx="3067952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3.370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52500" y="4902994"/>
            <a:ext cx="7943850" cy="1424583"/>
          </a:xfrm>
          <a:prstGeom prst="roundRect">
            <a:avLst>
              <a:gd name="adj" fmla="val 4012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>
                <a:alpha val="2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71575" y="5083969"/>
            <a:ext cx="7730871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LB-Schönheim ≥ LB-LP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 limite combinatório é sempre pelo menos tão apertado quanto o limite de contagem direta. Usamos LB-Schönheim como referência principal de qualidade.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9391650" y="2143125"/>
            <a:ext cx="7943850" cy="3036094"/>
          </a:xfrm>
          <a:prstGeom prst="roundRect">
            <a:avLst>
              <a:gd name="adj" fmla="val 1882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48825" y="2362200"/>
            <a:ext cx="8172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LB-LP — Limite por Contagem Direta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9648825" y="2724150"/>
            <a:ext cx="7652385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X ∈ S₁₅ cobre exatamente C(15,p) alvos Y ∈ Sₚ. Logo, o número mínimo de conjuntos necessários é: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9648825" y="3565922"/>
            <a:ext cx="7429500" cy="659011"/>
          </a:xfrm>
          <a:prstGeom prst="roundRect">
            <a:avLst>
              <a:gd name="adj" fmla="val 5781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829800" y="3689747"/>
            <a:ext cx="729043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LB-LP = ⌈ |Sₚ| / C(15, p) ⌉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9648825" y="4320183"/>
            <a:ext cx="765238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 à relaxação LP fracionária: solução fracionária ótima arredondada para cima.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9391650" y="5350669"/>
            <a:ext cx="7943850" cy="4250531"/>
          </a:xfrm>
          <a:prstGeom prst="roundRect">
            <a:avLst>
              <a:gd name="adj" fmla="val 1345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48825" y="5569744"/>
            <a:ext cx="8172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LB-Schönheim — Limite Combinatório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9648825" y="5931694"/>
            <a:ext cx="7652385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clássico de teoria de cobertura de conjuntos. Aplica recursivamente a função piso/teto sobre as razões de cardinalidade, produzindo um limite inferior combinatório mais apertado que o LP.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9648825" y="7127677"/>
            <a:ext cx="7652385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p=14, a diferença é mínima (297.160 vs 297.172). Para p=13, o ganho é expressivo: LB-LP=49.527, LB-Schönheim=58.887 (+19%).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9648825" y="7969448"/>
            <a:ext cx="7429500" cy="914400"/>
          </a:xfrm>
          <a:prstGeom prst="roundRect">
            <a:avLst>
              <a:gd name="adj" fmla="val 4167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>
                <a:alpha val="2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434513" y="8074223"/>
            <a:ext cx="78581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 principal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9434513" y="8379023"/>
            <a:ext cx="78581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LB-Schönheim</a:t>
            </a:r>
            <a:endParaRPr lang="en-US" sz="2700" dirty="0"/>
          </a:p>
        </p:txBody>
      </p:sp>
      <p:sp>
        <p:nvSpPr>
          <p:cNvPr id="69" name="Shape 67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0" name="Text 68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Estruturas de Dados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143125"/>
            <a:ext cx="5359301" cy="3652838"/>
          </a:xfrm>
          <a:prstGeom prst="roundRect">
            <a:avLst>
              <a:gd name="adj" fmla="val 1565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1575" y="2438400"/>
            <a:ext cx="76200" cy="76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362075" y="2343150"/>
            <a:ext cx="17887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Bitmask uint32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1575" y="2705100"/>
            <a:ext cx="50687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conjunto de U representado como inteiro de 32 bits. Bit i=1 indica presença do elemento i+1.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71575" y="5091113"/>
            <a:ext cx="4921151" cy="504825"/>
          </a:xfrm>
          <a:prstGeom prst="roundRect">
            <a:avLst>
              <a:gd name="adj" fmla="val 7547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4450" y="5195887"/>
            <a:ext cx="47830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 Y ⊆ X: (X &amp; Y) == Y → O(1)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64201" y="2143125"/>
            <a:ext cx="5359450" cy="3652838"/>
          </a:xfrm>
          <a:prstGeom prst="roundRect">
            <a:avLst>
              <a:gd name="adj" fmla="val 1565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83276" y="2438400"/>
            <a:ext cx="76200" cy="76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6873776" y="2343150"/>
            <a:ext cx="17332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NumPy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83276" y="2705100"/>
            <a:ext cx="506893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Vetores contíguos de uint32 para S₁₅ e Sₚ. Operações vetorizadas sobre milhões de entradas via C nativo, sem overhead de Python.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83276" y="5329238"/>
            <a:ext cx="54134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Espaço: O(N₁₅ + Nₚ)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76050" y="2143125"/>
            <a:ext cx="5359450" cy="3652838"/>
          </a:xfrm>
          <a:prstGeom prst="roundRect">
            <a:avLst>
              <a:gd name="adj" fmla="val 1565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95125" y="2438400"/>
            <a:ext cx="76200" cy="76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5625" y="2343150"/>
            <a:ext cx="20542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Dicionários Hash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195125" y="2705100"/>
            <a:ext cx="506893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bitmask → índice para S₁₅ e Sₚ, permitindo lookup O(1) em vez de busca linear.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195125" y="4655046"/>
            <a:ext cx="4921300" cy="940891"/>
          </a:xfrm>
          <a:prstGeom prst="roundRect">
            <a:avLst>
              <a:gd name="adj" fmla="val 4049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38000" y="4759821"/>
            <a:ext cx="4783189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s15_index: mask → idx sp_index: mask → idx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5948363"/>
            <a:ext cx="5359301" cy="3652838"/>
          </a:xfrm>
          <a:prstGeom prst="roundRect">
            <a:avLst>
              <a:gd name="adj" fmla="val 1565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1575" y="6243638"/>
            <a:ext cx="76200" cy="76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1362075" y="6148388"/>
            <a:ext cx="29477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count[ ] e nao_coberto[ ]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71575" y="6510338"/>
            <a:ext cx="50687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count[X]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número de alvos ainda não cobertos que X pode cobrir. Atualizado a cada iteração do greedy.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71575" y="7672388"/>
            <a:ext cx="506878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nao_coberto[Y]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flag booleano por alvo Y ∈ Sₚ.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464201" y="5948363"/>
            <a:ext cx="5359450" cy="3652838"/>
          </a:xfrm>
          <a:prstGeom prst="roundRect">
            <a:avLst>
              <a:gd name="adj" fmla="val 1565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83276" y="6243638"/>
            <a:ext cx="76200" cy="76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9" name="Text 27"/>
          <p:cNvSpPr/>
          <p:nvPr/>
        </p:nvSpPr>
        <p:spPr>
          <a:xfrm>
            <a:off x="6873776" y="6148388"/>
            <a:ext cx="29210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Heap Lazy (p=14 e p=13)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83276" y="6510338"/>
            <a:ext cx="506893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extrair o X* com maior count em O(log N₁₅) sem reordenar o heap completo a cada iteração.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83276" y="8867775"/>
            <a:ext cx="506893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Adequado onde updates/iter são baixos (165 a 6.930).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1976050" y="5948363"/>
            <a:ext cx="5359450" cy="3652838"/>
          </a:xfrm>
          <a:prstGeom prst="roundRect">
            <a:avLst>
              <a:gd name="adj" fmla="val 1565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195125" y="6243638"/>
            <a:ext cx="76200" cy="76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4" name="Text 32"/>
          <p:cNvSpPr/>
          <p:nvPr/>
        </p:nvSpPr>
        <p:spPr>
          <a:xfrm>
            <a:off x="12385625" y="6148388"/>
            <a:ext cx="42001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np.argmax + Paralelo (p=12 e p=11)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195125" y="6510338"/>
            <a:ext cx="506893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p=12: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np.argmax sobre count[] — busca linear vetorizada, mais eficiente que heap para 130.130 updates/iter.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195125" y="7672388"/>
            <a:ext cx="506893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p=11: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 paralela de count[] via multiprocessing para 1.366.365 updates/iter.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ADOTADA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 Greedy e Garantia Teórica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143125"/>
            <a:ext cx="91543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2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PSEUDOCÓDIGO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524125"/>
            <a:ext cx="8322171" cy="7077075"/>
          </a:xfrm>
          <a:prstGeom prst="roundRect">
            <a:avLst>
              <a:gd name="adj" fmla="val 808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9675" y="2743200"/>
            <a:ext cx="8057486" cy="667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Entrada: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S₁₅, Sₚ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Pré: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construir índices, count[], nao_coberto[] SB ← ∅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∃ alvo não coberto: X* ←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count[X] SB ← SB ∪ {X*} marcar X* como indisponível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⊂ X* com |Y| = p: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nao_coberto[Y]: nao_coberto[Y] ← falso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∋ Y: count[X] ← count[X] − 1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retornar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769971" y="2143125"/>
            <a:ext cx="7565529" cy="2880122"/>
          </a:xfrm>
          <a:prstGeom prst="roundRect">
            <a:avLst>
              <a:gd name="adj" fmla="val 1984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27146" y="2362200"/>
            <a:ext cx="77562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2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GARANTIA DE APROXIMAÇÃO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27146" y="2762250"/>
            <a:ext cx="7051179" cy="1200150"/>
          </a:xfrm>
          <a:prstGeom prst="roundRect">
            <a:avLst>
              <a:gd name="adj" fmla="val 3175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27171" y="2905125"/>
            <a:ext cx="686266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|SB_greedy| ≤ H(|Sₚ|) · |OPT| H(n) ≈ ln(n) + 0,577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27146" y="4095750"/>
            <a:ext cx="7262714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H(n) é a série harmônica e 0,577 é a constante de Euler-Mascheroni. A garantia é logarítmica no número de alvos.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769971" y="5194697"/>
            <a:ext cx="7565529" cy="2668786"/>
          </a:xfrm>
          <a:prstGeom prst="roundRect">
            <a:avLst>
              <a:gd name="adj" fmla="val 2141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27146" y="5413772"/>
            <a:ext cx="77562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2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PIOR CASO TEÓRICO PARA ESTE PROBLEMA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27146" y="5794772"/>
            <a:ext cx="7756297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|Sₚ| = 5.200.300 (p=12 ou p=13):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027146" y="6282333"/>
            <a:ext cx="7051179" cy="542925"/>
          </a:xfrm>
          <a:prstGeom prst="roundRect">
            <a:avLst>
              <a:gd name="adj" fmla="val 7018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08121" y="6406158"/>
            <a:ext cx="69007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H(5.200.300) ≈ ln(5.200.300) + 0,577 ≈ 15,4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27146" y="6958608"/>
            <a:ext cx="726271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greedy pode, no pior caso, produzir uma solução até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15,4×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ótimo. Os resultados reais ficaram entre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1,79×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3,78×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769971" y="8034933"/>
            <a:ext cx="7565529" cy="1371600"/>
          </a:xfrm>
          <a:prstGeom prst="roundRect">
            <a:avLst>
              <a:gd name="adj" fmla="val 4167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89046" y="8215908"/>
            <a:ext cx="78401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Greedy?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89046" y="8539758"/>
            <a:ext cx="7341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Escalável para N₁₅ = 3,26 M com garantia formal — nenhuma das alternativas exatas é viável nesta escala.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TÉCNICA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Complexidade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105025"/>
            <a:ext cx="15487948" cy="581025"/>
          </a:xfrm>
          <a:prstGeom prst="roundRect">
            <a:avLst>
              <a:gd name="adj" fmla="val 9836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247900"/>
            <a:ext cx="38976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N₁₅ </a:t>
            </a:r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C(25,15) = 3.268.760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00625" y="2247900"/>
            <a:ext cx="173517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Nₚ </a:t>
            </a:r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C(25,p)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82854" y="2247900"/>
            <a:ext cx="22633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</a:t>
            </a:r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|SB_greedy|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45203" y="2247900"/>
            <a:ext cx="76947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C(15,p) · C(25-p, 15-p) = atualizações/iteração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2914650"/>
            <a:ext cx="16383000" cy="2607469"/>
          </a:xfrm>
          <a:prstGeom prst="roundRect">
            <a:avLst>
              <a:gd name="adj" fmla="val 2192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2025" y="2924175"/>
            <a:ext cx="1000720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2025" y="3429000"/>
            <a:ext cx="1000720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114425" y="3048000"/>
            <a:ext cx="772120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962745" y="2924175"/>
            <a:ext cx="1989683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962745" y="3429000"/>
            <a:ext cx="1989683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2038945" y="3048000"/>
            <a:ext cx="176108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C(15,p)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952429" y="2924175"/>
            <a:ext cx="3130004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952429" y="3429000"/>
            <a:ext cx="3130004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4010928" y="3048000"/>
            <a:ext cx="2919104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C(25-p, 15-p)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082433" y="2924175"/>
            <a:ext cx="3742432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082433" y="3429000"/>
            <a:ext cx="3742432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7122560" y="3048000"/>
            <a:ext cx="3549905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updates/iter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824865" y="2924175"/>
            <a:ext cx="2270075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824865" y="3429000"/>
            <a:ext cx="2270075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10901065" y="3048000"/>
            <a:ext cx="2041475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obtido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094940" y="2924175"/>
            <a:ext cx="4231035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094940" y="3429000"/>
            <a:ext cx="4231035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13247340" y="3048000"/>
            <a:ext cx="4053166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2025" y="3959423"/>
            <a:ext cx="100072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114425" y="3552825"/>
            <a:ext cx="772120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962745" y="3959423"/>
            <a:ext cx="198968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038945" y="3552825"/>
            <a:ext cx="176108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952429" y="3959423"/>
            <a:ext cx="313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010928" y="3552825"/>
            <a:ext cx="291910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082433" y="3959423"/>
            <a:ext cx="374243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122560" y="3552825"/>
            <a:ext cx="354990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824865" y="3959423"/>
            <a:ext cx="227007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901065" y="3552825"/>
            <a:ext cx="204147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532.555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3094940" y="3959423"/>
            <a:ext cx="423103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3247340" y="3552825"/>
            <a:ext cx="4053166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Heap lazy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62025" y="3968948"/>
            <a:ext cx="1000720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62025" y="4475559"/>
            <a:ext cx="100072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114425" y="4073723"/>
            <a:ext cx="77212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962745" y="3968948"/>
            <a:ext cx="1989683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962745" y="4475559"/>
            <a:ext cx="198968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2038945" y="4073723"/>
            <a:ext cx="176108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952429" y="3968948"/>
            <a:ext cx="3130004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952429" y="4475559"/>
            <a:ext cx="313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010928" y="4073723"/>
            <a:ext cx="291910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082433" y="3968948"/>
            <a:ext cx="3742432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082433" y="4475559"/>
            <a:ext cx="374243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122560" y="4073723"/>
            <a:ext cx="354990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6.930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0824865" y="3968948"/>
            <a:ext cx="2270075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824865" y="4475559"/>
            <a:ext cx="227007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901065" y="4073723"/>
            <a:ext cx="204147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128.827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3094940" y="3968948"/>
            <a:ext cx="4231035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3094940" y="4475559"/>
            <a:ext cx="423103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3247340" y="4073723"/>
            <a:ext cx="4053166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Heap lazy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962025" y="4991695"/>
            <a:ext cx="100072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114425" y="4589859"/>
            <a:ext cx="77212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962745" y="4991695"/>
            <a:ext cx="198968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2038945" y="4589859"/>
            <a:ext cx="176108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455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3952429" y="4991695"/>
            <a:ext cx="313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4010928" y="4589859"/>
            <a:ext cx="291910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286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7082433" y="4991695"/>
            <a:ext cx="374243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7122560" y="4589859"/>
            <a:ext cx="354990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130.130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0824865" y="4991695"/>
            <a:ext cx="227007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901065" y="4589859"/>
            <a:ext cx="204147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38.100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3094940" y="4991695"/>
            <a:ext cx="423103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13247340" y="4589859"/>
            <a:ext cx="4053166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argmax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962025" y="5001220"/>
            <a:ext cx="1000720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114425" y="5105995"/>
            <a:ext cx="772120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962745" y="5001220"/>
            <a:ext cx="1989683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2038945" y="5105995"/>
            <a:ext cx="176108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1.365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3952429" y="5001220"/>
            <a:ext cx="3130004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4010928" y="5105995"/>
            <a:ext cx="291910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1.001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7082433" y="5001220"/>
            <a:ext cx="3742432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7122560" y="5105995"/>
            <a:ext cx="354990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1.366.365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10824865" y="5001220"/>
            <a:ext cx="2270075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10901065" y="5105995"/>
            <a:ext cx="204147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12.733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13094940" y="5001220"/>
            <a:ext cx="4231035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3247340" y="5105995"/>
            <a:ext cx="4053166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 paralela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952500" y="5750719"/>
            <a:ext cx="5359301" cy="1704975"/>
          </a:xfrm>
          <a:prstGeom prst="roundRect">
            <a:avLst>
              <a:gd name="adj" fmla="val 3352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152525" y="5912644"/>
            <a:ext cx="54551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1 — Geração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1152525" y="6255544"/>
            <a:ext cx="510802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 independentemente S₁₅, S₁₄, S₁₃, S₁₂, S₁₁.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1152525" y="6998494"/>
            <a:ext cx="54551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Θ(C(n,p)) por conjunto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6464201" y="5750719"/>
            <a:ext cx="5359450" cy="1704975"/>
          </a:xfrm>
          <a:prstGeom prst="roundRect">
            <a:avLst>
              <a:gd name="adj" fmla="val 3352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664226" y="5912644"/>
            <a:ext cx="5455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2–5 — Greedy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6664226" y="6255544"/>
            <a:ext cx="510818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Gargalo: atualização de count[]. Complexidade por iteração: O(A × cobertura inversa).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6664226" y="6998494"/>
            <a:ext cx="54553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Espaço: O(N₁₅ + Nₚ)</a:t>
            </a:r>
            <a:endParaRPr lang="en-US" sz="1800" dirty="0"/>
          </a:p>
        </p:txBody>
      </p:sp>
      <p:sp>
        <p:nvSpPr>
          <p:cNvPr id="91" name="Shape 89"/>
          <p:cNvSpPr/>
          <p:nvPr/>
        </p:nvSpPr>
        <p:spPr>
          <a:xfrm>
            <a:off x="11976050" y="5750719"/>
            <a:ext cx="5359450" cy="1704975"/>
          </a:xfrm>
          <a:prstGeom prst="roundRect">
            <a:avLst>
              <a:gd name="adj" fmla="val 3352"/>
            </a:avLst>
          </a:prstGeom>
          <a:solidFill>
            <a:srgbClr val="F87171">
              <a:alpha val="7000"/>
            </a:srgbClr>
          </a:solidFill>
          <a:ln w="9525">
            <a:solidFill>
              <a:srgbClr val="F87171">
                <a:alpha val="2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2176075" y="5912644"/>
            <a:ext cx="5455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Gargalo Principal</a:t>
            </a:r>
            <a:endParaRPr lang="en-US" sz="1800" dirty="0"/>
          </a:p>
        </p:txBody>
      </p:sp>
      <p:sp>
        <p:nvSpPr>
          <p:cNvPr id="93" name="Text 91"/>
          <p:cNvSpPr/>
          <p:nvPr/>
        </p:nvSpPr>
        <p:spPr>
          <a:xfrm>
            <a:off x="12176075" y="6255544"/>
            <a:ext cx="510818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count[] cresce de 165 para 1.366.365 updates/iter de p=14 para p=11 — crescimento de 8.280×, exigindo estratégias distintas.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5" name="Text 93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96" name="Text 94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Gargalos e Paralelismo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143125"/>
            <a:ext cx="8096250" cy="3470821"/>
          </a:xfrm>
          <a:prstGeom prst="roundRect">
            <a:avLst>
              <a:gd name="adj" fmla="val 1647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9675" y="2362200"/>
            <a:ext cx="83400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1 — Geração Paralela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9675" y="2762250"/>
            <a:ext cx="780935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cinco conjuntos S₁₅, S₁₄, S₁₃, S₁₂, S₁₁ são gerados de forma completamente independente — nenhuma dependência de dados entre eles.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09675" y="3943350"/>
            <a:ext cx="2451050" cy="1009650"/>
          </a:xfrm>
          <a:prstGeom prst="roundRect">
            <a:avLst>
              <a:gd name="adj" fmla="val 3774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4285" y="4086225"/>
            <a:ext cx="23818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44285" y="4410075"/>
            <a:ext cx="23818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 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3775025" y="3943350"/>
            <a:ext cx="2451199" cy="1009650"/>
          </a:xfrm>
          <a:prstGeom prst="roundRect">
            <a:avLst>
              <a:gd name="adj" fmla="val 3774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9628" y="4086225"/>
            <a:ext cx="2381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09628" y="4410075"/>
            <a:ext cx="238199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~18,7 s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340525" y="3943350"/>
            <a:ext cx="2451050" cy="1009650"/>
          </a:xfrm>
          <a:prstGeom prst="roundRect">
            <a:avLst>
              <a:gd name="adj" fmla="val 3774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5135" y="4086225"/>
            <a:ext cx="23818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75135" y="4410075"/>
            <a:ext cx="23818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4,3×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239250" y="2143125"/>
            <a:ext cx="8096250" cy="3470821"/>
          </a:xfrm>
          <a:prstGeom prst="roundRect">
            <a:avLst>
              <a:gd name="adj" fmla="val 1647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6425" y="2362200"/>
            <a:ext cx="83400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5 — Atualização Paralela (p=11)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96425" y="2762250"/>
            <a:ext cx="780935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</a:t>
            </a:r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1.366.365 atualizações por iteração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volume é suficientemente grande para que o overhead de multiprocessing seja amortizado sobre muitas operações paralelas de count[].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96425" y="3943350"/>
            <a:ext cx="7581900" cy="1451521"/>
          </a:xfrm>
          <a:prstGeom prst="roundRect">
            <a:avLst>
              <a:gd name="adj" fmla="val 2625"/>
            </a:avLst>
          </a:prstGeom>
          <a:solidFill>
            <a:srgbClr val="0D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7400" y="4086225"/>
            <a:ext cx="7447407" cy="1203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A5F3FC"/>
                </a:solidFill>
                <a:highlight>
                  <a:srgbClr val="0D111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Estratégia: dividir alvos de X* entre workers → consolidar decrementos em count[]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5804446"/>
            <a:ext cx="16383000" cy="2634258"/>
          </a:xfrm>
          <a:prstGeom prst="roundRect">
            <a:avLst>
              <a:gd name="adj" fmla="val 2169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2025" y="6347371"/>
            <a:ext cx="1636395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152525" y="5947321"/>
            <a:ext cx="175812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2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PROGRAMAS 2, 3 E 4 NÃO FORAM PARALELIZADOS DA MESMA FORMA?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2025" y="6356896"/>
            <a:ext cx="2127349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62025" y="6861721"/>
            <a:ext cx="2127349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1114425" y="6480721"/>
            <a:ext cx="1898749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089374" y="6356896"/>
            <a:ext cx="793403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89374" y="6861721"/>
            <a:ext cx="793403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3241774" y="6480721"/>
            <a:ext cx="56480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882777" y="6356896"/>
            <a:ext cx="2967038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82777" y="6861721"/>
            <a:ext cx="2967038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3946166" y="6480721"/>
            <a:ext cx="2751249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updates/iter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849814" y="6356896"/>
            <a:ext cx="10476161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849814" y="6861721"/>
            <a:ext cx="10476161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7002214" y="6480721"/>
            <a:ext cx="10485645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Razão para não paralelizar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62025" y="7392144"/>
            <a:ext cx="2127349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114425" y="6985546"/>
            <a:ext cx="1898749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2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089374" y="7392144"/>
            <a:ext cx="79340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241774" y="6985546"/>
            <a:ext cx="56480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3882777" y="7392144"/>
            <a:ext cx="29670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946166" y="6985546"/>
            <a:ext cx="2751249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849814" y="7392144"/>
            <a:ext cx="1047616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002214" y="6985546"/>
            <a:ext cx="1048564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mínimo — overhead de IPC supera ganho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62025" y="7401669"/>
            <a:ext cx="2127349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62025" y="7908280"/>
            <a:ext cx="2127349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114425" y="7506444"/>
            <a:ext cx="189874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3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089374" y="7401669"/>
            <a:ext cx="793403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089374" y="7908280"/>
            <a:ext cx="793403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3241774" y="7506444"/>
            <a:ext cx="56480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3882777" y="7401669"/>
            <a:ext cx="2967038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82777" y="7908280"/>
            <a:ext cx="29670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3946166" y="7506444"/>
            <a:ext cx="275124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6.930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6849814" y="7401669"/>
            <a:ext cx="10476161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49814" y="7908280"/>
            <a:ext cx="1047616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7002214" y="7506444"/>
            <a:ext cx="10485645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moderado — heap lazy já eficiente em serial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14425" y="8022580"/>
            <a:ext cx="1898749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4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3241774" y="8022580"/>
            <a:ext cx="56480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3946166" y="8022580"/>
            <a:ext cx="2751249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130.130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002214" y="8022580"/>
            <a:ext cx="1048564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np.argmax vetorizado em C — overhead de IPC menos compensador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2" name="Text 60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EXPERIMENTAL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Principais — n=25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105025"/>
            <a:ext cx="16383000" cy="2607469"/>
          </a:xfrm>
          <a:prstGeom prst="roundRect">
            <a:avLst>
              <a:gd name="adj" fmla="val 219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2025" y="2114550"/>
            <a:ext cx="831354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2025" y="2619375"/>
            <a:ext cx="831354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114425" y="2238375"/>
            <a:ext cx="602754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93379" y="2114550"/>
            <a:ext cx="1965424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93379" y="2619375"/>
            <a:ext cx="1965424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869579" y="2238375"/>
            <a:ext cx="1736824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|Sₚ|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58803" y="2114550"/>
            <a:ext cx="1681907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58803" y="2619375"/>
            <a:ext cx="1681907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3835003" y="2238375"/>
            <a:ext cx="1453307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LB-LP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40710" y="2114550"/>
            <a:ext cx="2933105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440710" y="2619375"/>
            <a:ext cx="2933105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505117" y="2238375"/>
            <a:ext cx="271629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LB-Schönheim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73814" y="2114550"/>
            <a:ext cx="2494062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373814" y="2619375"/>
            <a:ext cx="2494062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8450014" y="2238375"/>
            <a:ext cx="2265462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|SB_greedy|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867876" y="2114550"/>
            <a:ext cx="2959298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867876" y="2619375"/>
            <a:ext cx="2959298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10931497" y="2238375"/>
            <a:ext cx="2743277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vs LB-Sch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827175" y="2114550"/>
            <a:ext cx="1672084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827175" y="2619375"/>
            <a:ext cx="1672084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13903375" y="2238375"/>
            <a:ext cx="1443484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499259" y="2114550"/>
            <a:ext cx="1826716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5499259" y="2619375"/>
            <a:ext cx="1826716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15575459" y="2238375"/>
            <a:ext cx="1598116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S₁₅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62025" y="3149798"/>
            <a:ext cx="83135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14425" y="2743200"/>
            <a:ext cx="60275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793379" y="3149798"/>
            <a:ext cx="196542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869579" y="2743200"/>
            <a:ext cx="173682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4.457.400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758803" y="3149798"/>
            <a:ext cx="168190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835003" y="2743200"/>
            <a:ext cx="1453307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297.160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440710" y="3149798"/>
            <a:ext cx="293310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505117" y="2743200"/>
            <a:ext cx="2716298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297.172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373814" y="3149798"/>
            <a:ext cx="249406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450014" y="2743200"/>
            <a:ext cx="2265462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532.555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867876" y="3149798"/>
            <a:ext cx="295929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0931497" y="2743200"/>
            <a:ext cx="2743277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1,79×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3827175" y="3149798"/>
            <a:ext cx="167208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3903375" y="2743200"/>
            <a:ext cx="144348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 min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499259" y="3149798"/>
            <a:ext cx="182671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5575459" y="2743200"/>
            <a:ext cx="1598116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16,3%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62025" y="3159323"/>
            <a:ext cx="831354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62025" y="3665934"/>
            <a:ext cx="83135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114425" y="3264098"/>
            <a:ext cx="60275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793379" y="3159323"/>
            <a:ext cx="1965424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793379" y="3665934"/>
            <a:ext cx="196542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869579" y="3264098"/>
            <a:ext cx="173682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5.200.300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3758803" y="3159323"/>
            <a:ext cx="1681907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758803" y="3665934"/>
            <a:ext cx="168190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3835003" y="3264098"/>
            <a:ext cx="1453307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49.527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5440710" y="3159323"/>
            <a:ext cx="2933105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440710" y="3665934"/>
            <a:ext cx="293310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5505117" y="3264098"/>
            <a:ext cx="271629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58.887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8373814" y="3159323"/>
            <a:ext cx="2494062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373814" y="3665934"/>
            <a:ext cx="249406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450014" y="3264098"/>
            <a:ext cx="226546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128.827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0867876" y="3159323"/>
            <a:ext cx="2959298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867876" y="3665934"/>
            <a:ext cx="295929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931497" y="3264098"/>
            <a:ext cx="2743277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2,19×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3827175" y="3159323"/>
            <a:ext cx="1672084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3827175" y="3665934"/>
            <a:ext cx="167208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3903375" y="3264098"/>
            <a:ext cx="144348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h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499259" y="3159323"/>
            <a:ext cx="1826716" cy="51613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5499259" y="3665934"/>
            <a:ext cx="182671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5575459" y="3264098"/>
            <a:ext cx="1598116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3,9%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962025" y="4182070"/>
            <a:ext cx="83135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114425" y="3780234"/>
            <a:ext cx="60275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793379" y="4182070"/>
            <a:ext cx="196542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869579" y="3780234"/>
            <a:ext cx="173682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5.200.300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3758803" y="4182070"/>
            <a:ext cx="168190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3835003" y="3780234"/>
            <a:ext cx="1453307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11.430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5440710" y="4182070"/>
            <a:ext cx="2933105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5505117" y="3780234"/>
            <a:ext cx="271629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13.175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8373814" y="4182070"/>
            <a:ext cx="249406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8450014" y="3780234"/>
            <a:ext cx="226546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38.100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10867876" y="4182070"/>
            <a:ext cx="295929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10931497" y="3780234"/>
            <a:ext cx="2743277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2,89×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13827175" y="4182070"/>
            <a:ext cx="167208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13903375" y="3780234"/>
            <a:ext cx="144348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~79 min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15499259" y="4182070"/>
            <a:ext cx="1826716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15575459" y="3780234"/>
            <a:ext cx="1598116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1,2%</a:t>
            </a:r>
            <a:endParaRPr lang="en-US" sz="1800" dirty="0"/>
          </a:p>
        </p:txBody>
      </p:sp>
      <p:sp>
        <p:nvSpPr>
          <p:cNvPr id="86" name="Shape 84"/>
          <p:cNvSpPr/>
          <p:nvPr/>
        </p:nvSpPr>
        <p:spPr>
          <a:xfrm>
            <a:off x="962025" y="4191595"/>
            <a:ext cx="831354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1114425" y="4296370"/>
            <a:ext cx="60275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1793379" y="4191595"/>
            <a:ext cx="1965424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1869579" y="4296370"/>
            <a:ext cx="173682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4.457.400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3758803" y="4191595"/>
            <a:ext cx="1681907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3835003" y="4296370"/>
            <a:ext cx="1453307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3.266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5440710" y="4191595"/>
            <a:ext cx="2933105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5505117" y="4296370"/>
            <a:ext cx="2716298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3.370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8373814" y="4191595"/>
            <a:ext cx="2494062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8450014" y="4296370"/>
            <a:ext cx="2265462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12.733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10867876" y="4191595"/>
            <a:ext cx="2959298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10931497" y="4296370"/>
            <a:ext cx="2743277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3,78×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13827175" y="4191595"/>
            <a:ext cx="1672084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99" name="Text 97"/>
          <p:cNvSpPr/>
          <p:nvPr/>
        </p:nvSpPr>
        <p:spPr>
          <a:xfrm>
            <a:off x="13903375" y="4296370"/>
            <a:ext cx="1443484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~3,4 h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15499259" y="4191595"/>
            <a:ext cx="1826716" cy="5113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01" name="Text 99"/>
          <p:cNvSpPr/>
          <p:nvPr/>
        </p:nvSpPr>
        <p:spPr>
          <a:xfrm>
            <a:off x="15575459" y="4296370"/>
            <a:ext cx="1598116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0,4%</a:t>
            </a:r>
            <a:endParaRPr lang="en-US" sz="1800" dirty="0"/>
          </a:p>
        </p:txBody>
      </p:sp>
      <p:sp>
        <p:nvSpPr>
          <p:cNvPr id="102" name="Shape 100"/>
          <p:cNvSpPr/>
          <p:nvPr/>
        </p:nvSpPr>
        <p:spPr>
          <a:xfrm>
            <a:off x="952500" y="4941094"/>
            <a:ext cx="10623500" cy="1790700"/>
          </a:xfrm>
          <a:prstGeom prst="roundRect">
            <a:avLst>
              <a:gd name="adj" fmla="val 3191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>
                <a:alpha val="2500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209675" y="5141119"/>
            <a:ext cx="111200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</a:t>
            </a:r>
            <a:endParaRPr lang="en-US" sz="1800" dirty="0"/>
          </a:p>
        </p:txBody>
      </p:sp>
      <p:sp>
        <p:nvSpPr>
          <p:cNvPr id="104" name="Text 102"/>
          <p:cNvSpPr/>
          <p:nvPr/>
        </p:nvSpPr>
        <p:spPr>
          <a:xfrm>
            <a:off x="1209675" y="5503069"/>
            <a:ext cx="104124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garantia teórica permitiria gap de até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~15,4×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Os resultados reais ficaram entre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1,79×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3,78×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 a 9× melhor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pior caso teórico.</a:t>
            </a:r>
            <a:endParaRPr lang="en-US" sz="2250" dirty="0"/>
          </a:p>
        </p:txBody>
      </p:sp>
      <p:sp>
        <p:nvSpPr>
          <p:cNvPr id="105" name="Shape 103"/>
          <p:cNvSpPr/>
          <p:nvPr/>
        </p:nvSpPr>
        <p:spPr>
          <a:xfrm>
            <a:off x="11766500" y="4941094"/>
            <a:ext cx="5569000" cy="1790700"/>
          </a:xfrm>
          <a:prstGeom prst="roundRect">
            <a:avLst>
              <a:gd name="adj" fmla="val 3191"/>
            </a:avLst>
          </a:prstGeom>
          <a:solidFill>
            <a:srgbClr val="F87171">
              <a:alpha val="7000"/>
            </a:srgbClr>
          </a:solidFill>
          <a:ln w="9525">
            <a:solidFill>
              <a:srgbClr val="F87171">
                <a:alpha val="20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2023675" y="5141119"/>
            <a:ext cx="55601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Pendente</a:t>
            </a:r>
            <a:endParaRPr lang="en-US" sz="1800" dirty="0"/>
          </a:p>
        </p:txBody>
      </p:sp>
      <p:sp>
        <p:nvSpPr>
          <p:cNvPr id="107" name="Text 105"/>
          <p:cNvSpPr/>
          <p:nvPr/>
        </p:nvSpPr>
        <p:spPr>
          <a:xfrm>
            <a:off x="12023675" y="5503069"/>
            <a:ext cx="520628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auditoria exata deve permanecer pendente até o término da execução de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audit_cobertura.py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p=11 e p=12.</a:t>
            </a:r>
            <a:endParaRPr lang="en-US" sz="1800" dirty="0"/>
          </a:p>
        </p:txBody>
      </p:sp>
      <p:sp>
        <p:nvSpPr>
          <p:cNvPr id="108" name="Shape 106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9" name="Text 107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110" name="Text 108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 DO ENUNCIADO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Eixo Comparativo das Abordagens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105025"/>
            <a:ext cx="16383000" cy="7496175"/>
          </a:xfrm>
          <a:prstGeom prst="roundRect">
            <a:avLst>
              <a:gd name="adj" fmla="val 762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2025" y="2114550"/>
            <a:ext cx="3600004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2025" y="2619375"/>
            <a:ext cx="3600004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114425" y="2238375"/>
            <a:ext cx="3403204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62029" y="2114550"/>
            <a:ext cx="2290911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62029" y="2619375"/>
            <a:ext cx="2290911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714429" y="2238375"/>
            <a:ext cx="2062311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2940" y="2114550"/>
            <a:ext cx="1963638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2940" y="2619375"/>
            <a:ext cx="1963638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967240" y="2238375"/>
            <a:ext cx="173503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816578" y="2114550"/>
            <a:ext cx="8509397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16578" y="2619375"/>
            <a:ext cx="8509397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968978" y="2238375"/>
            <a:ext cx="8459879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e Trade-offs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2025" y="3241477"/>
            <a:ext cx="360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14425" y="2743200"/>
            <a:ext cx="3403204" cy="431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 Greedy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62029" y="3241477"/>
            <a:ext cx="229091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14429" y="2743200"/>
            <a:ext cx="2062311" cy="431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Aproximativo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52940" y="3241477"/>
            <a:ext cx="19636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967240" y="2743200"/>
            <a:ext cx="1735038" cy="431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Adotado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816578" y="3241477"/>
            <a:ext cx="85093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968978" y="2743200"/>
            <a:ext cx="8459879" cy="431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2–5; garantia H(n)·OPT ≤ 15,4×; escalável para N₁₅ = 3,26 M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2025" y="3251002"/>
            <a:ext cx="3600004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62025" y="4197846"/>
            <a:ext cx="360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114425" y="3355777"/>
            <a:ext cx="3403204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Computação Paralela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62029" y="3251002"/>
            <a:ext cx="2290911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62029" y="4197846"/>
            <a:ext cx="229091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14429" y="3355777"/>
            <a:ext cx="2062311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Aceleração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852940" y="3251002"/>
            <a:ext cx="1963638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852940" y="4197846"/>
            <a:ext cx="19636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967240" y="3355777"/>
            <a:ext cx="1735038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Adotado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816578" y="3251002"/>
            <a:ext cx="8509397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816578" y="4197846"/>
            <a:ext cx="85093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968978" y="3355777"/>
            <a:ext cx="8459879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Prog. 1: speedup 4,3× (seq ~80 s → par ~18,7 s); Prog. 5: p=11 com 1,36 M updates/iter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62025" y="5154216"/>
            <a:ext cx="360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114425" y="4312146"/>
            <a:ext cx="3403204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Greedy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562029" y="5154216"/>
            <a:ext cx="229091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714429" y="4312146"/>
            <a:ext cx="2062311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Randômico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852940" y="5154216"/>
            <a:ext cx="19636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967240" y="4312146"/>
            <a:ext cx="1735038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Testado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816578" y="5154216"/>
            <a:ext cx="85093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968978" y="4312146"/>
            <a:ext cx="8459879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13,5–20,6× mais rápido que baseline; custo &lt;10% em |SB|; melhor alternativa medida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62025" y="5163741"/>
            <a:ext cx="3600004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62025" y="6110585"/>
            <a:ext cx="360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114425" y="5268516"/>
            <a:ext cx="3403204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GRASP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4562029" y="5163741"/>
            <a:ext cx="2290911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562029" y="6110585"/>
            <a:ext cx="229091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714429" y="5268516"/>
            <a:ext cx="2062311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Metaheurística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6852940" y="5163741"/>
            <a:ext cx="1963638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852940" y="6110585"/>
            <a:ext cx="19636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967240" y="5268516"/>
            <a:ext cx="1735038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Testado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8816578" y="5163741"/>
            <a:ext cx="8509397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16578" y="6110585"/>
            <a:ext cx="85093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968978" y="5268516"/>
            <a:ext cx="8459879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Randomized Adaptive Search Procedure; mais caro; sem ganho expressivo nos benchmarks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962025" y="6717655"/>
            <a:ext cx="360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114425" y="6224885"/>
            <a:ext cx="3403204" cy="426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Relaxação Lagrangiana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4562029" y="6717655"/>
            <a:ext cx="229091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714429" y="6224885"/>
            <a:ext cx="2062311" cy="426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Bound/LP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6852940" y="6717655"/>
            <a:ext cx="19636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6967240" y="6224885"/>
            <a:ext cx="1735038" cy="426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Testado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8816578" y="6717655"/>
            <a:ext cx="85093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8968978" y="6224885"/>
            <a:ext cx="8459879" cy="426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59,58 na instância medium; reparo igual ao greedy; referência científica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962025" y="6727180"/>
            <a:ext cx="3600004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025" y="7674025"/>
            <a:ext cx="360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114425" y="6831955"/>
            <a:ext cx="3403204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Generation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4562029" y="6727180"/>
            <a:ext cx="2290911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562029" y="7674025"/>
            <a:ext cx="229091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4714429" y="6831955"/>
            <a:ext cx="2062311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Bound/LP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6852940" y="6727180"/>
            <a:ext cx="1963638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6852940" y="7674025"/>
            <a:ext cx="19636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6967240" y="6831955"/>
            <a:ext cx="1735038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Testado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8816578" y="6727180"/>
            <a:ext cx="8509397" cy="95637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816578" y="7674025"/>
            <a:ext cx="85093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8968978" y="6831955"/>
            <a:ext cx="8459879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Relaxação LP + pricing iterativo; solução arredondada e reparada; alternativa ao ILP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962025" y="8630394"/>
            <a:ext cx="3600004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1114425" y="7788325"/>
            <a:ext cx="3403204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and Bound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4562029" y="8630394"/>
            <a:ext cx="229091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4714429" y="7788325"/>
            <a:ext cx="2062311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Exato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6852940" y="8630394"/>
            <a:ext cx="196363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6967240" y="7788325"/>
            <a:ext cx="1735038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Alternativa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8816578" y="8630394"/>
            <a:ext cx="85093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8968978" y="7788325"/>
            <a:ext cx="8459879" cy="77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ótima global garantida; inviável para N₁₅ = 3.268.760 candidatos em escala completa</a:t>
            </a:r>
            <a:endParaRPr lang="en-US" sz="1800" dirty="0"/>
          </a:p>
        </p:txBody>
      </p:sp>
      <p:sp>
        <p:nvSpPr>
          <p:cNvPr id="86" name="Shape 84"/>
          <p:cNvSpPr/>
          <p:nvPr/>
        </p:nvSpPr>
        <p:spPr>
          <a:xfrm>
            <a:off x="962025" y="8639919"/>
            <a:ext cx="3600004" cy="95175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1114425" y="8744694"/>
            <a:ext cx="3403204" cy="780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Inteira (ILP)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4562029" y="8639919"/>
            <a:ext cx="2290911" cy="95175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4714429" y="8744694"/>
            <a:ext cx="2062311" cy="780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Exato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6852940" y="8639919"/>
            <a:ext cx="1963638" cy="95175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6967240" y="8744694"/>
            <a:ext cx="1735038" cy="780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Alternativa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8816578" y="8639919"/>
            <a:ext cx="8509397" cy="95175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8968978" y="8744694"/>
            <a:ext cx="8459879" cy="780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Inviável em escala completa: até 4,46 G coeficientes (p=11); viável como refinamento pós-greedy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5" name="Text 93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96" name="Text 94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EXPERIMENTAL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Experimentos Alternativos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105025"/>
            <a:ext cx="88220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Instância </a:t>
            </a:r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</a:t>
            </a:r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n=15, k=9, p=6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514600"/>
            <a:ext cx="8020050" cy="4608909"/>
          </a:xfrm>
          <a:prstGeom prst="roundRect">
            <a:avLst>
              <a:gd name="adj" fmla="val 1240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2025" y="2524125"/>
            <a:ext cx="2302222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2025" y="3028950"/>
            <a:ext cx="2302222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114425" y="2647950"/>
            <a:ext cx="2073622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64247" y="2524125"/>
            <a:ext cx="1180058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264247" y="3028950"/>
            <a:ext cx="1180058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340447" y="2647950"/>
            <a:ext cx="951458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44305" y="2524125"/>
            <a:ext cx="768697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44305" y="3028950"/>
            <a:ext cx="768697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520505" y="2647950"/>
            <a:ext cx="540097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|SB|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13003" y="2524125"/>
            <a:ext cx="3750022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213003" y="3028950"/>
            <a:ext cx="3750022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365403" y="2647950"/>
            <a:ext cx="3557723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2025" y="3856434"/>
            <a:ext cx="23022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14425" y="3152775"/>
            <a:ext cx="2073622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baseline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64247" y="3856434"/>
            <a:ext cx="118005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340447" y="3152775"/>
            <a:ext cx="951458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10,035 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44305" y="3856434"/>
            <a:ext cx="7686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20505" y="3152775"/>
            <a:ext cx="540097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213003" y="3856434"/>
            <a:ext cx="37500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365403" y="3152775"/>
            <a:ext cx="3557723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2025" y="3865959"/>
            <a:ext cx="2302222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62025" y="4669631"/>
            <a:ext cx="23022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14425" y="3970734"/>
            <a:ext cx="2073622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Greedy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264247" y="3865959"/>
            <a:ext cx="1180058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64247" y="4669631"/>
            <a:ext cx="118005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340447" y="3970734"/>
            <a:ext cx="951458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0,743 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444305" y="3865959"/>
            <a:ext cx="768697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444305" y="4669631"/>
            <a:ext cx="7686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20505" y="3970734"/>
            <a:ext cx="54009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213003" y="3865959"/>
            <a:ext cx="3750022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13003" y="4669631"/>
            <a:ext cx="37500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365403" y="3970734"/>
            <a:ext cx="3557723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13,5× mais rápido; +8,6% em |SB|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62025" y="5482828"/>
            <a:ext cx="23022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114425" y="4783931"/>
            <a:ext cx="2073622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GRASP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3264247" y="5482828"/>
            <a:ext cx="118005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340447" y="4783931"/>
            <a:ext cx="951458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48,813 s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444305" y="5482828"/>
            <a:ext cx="7686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520505" y="4783931"/>
            <a:ext cx="54009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213003" y="5482828"/>
            <a:ext cx="37500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365403" y="4783931"/>
            <a:ext cx="3557723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caro; qualidade próxima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62025" y="5492353"/>
            <a:ext cx="2302222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62025" y="6296025"/>
            <a:ext cx="23022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114425" y="5597128"/>
            <a:ext cx="2073622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Relax. Lagrangiana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3264247" y="5492353"/>
            <a:ext cx="1180058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264247" y="6296025"/>
            <a:ext cx="1180058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340447" y="5597128"/>
            <a:ext cx="951458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23,948 s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4444305" y="5492353"/>
            <a:ext cx="768697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444305" y="6296025"/>
            <a:ext cx="7686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4520505" y="5597128"/>
            <a:ext cx="54009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5213003" y="5492353"/>
            <a:ext cx="3750022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213003" y="6296025"/>
            <a:ext cx="3750022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365403" y="5597128"/>
            <a:ext cx="3557723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59,58; reparo = greedy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114425" y="6410325"/>
            <a:ext cx="2073622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Generation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3340447" y="6410325"/>
            <a:ext cx="951458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18,551 s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4520505" y="6410325"/>
            <a:ext cx="540097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365403" y="6410325"/>
            <a:ext cx="3557723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relaxação LP + pricing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9315450" y="2105025"/>
            <a:ext cx="88220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Instância </a:t>
            </a:r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large-demo </a:t>
            </a:r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n=16, k=10, p=6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9315450" y="2514600"/>
            <a:ext cx="8020050" cy="3498652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24975" y="2524125"/>
            <a:ext cx="2231231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324975" y="3028950"/>
            <a:ext cx="2231231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7" name="Text 65"/>
          <p:cNvSpPr/>
          <p:nvPr/>
        </p:nvSpPr>
        <p:spPr>
          <a:xfrm>
            <a:off x="9477375" y="2647950"/>
            <a:ext cx="2002631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1556206" y="2524125"/>
            <a:ext cx="1283940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556206" y="3028950"/>
            <a:ext cx="1283940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0" name="Text 68"/>
          <p:cNvSpPr/>
          <p:nvPr/>
        </p:nvSpPr>
        <p:spPr>
          <a:xfrm>
            <a:off x="11632406" y="2647950"/>
            <a:ext cx="1055340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2840146" y="2524125"/>
            <a:ext cx="768697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2840146" y="3028950"/>
            <a:ext cx="768697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3" name="Text 71"/>
          <p:cNvSpPr/>
          <p:nvPr/>
        </p:nvSpPr>
        <p:spPr>
          <a:xfrm>
            <a:off x="12916346" y="2647950"/>
            <a:ext cx="540097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|SB|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3608844" y="2524125"/>
            <a:ext cx="3717131" cy="523875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3608844" y="3028950"/>
            <a:ext cx="3717131" cy="190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6" name="Text 74"/>
          <p:cNvSpPr/>
          <p:nvPr/>
        </p:nvSpPr>
        <p:spPr>
          <a:xfrm>
            <a:off x="13761244" y="2647950"/>
            <a:ext cx="3523845" cy="2952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9324975" y="3559373"/>
            <a:ext cx="223123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9477375" y="3152775"/>
            <a:ext cx="2002631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baseline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11556206" y="3559373"/>
            <a:ext cx="128394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11632406" y="3152775"/>
            <a:ext cx="1055340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24,895 s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12840146" y="3559373"/>
            <a:ext cx="7686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2916346" y="3152775"/>
            <a:ext cx="540097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3608844" y="3559373"/>
            <a:ext cx="371713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13761244" y="3152775"/>
            <a:ext cx="352384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9324975" y="3568898"/>
            <a:ext cx="2231231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9324975" y="4372570"/>
            <a:ext cx="223123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9477375" y="3673673"/>
            <a:ext cx="2002631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Greedy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11556206" y="3568898"/>
            <a:ext cx="1283940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1556206" y="4372570"/>
            <a:ext cx="128394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11632406" y="3673673"/>
            <a:ext cx="105534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1,208 s</a:t>
            </a:r>
            <a:endParaRPr lang="en-US" sz="1800" dirty="0"/>
          </a:p>
        </p:txBody>
      </p:sp>
      <p:sp>
        <p:nvSpPr>
          <p:cNvPr id="91" name="Shape 89"/>
          <p:cNvSpPr/>
          <p:nvPr/>
        </p:nvSpPr>
        <p:spPr>
          <a:xfrm>
            <a:off x="12840146" y="3568898"/>
            <a:ext cx="768697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12840146" y="4372570"/>
            <a:ext cx="7686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12916346" y="3673673"/>
            <a:ext cx="54009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13608844" y="3568898"/>
            <a:ext cx="3717131" cy="81319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13608844" y="4372570"/>
            <a:ext cx="371713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96" name="Text 94"/>
          <p:cNvSpPr/>
          <p:nvPr/>
        </p:nvSpPr>
        <p:spPr>
          <a:xfrm>
            <a:off x="13761244" y="3673673"/>
            <a:ext cx="3523845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20,6× mais rápido; +9,5% em |SB|</a:t>
            </a:r>
            <a:endParaRPr lang="en-US" sz="1800" dirty="0"/>
          </a:p>
        </p:txBody>
      </p:sp>
      <p:sp>
        <p:nvSpPr>
          <p:cNvPr id="97" name="Shape 95"/>
          <p:cNvSpPr/>
          <p:nvPr/>
        </p:nvSpPr>
        <p:spPr>
          <a:xfrm>
            <a:off x="9324975" y="5185767"/>
            <a:ext cx="223123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98" name="Text 96"/>
          <p:cNvSpPr/>
          <p:nvPr/>
        </p:nvSpPr>
        <p:spPr>
          <a:xfrm>
            <a:off x="9477375" y="4486870"/>
            <a:ext cx="2002631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GRASP</a:t>
            </a:r>
            <a:endParaRPr lang="en-US" sz="1800" dirty="0"/>
          </a:p>
        </p:txBody>
      </p:sp>
      <p:sp>
        <p:nvSpPr>
          <p:cNvPr id="99" name="Shape 97"/>
          <p:cNvSpPr/>
          <p:nvPr/>
        </p:nvSpPr>
        <p:spPr>
          <a:xfrm>
            <a:off x="11556206" y="5185767"/>
            <a:ext cx="1283940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100" name="Text 98"/>
          <p:cNvSpPr/>
          <p:nvPr/>
        </p:nvSpPr>
        <p:spPr>
          <a:xfrm>
            <a:off x="11632406" y="4486870"/>
            <a:ext cx="105534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143,862 s</a:t>
            </a:r>
            <a:endParaRPr lang="en-US" sz="1800" dirty="0"/>
          </a:p>
        </p:txBody>
      </p:sp>
      <p:sp>
        <p:nvSpPr>
          <p:cNvPr id="101" name="Shape 99"/>
          <p:cNvSpPr/>
          <p:nvPr/>
        </p:nvSpPr>
        <p:spPr>
          <a:xfrm>
            <a:off x="12840146" y="5185767"/>
            <a:ext cx="768697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12916346" y="4486870"/>
            <a:ext cx="54009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13608844" y="5185767"/>
            <a:ext cx="3717131" cy="9525"/>
          </a:xfrm>
          <a:prstGeom prst="rect">
            <a:avLst/>
          </a:prstGeom>
          <a:solidFill>
            <a:srgbClr val="1E293B">
              <a:alpha val="80000"/>
            </a:srgbClr>
          </a:solidFill>
          <a:ln/>
        </p:spPr>
      </p:sp>
      <p:sp>
        <p:nvSpPr>
          <p:cNvPr id="104" name="Text 102"/>
          <p:cNvSpPr/>
          <p:nvPr/>
        </p:nvSpPr>
        <p:spPr>
          <a:xfrm>
            <a:off x="13761244" y="4486870"/>
            <a:ext cx="3523845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5,8× mais lento; melhora marginal</a:t>
            </a:r>
            <a:endParaRPr lang="en-US" sz="1800" dirty="0"/>
          </a:p>
        </p:txBody>
      </p:sp>
      <p:sp>
        <p:nvSpPr>
          <p:cNvPr id="105" name="Shape 103"/>
          <p:cNvSpPr/>
          <p:nvPr/>
        </p:nvSpPr>
        <p:spPr>
          <a:xfrm>
            <a:off x="9324975" y="5195292"/>
            <a:ext cx="2231231" cy="80843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06" name="Text 104"/>
          <p:cNvSpPr/>
          <p:nvPr/>
        </p:nvSpPr>
        <p:spPr>
          <a:xfrm>
            <a:off x="9477375" y="5300067"/>
            <a:ext cx="2002631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+ poda local</a:t>
            </a:r>
            <a:endParaRPr lang="en-US" sz="1800" dirty="0"/>
          </a:p>
        </p:txBody>
      </p:sp>
      <p:sp>
        <p:nvSpPr>
          <p:cNvPr id="107" name="Shape 105"/>
          <p:cNvSpPr/>
          <p:nvPr/>
        </p:nvSpPr>
        <p:spPr>
          <a:xfrm>
            <a:off x="11556206" y="5195292"/>
            <a:ext cx="1283940" cy="80843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08" name="Text 106"/>
          <p:cNvSpPr/>
          <p:nvPr/>
        </p:nvSpPr>
        <p:spPr>
          <a:xfrm>
            <a:off x="11632406" y="5300067"/>
            <a:ext cx="1055340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28,268 s</a:t>
            </a:r>
            <a:endParaRPr lang="en-US" sz="1800" dirty="0"/>
          </a:p>
        </p:txBody>
      </p:sp>
      <p:sp>
        <p:nvSpPr>
          <p:cNvPr id="109" name="Shape 107"/>
          <p:cNvSpPr/>
          <p:nvPr/>
        </p:nvSpPr>
        <p:spPr>
          <a:xfrm>
            <a:off x="12840146" y="5195292"/>
            <a:ext cx="768697" cy="80843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10" name="Text 108"/>
          <p:cNvSpPr/>
          <p:nvPr/>
        </p:nvSpPr>
        <p:spPr>
          <a:xfrm>
            <a:off x="12916346" y="5300067"/>
            <a:ext cx="540097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800" dirty="0"/>
          </a:p>
        </p:txBody>
      </p:sp>
      <p:sp>
        <p:nvSpPr>
          <p:cNvPr id="111" name="Shape 109"/>
          <p:cNvSpPr/>
          <p:nvPr/>
        </p:nvSpPr>
        <p:spPr>
          <a:xfrm>
            <a:off x="13608844" y="5195292"/>
            <a:ext cx="3717131" cy="80843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12" name="Text 110"/>
          <p:cNvSpPr/>
          <p:nvPr/>
        </p:nvSpPr>
        <p:spPr>
          <a:xfrm>
            <a:off x="13761244" y="5300067"/>
            <a:ext cx="3523845" cy="636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candidatos redundantes removidos</a:t>
            </a:r>
            <a:endParaRPr lang="en-US" sz="1800" dirty="0"/>
          </a:p>
        </p:txBody>
      </p:sp>
      <p:sp>
        <p:nvSpPr>
          <p:cNvPr id="113" name="Shape 111"/>
          <p:cNvSpPr/>
          <p:nvPr/>
        </p:nvSpPr>
        <p:spPr>
          <a:xfrm>
            <a:off x="952500" y="7333059"/>
            <a:ext cx="5359301" cy="1676400"/>
          </a:xfrm>
          <a:prstGeom prst="roundRect">
            <a:avLst>
              <a:gd name="adj" fmla="val 340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>
                <a:alpha val="20000"/>
              </a:srgbClr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152525" y="7494984"/>
            <a:ext cx="54551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Greedy</a:t>
            </a:r>
            <a:endParaRPr lang="en-US" sz="1800" dirty="0"/>
          </a:p>
        </p:txBody>
      </p:sp>
      <p:sp>
        <p:nvSpPr>
          <p:cNvPr id="115" name="Text 113"/>
          <p:cNvSpPr/>
          <p:nvPr/>
        </p:nvSpPr>
        <p:spPr>
          <a:xfrm>
            <a:off x="1152525" y="7818834"/>
            <a:ext cx="510802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alternativa medida: speedup de 13,5–20,6× com custo inferior a 10% em |SB|.</a:t>
            </a:r>
            <a:endParaRPr lang="en-US" sz="1800" dirty="0"/>
          </a:p>
        </p:txBody>
      </p:sp>
      <p:sp>
        <p:nvSpPr>
          <p:cNvPr id="116" name="Shape 114"/>
          <p:cNvSpPr/>
          <p:nvPr/>
        </p:nvSpPr>
        <p:spPr>
          <a:xfrm>
            <a:off x="6464201" y="7333059"/>
            <a:ext cx="5359450" cy="1676400"/>
          </a:xfrm>
          <a:prstGeom prst="roundRect">
            <a:avLst>
              <a:gd name="adj" fmla="val 3409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664226" y="7494984"/>
            <a:ext cx="5455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GRASP</a:t>
            </a:r>
            <a:endParaRPr lang="en-US" sz="1800" dirty="0"/>
          </a:p>
        </p:txBody>
      </p:sp>
      <p:sp>
        <p:nvSpPr>
          <p:cNvPr id="118" name="Text 116"/>
          <p:cNvSpPr/>
          <p:nvPr/>
        </p:nvSpPr>
        <p:spPr>
          <a:xfrm>
            <a:off x="6664226" y="7818834"/>
            <a:ext cx="510818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o eixo de metaheurísticas; custo extra não compensou nos benchmarks atuais.</a:t>
            </a:r>
            <a:endParaRPr lang="en-US" sz="1800" dirty="0"/>
          </a:p>
        </p:txBody>
      </p:sp>
      <p:sp>
        <p:nvSpPr>
          <p:cNvPr id="119" name="Shape 117"/>
          <p:cNvSpPr/>
          <p:nvPr/>
        </p:nvSpPr>
        <p:spPr>
          <a:xfrm>
            <a:off x="11976050" y="7333059"/>
            <a:ext cx="5359450" cy="1676400"/>
          </a:xfrm>
          <a:prstGeom prst="roundRect">
            <a:avLst>
              <a:gd name="adj" fmla="val 3409"/>
            </a:avLst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2176075" y="7494984"/>
            <a:ext cx="5455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Relax. Lagrangiana + Col. Gen.</a:t>
            </a:r>
            <a:endParaRPr lang="en-US" sz="1800" dirty="0"/>
          </a:p>
        </p:txBody>
      </p:sp>
      <p:sp>
        <p:nvSpPr>
          <p:cNvPr id="121" name="Text 119"/>
          <p:cNvSpPr/>
          <p:nvPr/>
        </p:nvSpPr>
        <p:spPr>
          <a:xfrm>
            <a:off x="12176075" y="7818834"/>
            <a:ext cx="510818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Contribuição científica como lower bounds e alternativas ao ILP direto, não como solucionadores primários.</a:t>
            </a:r>
            <a:endParaRPr lang="en-US" sz="1800" dirty="0"/>
          </a:p>
        </p:txBody>
      </p:sp>
      <p:sp>
        <p:nvSpPr>
          <p:cNvPr id="122" name="Shape 120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3" name="Text 121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124" name="Text 122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CRÍTICA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e Melhorias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143125"/>
            <a:ext cx="80010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686050"/>
            <a:ext cx="57150" cy="5715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81275"/>
            <a:ext cx="65502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ILP direto inviável em escala completa (memória e tempo).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3143250"/>
            <a:ext cx="57150" cy="5715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038475"/>
            <a:ext cx="729567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não garante solução ótima global — apenas aproximação com fator H(n).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3943350"/>
            <a:ext cx="57150" cy="5715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838575"/>
            <a:ext cx="729567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exata de cobertura em escala completa é computacionalmente cara.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" y="4743450"/>
            <a:ext cx="57150" cy="5715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38675"/>
            <a:ext cx="729567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Escalabilidade limitada para n &gt; 27 — crescimento combinatorial de |S₁₅| e |Sₚ|.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5543550"/>
            <a:ext cx="57150" cy="5715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438775"/>
            <a:ext cx="56991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ainda alto para p=13 (~3 h) e p=11 (~3,4 h).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07177" y="2143125"/>
            <a:ext cx="96011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MELHORIAS E TRABALHOS FUTUROS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07177" y="2686050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8797677" y="2581275"/>
            <a:ext cx="86483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ILP pós-greedy como refinamento sobre subconjunto reduzido de candidatos.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07177" y="3124200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8797677" y="3019425"/>
            <a:ext cx="693332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and Bound / Branch-and-Price sobre espaço reduzido.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607177" y="3562350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8797677" y="3457575"/>
            <a:ext cx="77019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Generation completa com geração de colunas por demanda.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607177" y="4000500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8797677" y="3895725"/>
            <a:ext cx="80462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Annealing ou GRASP paralelo com maior número de restarts.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607177" y="4438650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8797677" y="4333875"/>
            <a:ext cx="87364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Bitsets vetorizados, Cython ou C/C++ para gargalos de atualização de count[].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607177" y="4876800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8797677" y="4772025"/>
            <a:ext cx="84135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trabalho em múltiplos processos ou máquinas (cluster/MPI).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607177" y="5314950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8797677" y="5210175"/>
            <a:ext cx="879395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Relaxação Lagrangiana com subgradiente para bounds mais apertados iterativamente.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66800"/>
            <a:ext cx="180213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Técnica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1809750"/>
            <a:ext cx="495300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14625"/>
            <a:ext cx="16383000" cy="1219200"/>
          </a:xfrm>
          <a:prstGeom prst="roundRect">
            <a:avLst>
              <a:gd name="adj" fmla="val 468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525" y="28956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838325" y="2895600"/>
            <a:ext cx="1571682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Set Cover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estratégia mais eficaz para esta escala: escalável, com garantia formal H(n)·OPT e implementação viável para N₁₅ = 3.268.760.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105275"/>
            <a:ext cx="16383000" cy="1219200"/>
          </a:xfrm>
          <a:prstGeom prst="roundRect">
            <a:avLst>
              <a:gd name="adj" fmla="val 4688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525" y="42862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838325" y="4286250"/>
            <a:ext cx="1571682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resultados reais ficaram entre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1,79× e 3,78×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LB-Schönheim — de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 a 9× melhor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pior caso teórico de 15,4×.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52500" y="5495925"/>
            <a:ext cx="16383000" cy="1219200"/>
          </a:xfrm>
          <a:prstGeom prst="roundRect">
            <a:avLst>
              <a:gd name="adj" fmla="val 468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525" y="56769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838325" y="5676900"/>
            <a:ext cx="1571682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Greedy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melhor alternativa prática: speedup de 13,5–20,6× com custo inferior a 10% em tamanho de solução.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52500" y="6886575"/>
            <a:ext cx="16383000" cy="790575"/>
          </a:xfrm>
          <a:prstGeom prst="roundRect">
            <a:avLst>
              <a:gd name="adj" fmla="val 722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525" y="70675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838325" y="7067550"/>
            <a:ext cx="145643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Paralelismo é eficaz onde o volume justifica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Prog. 1 (4,3×) e Prog. 5 (p=11 com 1,36 M updates/iter).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52500" y="7848600"/>
            <a:ext cx="16383000" cy="1219200"/>
          </a:xfrm>
          <a:prstGeom prst="roundRect">
            <a:avLst>
              <a:gd name="adj" fmla="val 468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525" y="802957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838325" y="8029575"/>
            <a:ext cx="1571682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Abordagens exatas (ILP, B&amp;B) e metaheurísticas completas (GRASP paralelo, Simulated Annealing) permanecem como </a:t>
            </a:r>
            <a:pPr algn="l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trabalhos futuros viáveis </a:t>
            </a:r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subescalas ou hardware distribuído.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52500" y="9686925"/>
            <a:ext cx="16383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9791700"/>
            <a:ext cx="59399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PUCPR · Complexidade de Algoritmos · RA03 · 2026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942665" y="9791700"/>
            <a:ext cx="3732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Jafte Carneiro Fagundes da Silva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2026-06-24T19:14:35Z</dcterms:created>
  <dcterms:modified xsi:type="dcterms:W3CDTF">2026-06-24T19:14:35Z</dcterms:modified>
</cp:coreProperties>
</file>